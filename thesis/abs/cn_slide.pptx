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6" r:id="rId2"/>
    <p:sldId id="257" r:id="rId3"/>
    <p:sldId id="272" r:id="rId4"/>
    <p:sldId id="273" r:id="rId5"/>
    <p:sldId id="274" r:id="rId6"/>
    <p:sldId id="275" r:id="rId7"/>
    <p:sldId id="276" r:id="rId8"/>
    <p:sldId id="277" r:id="rId9"/>
    <p:sldId id="259" r:id="rId10"/>
    <p:sldId id="278" r:id="rId11"/>
    <p:sldId id="264" r:id="rId12"/>
    <p:sldId id="265" r:id="rId13"/>
    <p:sldId id="282" r:id="rId14"/>
    <p:sldId id="294" r:id="rId15"/>
    <p:sldId id="283" r:id="rId16"/>
    <p:sldId id="281" r:id="rId17"/>
    <p:sldId id="293" r:id="rId18"/>
    <p:sldId id="291" r:id="rId19"/>
    <p:sldId id="292" r:id="rId20"/>
    <p:sldId id="284" r:id="rId21"/>
    <p:sldId id="285" r:id="rId22"/>
    <p:sldId id="286" r:id="rId23"/>
    <p:sldId id="287" r:id="rId24"/>
    <p:sldId id="288" r:id="rId25"/>
    <p:sldId id="295" r:id="rId26"/>
    <p:sldId id="296" r:id="rId27"/>
    <p:sldId id="289" r:id="rId28"/>
    <p:sldId id="290" r:id="rId29"/>
    <p:sldId id="268" r:id="rId30"/>
  </p:sldIdLst>
  <p:sldSz cx="18288000" cy="10287000"/>
  <p:notesSz cx="6858000" cy="9144000"/>
  <p:embeddedFontLst>
    <p:embeddedFont>
      <p:font typeface="Cabin Semi-Bold" panose="020B0604020202020204" charset="0"/>
      <p:regular r:id="rId32"/>
    </p:embeddedFont>
    <p:embeddedFont>
      <p:font typeface="Calibri" panose="020F0502020204030204" pitchFamily="34" charset="0"/>
      <p:regular r:id="rId33"/>
      <p:bold r:id="rId34"/>
      <p:italic r:id="rId35"/>
      <p:boldItalic r:id="rId36"/>
    </p:embeddedFont>
    <p:embeddedFont>
      <p:font typeface="SimSun" panose="02010600030101010101" pitchFamily="2" charset="-122"/>
      <p:regular r:id="rId37"/>
    </p:embeddedFont>
    <p:embeddedFont>
      <p:font typeface="Cabin Medium" panose="020B0604020202020204" charset="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75" d="100"/>
          <a:sy n="75" d="100"/>
        </p:scale>
        <p:origin x="-47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02912E-00AE-4786-AC6F-4A1B66F33840}" type="datetimeFigureOut">
              <a:rPr lang="vi-VN" smtClean="0"/>
              <a:t>25/12/2025</a:t>
            </a:fld>
            <a:endParaRPr lang="vi-V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5001A3-7A71-4A49-9F67-C8CCD4B362B2}" type="slidenum">
              <a:rPr lang="vi-VN" smtClean="0"/>
              <a:t>‹#›</a:t>
            </a:fld>
            <a:endParaRPr lang="vi-VN"/>
          </a:p>
        </p:txBody>
      </p:sp>
    </p:spTree>
    <p:extLst>
      <p:ext uri="{BB962C8B-B14F-4D97-AF65-F5344CB8AC3E}">
        <p14:creationId xmlns:p14="http://schemas.microsoft.com/office/powerpoint/2010/main" val="3177665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14</a:t>
            </a:fld>
            <a:endParaRPr lang="vi-VN"/>
          </a:p>
        </p:txBody>
      </p:sp>
    </p:spTree>
    <p:extLst>
      <p:ext uri="{BB962C8B-B14F-4D97-AF65-F5344CB8AC3E}">
        <p14:creationId xmlns:p14="http://schemas.microsoft.com/office/powerpoint/2010/main" val="19223872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18</a:t>
            </a:fld>
            <a:endParaRPr lang="vi-VN"/>
          </a:p>
        </p:txBody>
      </p:sp>
    </p:spTree>
    <p:extLst>
      <p:ext uri="{BB962C8B-B14F-4D97-AF65-F5344CB8AC3E}">
        <p14:creationId xmlns:p14="http://schemas.microsoft.com/office/powerpoint/2010/main" val="3146183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rot="-10800000">
            <a:off x="-1843790" y="-3606083"/>
            <a:ext cx="10682989" cy="6226137"/>
            <a:chOff x="0" y="0"/>
            <a:chExt cx="8809804" cy="5372100"/>
          </a:xfrm>
        </p:grpSpPr>
        <p:sp>
          <p:nvSpPr>
            <p:cNvPr id="6" name="Freeform 6"/>
            <p:cNvSpPr/>
            <p:nvPr/>
          </p:nvSpPr>
          <p:spPr>
            <a:xfrm>
              <a:off x="0" y="0"/>
              <a:ext cx="8809803" cy="5372100"/>
            </a:xfrm>
            <a:custGeom>
              <a:avLst/>
              <a:gdLst/>
              <a:ahLst/>
              <a:cxnLst/>
              <a:rect l="l" t="t" r="r" b="b"/>
              <a:pathLst>
                <a:path w="8809803" h="5372100">
                  <a:moveTo>
                    <a:pt x="7259134" y="0"/>
                  </a:moveTo>
                  <a:lnTo>
                    <a:pt x="1550670" y="0"/>
                  </a:lnTo>
                  <a:lnTo>
                    <a:pt x="0" y="2686050"/>
                  </a:lnTo>
                  <a:lnTo>
                    <a:pt x="1550670" y="5372100"/>
                  </a:lnTo>
                  <a:lnTo>
                    <a:pt x="7259134" y="5372100"/>
                  </a:lnTo>
                  <a:lnTo>
                    <a:pt x="8809803" y="2686050"/>
                  </a:lnTo>
                  <a:lnTo>
                    <a:pt x="7259134" y="0"/>
                  </a:lnTo>
                  <a:close/>
                </a:path>
              </a:pathLst>
            </a:custGeom>
            <a:solidFill>
              <a:srgbClr val="1836B2"/>
            </a:solidFill>
          </p:spPr>
          <p:txBody>
            <a:bodyPr/>
            <a:lstStyle/>
            <a:p>
              <a:endParaRPr lang="vi-VN"/>
            </a:p>
          </p:txBody>
        </p:sp>
      </p:grpSp>
      <p:grpSp>
        <p:nvGrpSpPr>
          <p:cNvPr id="2" name="Group 2"/>
          <p:cNvGrpSpPr/>
          <p:nvPr/>
        </p:nvGrpSpPr>
        <p:grpSpPr>
          <a:xfrm>
            <a:off x="14887819" y="8090781"/>
            <a:ext cx="4742962" cy="4392438"/>
            <a:chOff x="0" y="0"/>
            <a:chExt cx="5800804" cy="5372100"/>
          </a:xfrm>
        </p:grpSpPr>
        <p:sp>
          <p:nvSpPr>
            <p:cNvPr id="3" name="Freeform 3"/>
            <p:cNvSpPr/>
            <p:nvPr/>
          </p:nvSpPr>
          <p:spPr>
            <a:xfrm>
              <a:off x="0" y="0"/>
              <a:ext cx="5800804" cy="5372100"/>
            </a:xfrm>
            <a:custGeom>
              <a:avLst/>
              <a:gdLst/>
              <a:ahLst/>
              <a:cxnLst/>
              <a:rect l="l" t="t" r="r" b="b"/>
              <a:pathLst>
                <a:path w="5800804" h="537210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p:spPr>
          <p:txBody>
            <a:bodyPr/>
            <a:lstStyle/>
            <a:p>
              <a:endParaRPr lang="vi-VN"/>
            </a:p>
          </p:txBody>
        </p:sp>
      </p:grpSp>
      <p:sp>
        <p:nvSpPr>
          <p:cNvPr id="4" name="TextBox 4"/>
          <p:cNvSpPr txBox="1"/>
          <p:nvPr/>
        </p:nvSpPr>
        <p:spPr>
          <a:xfrm>
            <a:off x="8527828" y="709236"/>
            <a:ext cx="9299652" cy="1384300"/>
          </a:xfrm>
          <a:prstGeom prst="rect">
            <a:avLst/>
          </a:prstGeom>
        </p:spPr>
        <p:txBody>
          <a:bodyPr lIns="0" tIns="0" rIns="0" bIns="0" rtlCol="0" anchor="t">
            <a:spAutoFit/>
          </a:bodyPr>
          <a:lstStyle/>
          <a:p>
            <a:pPr algn="ctr">
              <a:lnSpc>
                <a:spcPts val="5599"/>
              </a:lnSpc>
            </a:pPr>
            <a:r>
              <a:rPr lang="en-US" sz="3999" b="1" err="1">
                <a:solidFill>
                  <a:srgbClr val="000000"/>
                </a:solidFill>
                <a:latin typeface="Times New Roman" panose="02020603050405020304" pitchFamily="18" charset="0"/>
                <a:ea typeface="Faustina Bold"/>
                <a:cs typeface="Times New Roman" panose="02020603050405020304" pitchFamily="18" charset="0"/>
                <a:sym typeface="Faustina Bold"/>
              </a:rPr>
              <a:t>Thực</a:t>
            </a:r>
            <a:r>
              <a:rPr lang="en-US" sz="3999" b="1">
                <a:solidFill>
                  <a:srgbClr val="000000"/>
                </a:solidFill>
                <a:latin typeface="Times New Roman" panose="02020603050405020304" pitchFamily="18" charset="0"/>
                <a:ea typeface="Faustina Bold"/>
                <a:cs typeface="Times New Roman" panose="02020603050405020304" pitchFamily="18" charset="0"/>
                <a:sym typeface="Faustina Bold"/>
              </a:rPr>
              <a:t> </a:t>
            </a:r>
            <a:r>
              <a:rPr lang="en-US" sz="3999" b="1" err="1">
                <a:solidFill>
                  <a:srgbClr val="000000"/>
                </a:solidFill>
                <a:latin typeface="Times New Roman" panose="02020603050405020304" pitchFamily="18" charset="0"/>
                <a:ea typeface="Faustina Bold"/>
                <a:cs typeface="Times New Roman" panose="02020603050405020304" pitchFamily="18" charset="0"/>
                <a:sym typeface="Faustina Bold"/>
              </a:rPr>
              <a:t>tập</a:t>
            </a:r>
            <a:r>
              <a:rPr lang="en-US" sz="3999" b="1">
                <a:solidFill>
                  <a:srgbClr val="000000"/>
                </a:solidFill>
                <a:latin typeface="Times New Roman" panose="02020603050405020304" pitchFamily="18" charset="0"/>
                <a:ea typeface="Faustina Bold"/>
                <a:cs typeface="Times New Roman" panose="02020603050405020304" pitchFamily="18" charset="0"/>
                <a:sym typeface="Faustina Bold"/>
              </a:rPr>
              <a:t> </a:t>
            </a:r>
            <a:r>
              <a:rPr lang="en-US" sz="3999" b="1" err="1">
                <a:solidFill>
                  <a:srgbClr val="000000"/>
                </a:solidFill>
                <a:latin typeface="Times New Roman" panose="02020603050405020304" pitchFamily="18" charset="0"/>
                <a:ea typeface="Faustina Bold"/>
                <a:cs typeface="Times New Roman" panose="02020603050405020304" pitchFamily="18" charset="0"/>
                <a:sym typeface="Faustina Bold"/>
              </a:rPr>
              <a:t>đồ</a:t>
            </a:r>
            <a:r>
              <a:rPr lang="en-US" sz="3999" b="1">
                <a:solidFill>
                  <a:srgbClr val="000000"/>
                </a:solidFill>
                <a:latin typeface="Times New Roman" panose="02020603050405020304" pitchFamily="18" charset="0"/>
                <a:ea typeface="Faustina Bold"/>
                <a:cs typeface="Times New Roman" panose="02020603050405020304" pitchFamily="18" charset="0"/>
                <a:sym typeface="Faustina Bold"/>
              </a:rPr>
              <a:t> </a:t>
            </a:r>
            <a:r>
              <a:rPr lang="en-US" sz="3999" b="1" err="1">
                <a:solidFill>
                  <a:srgbClr val="000000"/>
                </a:solidFill>
                <a:latin typeface="Times New Roman" panose="02020603050405020304" pitchFamily="18" charset="0"/>
                <a:ea typeface="Faustina Bold"/>
                <a:cs typeface="Times New Roman" panose="02020603050405020304" pitchFamily="18" charset="0"/>
                <a:sym typeface="Faustina Bold"/>
              </a:rPr>
              <a:t>án</a:t>
            </a:r>
            <a:r>
              <a:rPr lang="en-US" sz="3999" b="1">
                <a:solidFill>
                  <a:srgbClr val="000000"/>
                </a:solidFill>
                <a:latin typeface="Times New Roman" panose="02020603050405020304" pitchFamily="18" charset="0"/>
                <a:ea typeface="Faustina Bold"/>
                <a:cs typeface="Times New Roman" panose="02020603050405020304" pitchFamily="18" charset="0"/>
                <a:sym typeface="Faustina Bold"/>
              </a:rPr>
              <a:t> </a:t>
            </a:r>
            <a:r>
              <a:rPr lang="en-US" sz="3999" b="1" err="1" smtClean="0">
                <a:solidFill>
                  <a:srgbClr val="000000"/>
                </a:solidFill>
                <a:latin typeface="Times New Roman" panose="02020603050405020304" pitchFamily="18" charset="0"/>
                <a:ea typeface="Faustina Bold"/>
                <a:cs typeface="Times New Roman" panose="02020603050405020304" pitchFamily="18" charset="0"/>
                <a:sym typeface="Faustina Bold"/>
              </a:rPr>
              <a:t>chuyên</a:t>
            </a:r>
            <a:r>
              <a:rPr lang="en-US" sz="3999" b="1" smtClean="0">
                <a:solidFill>
                  <a:srgbClr val="000000"/>
                </a:solidFill>
                <a:latin typeface="Times New Roman" panose="02020603050405020304" pitchFamily="18" charset="0"/>
                <a:ea typeface="Faustina Bold"/>
                <a:cs typeface="Times New Roman" panose="02020603050405020304" pitchFamily="18" charset="0"/>
                <a:sym typeface="Faustina Bold"/>
              </a:rPr>
              <a:t> </a:t>
            </a:r>
            <a:r>
              <a:rPr lang="en-US" sz="3999" b="1" err="1" smtClean="0">
                <a:solidFill>
                  <a:srgbClr val="000000"/>
                </a:solidFill>
                <a:latin typeface="Times New Roman" panose="02020603050405020304" pitchFamily="18" charset="0"/>
                <a:ea typeface="Faustina Bold"/>
                <a:cs typeface="Times New Roman" panose="02020603050405020304" pitchFamily="18" charset="0"/>
                <a:sym typeface="Faustina Bold"/>
              </a:rPr>
              <a:t>ngành</a:t>
            </a:r>
            <a:endParaRPr lang="en-US" sz="3999" b="1">
              <a:solidFill>
                <a:srgbClr val="000000"/>
              </a:solidFill>
              <a:latin typeface="Times New Roman" panose="02020603050405020304" pitchFamily="18" charset="0"/>
              <a:ea typeface="Faustina Bold"/>
              <a:cs typeface="Times New Roman" panose="02020603050405020304" pitchFamily="18" charset="0"/>
              <a:sym typeface="Faustina Bold"/>
            </a:endParaRPr>
          </a:p>
          <a:p>
            <a:pPr algn="ctr">
              <a:lnSpc>
                <a:spcPts val="5599"/>
              </a:lnSpc>
              <a:spcBef>
                <a:spcPct val="0"/>
              </a:spcBef>
            </a:pPr>
            <a:r>
              <a:rPr lang="en-US" sz="3999" b="1" err="1">
                <a:solidFill>
                  <a:srgbClr val="000000"/>
                </a:solidFill>
                <a:latin typeface="Times New Roman" panose="02020603050405020304" pitchFamily="18" charset="0"/>
                <a:ea typeface="Faustina Bold"/>
                <a:cs typeface="Times New Roman" panose="02020603050405020304" pitchFamily="18" charset="0"/>
                <a:sym typeface="Faustina Bold"/>
              </a:rPr>
              <a:t>Học</a:t>
            </a:r>
            <a:r>
              <a:rPr lang="en-US" sz="3999" b="1">
                <a:solidFill>
                  <a:srgbClr val="000000"/>
                </a:solidFill>
                <a:latin typeface="Times New Roman" panose="02020603050405020304" pitchFamily="18" charset="0"/>
                <a:ea typeface="Faustina Bold"/>
                <a:cs typeface="Times New Roman" panose="02020603050405020304" pitchFamily="18" charset="0"/>
                <a:sym typeface="Faustina Bold"/>
              </a:rPr>
              <a:t> </a:t>
            </a:r>
            <a:r>
              <a:rPr lang="en-US" sz="3999" b="1" err="1">
                <a:solidFill>
                  <a:srgbClr val="000000"/>
                </a:solidFill>
                <a:latin typeface="Times New Roman" panose="02020603050405020304" pitchFamily="18" charset="0"/>
                <a:ea typeface="Faustina Bold"/>
                <a:cs typeface="Times New Roman" panose="02020603050405020304" pitchFamily="18" charset="0"/>
                <a:sym typeface="Faustina Bold"/>
              </a:rPr>
              <a:t>kì</a:t>
            </a:r>
            <a:r>
              <a:rPr lang="en-US" sz="3999" b="1">
                <a:solidFill>
                  <a:srgbClr val="000000"/>
                </a:solidFill>
                <a:latin typeface="Times New Roman" panose="02020603050405020304" pitchFamily="18" charset="0"/>
                <a:ea typeface="Faustina Bold"/>
                <a:cs typeface="Times New Roman" panose="02020603050405020304" pitchFamily="18" charset="0"/>
                <a:sym typeface="Faustina Bold"/>
              </a:rPr>
              <a:t> I, </a:t>
            </a:r>
            <a:r>
              <a:rPr lang="en-US" sz="3999" b="1" err="1">
                <a:solidFill>
                  <a:srgbClr val="000000"/>
                </a:solidFill>
                <a:latin typeface="Times New Roman" panose="02020603050405020304" pitchFamily="18" charset="0"/>
                <a:ea typeface="Faustina Bold"/>
                <a:cs typeface="Times New Roman" panose="02020603050405020304" pitchFamily="18" charset="0"/>
                <a:sym typeface="Faustina Bold"/>
              </a:rPr>
              <a:t>năm</a:t>
            </a:r>
            <a:r>
              <a:rPr lang="en-US" sz="3999" b="1">
                <a:solidFill>
                  <a:srgbClr val="000000"/>
                </a:solidFill>
                <a:latin typeface="Times New Roman" panose="02020603050405020304" pitchFamily="18" charset="0"/>
                <a:ea typeface="Faustina Bold"/>
                <a:cs typeface="Times New Roman" panose="02020603050405020304" pitchFamily="18" charset="0"/>
                <a:sym typeface="Faustina Bold"/>
              </a:rPr>
              <a:t> </a:t>
            </a:r>
            <a:r>
              <a:rPr lang="en-US" sz="3999" b="1" err="1">
                <a:solidFill>
                  <a:srgbClr val="000000"/>
                </a:solidFill>
                <a:latin typeface="Times New Roman" panose="02020603050405020304" pitchFamily="18" charset="0"/>
                <a:ea typeface="Faustina Bold"/>
                <a:cs typeface="Times New Roman" panose="02020603050405020304" pitchFamily="18" charset="0"/>
                <a:sym typeface="Faustina Bold"/>
              </a:rPr>
              <a:t>học</a:t>
            </a:r>
            <a:r>
              <a:rPr lang="en-US" sz="3999" b="1">
                <a:solidFill>
                  <a:srgbClr val="000000"/>
                </a:solidFill>
                <a:latin typeface="Times New Roman" panose="02020603050405020304" pitchFamily="18" charset="0"/>
                <a:ea typeface="Faustina Bold"/>
                <a:cs typeface="Times New Roman" panose="02020603050405020304" pitchFamily="18" charset="0"/>
                <a:sym typeface="Faustina Bold"/>
              </a:rPr>
              <a:t> </a:t>
            </a:r>
            <a:r>
              <a:rPr lang="en-US" sz="3999" b="1" smtClean="0">
                <a:solidFill>
                  <a:srgbClr val="000000"/>
                </a:solidFill>
                <a:latin typeface="Times New Roman" panose="02020603050405020304" pitchFamily="18" charset="0"/>
                <a:ea typeface="Faustina Bold"/>
                <a:cs typeface="Times New Roman" panose="02020603050405020304" pitchFamily="18" charset="0"/>
                <a:sym typeface="Faustina Bold"/>
              </a:rPr>
              <a:t>2025-2026</a:t>
            </a:r>
            <a:endParaRPr lang="en-US" sz="3999" b="1">
              <a:solidFill>
                <a:srgbClr val="000000"/>
              </a:solidFill>
              <a:latin typeface="Times New Roman" panose="02020603050405020304" pitchFamily="18" charset="0"/>
              <a:ea typeface="Faustina Bold"/>
              <a:cs typeface="Times New Roman" panose="02020603050405020304" pitchFamily="18" charset="0"/>
              <a:sym typeface="Faustina Bold"/>
            </a:endParaRPr>
          </a:p>
        </p:txBody>
      </p:sp>
      <p:sp>
        <p:nvSpPr>
          <p:cNvPr id="7" name="Freeform 7"/>
          <p:cNvSpPr/>
          <p:nvPr/>
        </p:nvSpPr>
        <p:spPr>
          <a:xfrm>
            <a:off x="204812" y="214771"/>
            <a:ext cx="2185270" cy="2185270"/>
          </a:xfrm>
          <a:custGeom>
            <a:avLst/>
            <a:gdLst/>
            <a:ahLst/>
            <a:cxnLst/>
            <a:rect l="l" t="t" r="r" b="b"/>
            <a:pathLst>
              <a:path w="2185270" h="2185270">
                <a:moveTo>
                  <a:pt x="0" y="0"/>
                </a:moveTo>
                <a:lnTo>
                  <a:pt x="2185270" y="0"/>
                </a:lnTo>
                <a:lnTo>
                  <a:pt x="2185270" y="2185270"/>
                </a:lnTo>
                <a:lnTo>
                  <a:pt x="0" y="2185270"/>
                </a:lnTo>
                <a:lnTo>
                  <a:pt x="0" y="0"/>
                </a:lnTo>
                <a:close/>
              </a:path>
            </a:pathLst>
          </a:custGeom>
          <a:blipFill>
            <a:blip r:embed="rId2"/>
            <a:stretch>
              <a:fillRect/>
            </a:stretch>
          </a:blipFill>
        </p:spPr>
        <p:txBody>
          <a:bodyPr/>
          <a:lstStyle/>
          <a:p>
            <a:endParaRPr lang="vi-VN"/>
          </a:p>
        </p:txBody>
      </p:sp>
      <p:sp>
        <p:nvSpPr>
          <p:cNvPr id="8" name="TextBox 8"/>
          <p:cNvSpPr txBox="1"/>
          <p:nvPr/>
        </p:nvSpPr>
        <p:spPr>
          <a:xfrm>
            <a:off x="1871793" y="5953416"/>
            <a:ext cx="6090978" cy="1251585"/>
          </a:xfrm>
          <a:prstGeom prst="rect">
            <a:avLst/>
          </a:prstGeom>
        </p:spPr>
        <p:txBody>
          <a:bodyPr lIns="0" tIns="0" rIns="0" bIns="0" rtlCol="0" anchor="t">
            <a:spAutoFit/>
          </a:bodyPr>
          <a:lstStyle/>
          <a:p>
            <a:pPr algn="just">
              <a:lnSpc>
                <a:spcPts val="5040"/>
              </a:lnSpc>
            </a:pPr>
            <a:r>
              <a:rPr lang="en-US" sz="3600" i="1" err="1">
                <a:solidFill>
                  <a:srgbClr val="000000"/>
                </a:solidFill>
                <a:latin typeface="Times New Roman" panose="02020603050405020304" pitchFamily="18" charset="0"/>
                <a:ea typeface="Cabin Italics"/>
                <a:cs typeface="Times New Roman" panose="02020603050405020304" pitchFamily="18" charset="0"/>
                <a:sym typeface="Cabin Italics"/>
              </a:rPr>
              <a:t>Giáo</a:t>
            </a:r>
            <a:r>
              <a:rPr lang="en-US" sz="3600" i="1">
                <a:solidFill>
                  <a:srgbClr val="000000"/>
                </a:solidFill>
                <a:latin typeface="Times New Roman" panose="02020603050405020304" pitchFamily="18" charset="0"/>
                <a:ea typeface="Cabin Italics"/>
                <a:cs typeface="Times New Roman" panose="02020603050405020304" pitchFamily="18" charset="0"/>
                <a:sym typeface="Cabin Italics"/>
              </a:rPr>
              <a:t> </a:t>
            </a:r>
            <a:r>
              <a:rPr lang="en-US" sz="3600" i="1" err="1">
                <a:solidFill>
                  <a:srgbClr val="000000"/>
                </a:solidFill>
                <a:latin typeface="Times New Roman" panose="02020603050405020304" pitchFamily="18" charset="0"/>
                <a:ea typeface="Cabin Italics"/>
                <a:cs typeface="Times New Roman" panose="02020603050405020304" pitchFamily="18" charset="0"/>
                <a:sym typeface="Cabin Italics"/>
              </a:rPr>
              <a:t>Viên</a:t>
            </a:r>
            <a:r>
              <a:rPr lang="en-US" sz="3600" i="1">
                <a:solidFill>
                  <a:srgbClr val="000000"/>
                </a:solidFill>
                <a:latin typeface="Times New Roman" panose="02020603050405020304" pitchFamily="18" charset="0"/>
                <a:ea typeface="Cabin Italics"/>
                <a:cs typeface="Times New Roman" panose="02020603050405020304" pitchFamily="18" charset="0"/>
                <a:sym typeface="Cabin Italics"/>
              </a:rPr>
              <a:t> </a:t>
            </a:r>
            <a:r>
              <a:rPr lang="en-US" sz="3600" i="1" err="1">
                <a:solidFill>
                  <a:srgbClr val="000000"/>
                </a:solidFill>
                <a:latin typeface="Times New Roman" panose="02020603050405020304" pitchFamily="18" charset="0"/>
                <a:ea typeface="Cabin Italics"/>
                <a:cs typeface="Times New Roman" panose="02020603050405020304" pitchFamily="18" charset="0"/>
                <a:sym typeface="Cabin Italics"/>
              </a:rPr>
              <a:t>Hướng</a:t>
            </a:r>
            <a:r>
              <a:rPr lang="en-US" sz="3600" i="1">
                <a:solidFill>
                  <a:srgbClr val="000000"/>
                </a:solidFill>
                <a:latin typeface="Times New Roman" panose="02020603050405020304" pitchFamily="18" charset="0"/>
                <a:ea typeface="Cabin Italics"/>
                <a:cs typeface="Times New Roman" panose="02020603050405020304" pitchFamily="18" charset="0"/>
                <a:sym typeface="Cabin Italics"/>
              </a:rPr>
              <a:t> </a:t>
            </a:r>
            <a:r>
              <a:rPr lang="en-US" sz="3600" i="1" err="1">
                <a:solidFill>
                  <a:srgbClr val="000000"/>
                </a:solidFill>
                <a:latin typeface="Times New Roman" panose="02020603050405020304" pitchFamily="18" charset="0"/>
                <a:ea typeface="Cabin Italics"/>
                <a:cs typeface="Times New Roman" panose="02020603050405020304" pitchFamily="18" charset="0"/>
                <a:sym typeface="Cabin Italics"/>
              </a:rPr>
              <a:t>Dẫn</a:t>
            </a:r>
            <a:r>
              <a:rPr lang="en-US" sz="3600" i="1">
                <a:solidFill>
                  <a:srgbClr val="000000"/>
                </a:solidFill>
                <a:latin typeface="Times New Roman" panose="02020603050405020304" pitchFamily="18" charset="0"/>
                <a:ea typeface="Cabin Italics"/>
                <a:cs typeface="Times New Roman" panose="02020603050405020304" pitchFamily="18" charset="0"/>
                <a:sym typeface="Cabin Italics"/>
              </a:rPr>
              <a:t>:</a:t>
            </a:r>
          </a:p>
          <a:p>
            <a:pPr marL="0" lvl="0" indent="0" algn="just">
              <a:lnSpc>
                <a:spcPts val="5040"/>
              </a:lnSpc>
              <a:spcBef>
                <a:spcPct val="0"/>
              </a:spcBef>
            </a:pPr>
            <a:r>
              <a:rPr lang="en-US" sz="3600" i="1" err="1" smtClean="0">
                <a:solidFill>
                  <a:srgbClr val="000000"/>
                </a:solidFill>
                <a:latin typeface="Times New Roman" panose="02020603050405020304" pitchFamily="18" charset="0"/>
                <a:ea typeface="Cabin Italics"/>
                <a:cs typeface="Times New Roman" panose="02020603050405020304" pitchFamily="18" charset="0"/>
                <a:sym typeface="Cabin Italics"/>
              </a:rPr>
              <a:t>Hà</a:t>
            </a:r>
            <a:r>
              <a:rPr lang="en-US" sz="3600" i="1" smtClean="0">
                <a:solidFill>
                  <a:srgbClr val="000000"/>
                </a:solidFill>
                <a:latin typeface="Times New Roman" panose="02020603050405020304" pitchFamily="18" charset="0"/>
                <a:ea typeface="Cabin Italics"/>
                <a:cs typeface="Times New Roman" panose="02020603050405020304" pitchFamily="18" charset="0"/>
                <a:sym typeface="Cabin Italics"/>
              </a:rPr>
              <a:t> </a:t>
            </a:r>
            <a:r>
              <a:rPr lang="en-US" sz="3600" i="1" err="1" smtClean="0">
                <a:solidFill>
                  <a:srgbClr val="000000"/>
                </a:solidFill>
                <a:latin typeface="Times New Roman" panose="02020603050405020304" pitchFamily="18" charset="0"/>
                <a:ea typeface="Cabin Italics"/>
                <a:cs typeface="Times New Roman" panose="02020603050405020304" pitchFamily="18" charset="0"/>
                <a:sym typeface="Cabin Italics"/>
              </a:rPr>
              <a:t>Thị</a:t>
            </a:r>
            <a:r>
              <a:rPr lang="en-US" sz="3600" i="1" smtClean="0">
                <a:solidFill>
                  <a:srgbClr val="000000"/>
                </a:solidFill>
                <a:latin typeface="Times New Roman" panose="02020603050405020304" pitchFamily="18" charset="0"/>
                <a:ea typeface="Cabin Italics"/>
                <a:cs typeface="Times New Roman" panose="02020603050405020304" pitchFamily="18" charset="0"/>
                <a:sym typeface="Cabin Italics"/>
              </a:rPr>
              <a:t> </a:t>
            </a:r>
            <a:r>
              <a:rPr lang="en-US" sz="3600" i="1" err="1" smtClean="0">
                <a:solidFill>
                  <a:srgbClr val="000000"/>
                </a:solidFill>
                <a:latin typeface="Times New Roman" panose="02020603050405020304" pitchFamily="18" charset="0"/>
                <a:ea typeface="Cabin Italics"/>
                <a:cs typeface="Times New Roman" panose="02020603050405020304" pitchFamily="18" charset="0"/>
                <a:sym typeface="Cabin Italics"/>
              </a:rPr>
              <a:t>Thúy</a:t>
            </a:r>
            <a:r>
              <a:rPr lang="en-US" sz="3600" i="1" smtClean="0">
                <a:solidFill>
                  <a:srgbClr val="000000"/>
                </a:solidFill>
                <a:latin typeface="Times New Roman" panose="02020603050405020304" pitchFamily="18" charset="0"/>
                <a:ea typeface="Cabin Italics"/>
                <a:cs typeface="Times New Roman" panose="02020603050405020304" pitchFamily="18" charset="0"/>
                <a:sym typeface="Cabin Italics"/>
              </a:rPr>
              <a:t> Vi</a:t>
            </a:r>
            <a:endParaRPr lang="en-US" sz="3600" i="1">
              <a:solidFill>
                <a:srgbClr val="000000"/>
              </a:solidFill>
              <a:latin typeface="Times New Roman" panose="02020603050405020304" pitchFamily="18" charset="0"/>
              <a:ea typeface="Cabin Italics"/>
              <a:cs typeface="Times New Roman" panose="02020603050405020304" pitchFamily="18" charset="0"/>
              <a:sym typeface="Cabin Italics"/>
            </a:endParaRPr>
          </a:p>
        </p:txBody>
      </p:sp>
      <p:sp>
        <p:nvSpPr>
          <p:cNvPr id="9" name="TextBox 9"/>
          <p:cNvSpPr txBox="1"/>
          <p:nvPr/>
        </p:nvSpPr>
        <p:spPr>
          <a:xfrm>
            <a:off x="1297446" y="3625850"/>
            <a:ext cx="16530033" cy="1519262"/>
          </a:xfrm>
          <a:prstGeom prst="rect">
            <a:avLst/>
          </a:prstGeom>
        </p:spPr>
        <p:txBody>
          <a:bodyPr wrap="square" lIns="0" tIns="0" rIns="0" bIns="0" rtlCol="0" anchor="t">
            <a:spAutoFit/>
          </a:bodyPr>
          <a:lstStyle/>
          <a:p>
            <a:pPr algn="ctr">
              <a:lnSpc>
                <a:spcPts val="6050"/>
              </a:lnSpc>
            </a:pPr>
            <a:r>
              <a:rPr lang="en-US" sz="5000" b="1" spc="150">
                <a:solidFill>
                  <a:srgbClr val="1836B2"/>
                </a:solidFill>
                <a:latin typeface="Times New Roman" panose="02020603050405020304" pitchFamily="18" charset="0"/>
                <a:ea typeface="Faustina Bold"/>
                <a:cs typeface="Times New Roman" panose="02020603050405020304" pitchFamily="18" charset="0"/>
                <a:sym typeface="Faustina Bold"/>
              </a:rPr>
              <a:t>THIẾT KẾ HỆ THỐNG CHIA </a:t>
            </a:r>
            <a:r>
              <a:rPr lang="en-US" sz="5000" b="1" spc="150" smtClean="0">
                <a:solidFill>
                  <a:srgbClr val="1836B2"/>
                </a:solidFill>
                <a:latin typeface="Times New Roman" panose="02020603050405020304" pitchFamily="18" charset="0"/>
                <a:ea typeface="Faustina Bold"/>
                <a:cs typeface="Times New Roman" panose="02020603050405020304" pitchFamily="18" charset="0"/>
                <a:sym typeface="Faustina Bold"/>
              </a:rPr>
              <a:t>SẺ TÀI </a:t>
            </a:r>
            <a:r>
              <a:rPr lang="en-US" sz="5000" b="1" spc="150">
                <a:solidFill>
                  <a:srgbClr val="1836B2"/>
                </a:solidFill>
                <a:latin typeface="Times New Roman" panose="02020603050405020304" pitchFamily="18" charset="0"/>
                <a:ea typeface="Faustina Bold"/>
                <a:cs typeface="Times New Roman" panose="02020603050405020304" pitchFamily="18" charset="0"/>
                <a:sym typeface="Faustina Bold"/>
              </a:rPr>
              <a:t>LIỆU HỌC TẬP VÀ HỎI ĐÁP </a:t>
            </a:r>
            <a:r>
              <a:rPr lang="en-US" sz="5000" b="1" spc="150" smtClean="0">
                <a:solidFill>
                  <a:srgbClr val="1836B2"/>
                </a:solidFill>
                <a:latin typeface="Times New Roman" panose="02020603050405020304" pitchFamily="18" charset="0"/>
                <a:ea typeface="Faustina Bold"/>
                <a:cs typeface="Times New Roman" panose="02020603050405020304" pitchFamily="18" charset="0"/>
                <a:sym typeface="Faustina Bold"/>
              </a:rPr>
              <a:t>GIỮA </a:t>
            </a:r>
            <a:r>
              <a:rPr lang="en-US" sz="5000" b="1" spc="150">
                <a:solidFill>
                  <a:srgbClr val="1836B2"/>
                </a:solidFill>
                <a:latin typeface="Times New Roman" panose="02020603050405020304" pitchFamily="18" charset="0"/>
                <a:ea typeface="Faustina Bold"/>
                <a:cs typeface="Times New Roman" panose="02020603050405020304" pitchFamily="18" charset="0"/>
                <a:sym typeface="Faustina Bold"/>
              </a:rPr>
              <a:t>SINH </a:t>
            </a:r>
            <a:r>
              <a:rPr lang="en-US" sz="5000" b="1" spc="150" smtClean="0">
                <a:solidFill>
                  <a:srgbClr val="1836B2"/>
                </a:solidFill>
                <a:latin typeface="Times New Roman" panose="02020603050405020304" pitchFamily="18" charset="0"/>
                <a:ea typeface="Faustina Bold"/>
                <a:cs typeface="Times New Roman" panose="02020603050405020304" pitchFamily="18" charset="0"/>
                <a:sym typeface="Faustina Bold"/>
              </a:rPr>
              <a:t>VIÊN</a:t>
            </a:r>
            <a:endParaRPr lang="en-US" sz="5000" b="1" spc="150">
              <a:solidFill>
                <a:srgbClr val="1836B2"/>
              </a:solidFill>
              <a:latin typeface="Times New Roman" panose="02020603050405020304" pitchFamily="18" charset="0"/>
              <a:ea typeface="Faustina Bold"/>
              <a:cs typeface="Times New Roman" panose="02020603050405020304" pitchFamily="18" charset="0"/>
              <a:sym typeface="Faustina Bold"/>
            </a:endParaRPr>
          </a:p>
        </p:txBody>
      </p:sp>
      <p:sp>
        <p:nvSpPr>
          <p:cNvPr id="10" name="TextBox 10"/>
          <p:cNvSpPr txBox="1"/>
          <p:nvPr/>
        </p:nvSpPr>
        <p:spPr>
          <a:xfrm>
            <a:off x="2546704" y="909896"/>
            <a:ext cx="4844696" cy="551433"/>
          </a:xfrm>
          <a:prstGeom prst="rect">
            <a:avLst/>
          </a:prstGeom>
        </p:spPr>
        <p:txBody>
          <a:bodyPr wrap="square" lIns="0" tIns="0" rIns="0" bIns="0" rtlCol="0" anchor="t">
            <a:spAutoFit/>
          </a:bodyPr>
          <a:lstStyle/>
          <a:p>
            <a:pPr algn="ctr">
              <a:lnSpc>
                <a:spcPts val="4289"/>
              </a:lnSpc>
              <a:spcBef>
                <a:spcPct val="0"/>
              </a:spcBef>
            </a:pPr>
            <a:r>
              <a:rPr lang="en-US" sz="3299" spc="-65" err="1" smtClean="0">
                <a:solidFill>
                  <a:srgbClr val="FFFFFF"/>
                </a:solidFill>
                <a:latin typeface="Times New Roman" panose="02020603050405020304" pitchFamily="18" charset="0"/>
                <a:ea typeface="Cabin"/>
                <a:cs typeface="Times New Roman" panose="02020603050405020304" pitchFamily="18" charset="0"/>
                <a:sym typeface="Cabin"/>
              </a:rPr>
              <a:t>Trường</a:t>
            </a:r>
            <a:r>
              <a:rPr lang="en-US" sz="3299" spc="-65" smtClean="0">
                <a:solidFill>
                  <a:srgbClr val="FFFFFF"/>
                </a:solidFill>
                <a:latin typeface="Times New Roman" panose="02020603050405020304" pitchFamily="18" charset="0"/>
                <a:ea typeface="Cabin"/>
                <a:cs typeface="Times New Roman" panose="02020603050405020304" pitchFamily="18" charset="0"/>
                <a:sym typeface="Cabin"/>
              </a:rPr>
              <a:t> </a:t>
            </a:r>
            <a:r>
              <a:rPr lang="en-US" sz="3299" spc="-65" err="1">
                <a:solidFill>
                  <a:srgbClr val="FFFFFF"/>
                </a:solidFill>
                <a:latin typeface="Times New Roman" panose="02020603050405020304" pitchFamily="18" charset="0"/>
                <a:ea typeface="Cabin"/>
                <a:cs typeface="Times New Roman" panose="02020603050405020304" pitchFamily="18" charset="0"/>
                <a:sym typeface="Cabin"/>
              </a:rPr>
              <a:t>Kỹ</a:t>
            </a:r>
            <a:r>
              <a:rPr lang="en-US" sz="3299" spc="-65">
                <a:solidFill>
                  <a:srgbClr val="FFFFFF"/>
                </a:solidFill>
                <a:latin typeface="Times New Roman" panose="02020603050405020304" pitchFamily="18" charset="0"/>
                <a:ea typeface="Cabin"/>
                <a:cs typeface="Times New Roman" panose="02020603050405020304" pitchFamily="18" charset="0"/>
                <a:sym typeface="Cabin"/>
              </a:rPr>
              <a:t> </a:t>
            </a:r>
            <a:r>
              <a:rPr lang="en-US" sz="3299" spc="-65" err="1">
                <a:solidFill>
                  <a:srgbClr val="FFFFFF"/>
                </a:solidFill>
                <a:latin typeface="Times New Roman" panose="02020603050405020304" pitchFamily="18" charset="0"/>
                <a:ea typeface="Cabin"/>
                <a:cs typeface="Times New Roman" panose="02020603050405020304" pitchFamily="18" charset="0"/>
                <a:sym typeface="Cabin"/>
              </a:rPr>
              <a:t>Thuật</a:t>
            </a:r>
            <a:r>
              <a:rPr lang="en-US" sz="3299" spc="-65">
                <a:solidFill>
                  <a:srgbClr val="FFFFFF"/>
                </a:solidFill>
                <a:latin typeface="Times New Roman" panose="02020603050405020304" pitchFamily="18" charset="0"/>
                <a:ea typeface="Cabin"/>
                <a:cs typeface="Times New Roman" panose="02020603050405020304" pitchFamily="18" charset="0"/>
                <a:sym typeface="Cabin"/>
              </a:rPr>
              <a:t> </a:t>
            </a:r>
            <a:r>
              <a:rPr lang="en-US" sz="3299" spc="-65" err="1">
                <a:solidFill>
                  <a:srgbClr val="FFFFFF"/>
                </a:solidFill>
                <a:latin typeface="Times New Roman" panose="02020603050405020304" pitchFamily="18" charset="0"/>
                <a:ea typeface="Cabin"/>
                <a:cs typeface="Times New Roman" panose="02020603050405020304" pitchFamily="18" charset="0"/>
                <a:sym typeface="Cabin"/>
              </a:rPr>
              <a:t>Công</a:t>
            </a:r>
            <a:r>
              <a:rPr lang="en-US" sz="3299" spc="-65">
                <a:solidFill>
                  <a:srgbClr val="FFFFFF"/>
                </a:solidFill>
                <a:latin typeface="Times New Roman" panose="02020603050405020304" pitchFamily="18" charset="0"/>
                <a:ea typeface="Cabin"/>
                <a:cs typeface="Times New Roman" panose="02020603050405020304" pitchFamily="18" charset="0"/>
                <a:sym typeface="Cabin"/>
              </a:rPr>
              <a:t> </a:t>
            </a:r>
            <a:r>
              <a:rPr lang="en-US" sz="3299" spc="-65" err="1">
                <a:solidFill>
                  <a:srgbClr val="FFFFFF"/>
                </a:solidFill>
                <a:latin typeface="Times New Roman" panose="02020603050405020304" pitchFamily="18" charset="0"/>
                <a:ea typeface="Cabin"/>
                <a:cs typeface="Times New Roman" panose="02020603050405020304" pitchFamily="18" charset="0"/>
                <a:sym typeface="Cabin"/>
              </a:rPr>
              <a:t>Nghệ</a:t>
            </a:r>
            <a:endParaRPr lang="en-US" sz="3299" spc="-65">
              <a:solidFill>
                <a:srgbClr val="FFFFFF"/>
              </a:solidFill>
              <a:latin typeface="Times New Roman" panose="02020603050405020304" pitchFamily="18" charset="0"/>
              <a:ea typeface="Cabin"/>
              <a:cs typeface="Times New Roman" panose="02020603050405020304" pitchFamily="18" charset="0"/>
              <a:sym typeface="Cabin"/>
            </a:endParaRPr>
          </a:p>
        </p:txBody>
      </p:sp>
      <p:sp>
        <p:nvSpPr>
          <p:cNvPr id="11" name="TextBox 11"/>
          <p:cNvSpPr txBox="1"/>
          <p:nvPr/>
        </p:nvSpPr>
        <p:spPr>
          <a:xfrm>
            <a:off x="9144000" y="5898171"/>
            <a:ext cx="6090978" cy="2537460"/>
          </a:xfrm>
          <a:prstGeom prst="rect">
            <a:avLst/>
          </a:prstGeom>
        </p:spPr>
        <p:txBody>
          <a:bodyPr lIns="0" tIns="0" rIns="0" bIns="0" rtlCol="0" anchor="t">
            <a:spAutoFit/>
          </a:bodyPr>
          <a:lstStyle/>
          <a:p>
            <a:pPr algn="just">
              <a:lnSpc>
                <a:spcPts val="5039"/>
              </a:lnSpc>
            </a:pPr>
            <a:r>
              <a:rPr lang="en-US" sz="3599" i="1" err="1">
                <a:solidFill>
                  <a:srgbClr val="000000"/>
                </a:solidFill>
                <a:latin typeface="Times New Roman" panose="02020603050405020304" pitchFamily="18" charset="0"/>
                <a:ea typeface="Cabin Italics"/>
                <a:cs typeface="Times New Roman" panose="02020603050405020304" pitchFamily="18" charset="0"/>
                <a:sym typeface="Cabin Italics"/>
              </a:rPr>
              <a:t>Sinh</a:t>
            </a:r>
            <a:r>
              <a:rPr lang="en-US" sz="3599" i="1">
                <a:solidFill>
                  <a:srgbClr val="000000"/>
                </a:solidFill>
                <a:latin typeface="Times New Roman" panose="02020603050405020304" pitchFamily="18" charset="0"/>
                <a:ea typeface="Cabin Italics"/>
                <a:cs typeface="Times New Roman" panose="02020603050405020304" pitchFamily="18" charset="0"/>
                <a:sym typeface="Cabin Italics"/>
              </a:rPr>
              <a:t> </a:t>
            </a:r>
            <a:r>
              <a:rPr lang="en-US" sz="3599" i="1" err="1">
                <a:solidFill>
                  <a:srgbClr val="000000"/>
                </a:solidFill>
                <a:latin typeface="Times New Roman" panose="02020603050405020304" pitchFamily="18" charset="0"/>
                <a:ea typeface="Cabin Italics"/>
                <a:cs typeface="Times New Roman" panose="02020603050405020304" pitchFamily="18" charset="0"/>
                <a:sym typeface="Cabin Italics"/>
              </a:rPr>
              <a:t>viên</a:t>
            </a:r>
            <a:r>
              <a:rPr lang="en-US" sz="3599" i="1">
                <a:solidFill>
                  <a:srgbClr val="000000"/>
                </a:solidFill>
                <a:latin typeface="Times New Roman" panose="02020603050405020304" pitchFamily="18" charset="0"/>
                <a:ea typeface="Cabin Italics"/>
                <a:cs typeface="Times New Roman" panose="02020603050405020304" pitchFamily="18" charset="0"/>
                <a:sym typeface="Cabin Italics"/>
              </a:rPr>
              <a:t> </a:t>
            </a:r>
            <a:r>
              <a:rPr lang="en-US" sz="3599" i="1" err="1">
                <a:solidFill>
                  <a:srgbClr val="000000"/>
                </a:solidFill>
                <a:latin typeface="Times New Roman" panose="02020603050405020304" pitchFamily="18" charset="0"/>
                <a:ea typeface="Cabin Italics"/>
                <a:cs typeface="Times New Roman" panose="02020603050405020304" pitchFamily="18" charset="0"/>
                <a:sym typeface="Cabin Italics"/>
              </a:rPr>
              <a:t>thực</a:t>
            </a:r>
            <a:r>
              <a:rPr lang="en-US" sz="3599" i="1">
                <a:solidFill>
                  <a:srgbClr val="000000"/>
                </a:solidFill>
                <a:latin typeface="Times New Roman" panose="02020603050405020304" pitchFamily="18" charset="0"/>
                <a:ea typeface="Cabin Italics"/>
                <a:cs typeface="Times New Roman" panose="02020603050405020304" pitchFamily="18" charset="0"/>
                <a:sym typeface="Cabin Italics"/>
              </a:rPr>
              <a:t> </a:t>
            </a:r>
            <a:r>
              <a:rPr lang="en-US" sz="3599" i="1" err="1">
                <a:solidFill>
                  <a:srgbClr val="000000"/>
                </a:solidFill>
                <a:latin typeface="Times New Roman" panose="02020603050405020304" pitchFamily="18" charset="0"/>
                <a:ea typeface="Cabin Italics"/>
                <a:cs typeface="Times New Roman" panose="02020603050405020304" pitchFamily="18" charset="0"/>
                <a:sym typeface="Cabin Italics"/>
              </a:rPr>
              <a:t>hiện</a:t>
            </a:r>
            <a:r>
              <a:rPr lang="en-US" sz="3599" i="1">
                <a:solidFill>
                  <a:srgbClr val="000000"/>
                </a:solidFill>
                <a:latin typeface="Times New Roman" panose="02020603050405020304" pitchFamily="18" charset="0"/>
                <a:ea typeface="Cabin Italics"/>
                <a:cs typeface="Times New Roman" panose="02020603050405020304" pitchFamily="18" charset="0"/>
                <a:sym typeface="Cabin Italics"/>
              </a:rPr>
              <a:t>:</a:t>
            </a:r>
          </a:p>
          <a:p>
            <a:pPr algn="just">
              <a:lnSpc>
                <a:spcPts val="5039"/>
              </a:lnSpc>
            </a:pPr>
            <a:r>
              <a:rPr lang="en-US" sz="3599" i="1" err="1">
                <a:solidFill>
                  <a:srgbClr val="000000"/>
                </a:solidFill>
                <a:latin typeface="Times New Roman" panose="02020603050405020304" pitchFamily="18" charset="0"/>
                <a:ea typeface="Cabin Italics"/>
                <a:cs typeface="Times New Roman" panose="02020603050405020304" pitchFamily="18" charset="0"/>
                <a:sym typeface="Cabin Italics"/>
              </a:rPr>
              <a:t>Họ</a:t>
            </a:r>
            <a:r>
              <a:rPr lang="en-US" sz="3599" i="1">
                <a:solidFill>
                  <a:srgbClr val="000000"/>
                </a:solidFill>
                <a:latin typeface="Times New Roman" panose="02020603050405020304" pitchFamily="18" charset="0"/>
                <a:ea typeface="Cabin Italics"/>
                <a:cs typeface="Times New Roman" panose="02020603050405020304" pitchFamily="18" charset="0"/>
                <a:sym typeface="Cabin Italics"/>
              </a:rPr>
              <a:t> </a:t>
            </a:r>
            <a:r>
              <a:rPr lang="en-US" sz="3599" i="1" err="1">
                <a:solidFill>
                  <a:srgbClr val="000000"/>
                </a:solidFill>
                <a:latin typeface="Times New Roman" panose="02020603050405020304" pitchFamily="18" charset="0"/>
                <a:ea typeface="Cabin Italics"/>
                <a:cs typeface="Times New Roman" panose="02020603050405020304" pitchFamily="18" charset="0"/>
                <a:sym typeface="Cabin Italics"/>
              </a:rPr>
              <a:t>và</a:t>
            </a:r>
            <a:r>
              <a:rPr lang="en-US" sz="3599" i="1">
                <a:solidFill>
                  <a:srgbClr val="000000"/>
                </a:solidFill>
                <a:latin typeface="Times New Roman" panose="02020603050405020304" pitchFamily="18" charset="0"/>
                <a:ea typeface="Cabin Italics"/>
                <a:cs typeface="Times New Roman" panose="02020603050405020304" pitchFamily="18" charset="0"/>
                <a:sym typeface="Cabin Italics"/>
              </a:rPr>
              <a:t> </a:t>
            </a:r>
            <a:r>
              <a:rPr lang="en-US" sz="3599" i="1" err="1">
                <a:solidFill>
                  <a:srgbClr val="000000"/>
                </a:solidFill>
                <a:latin typeface="Times New Roman" panose="02020603050405020304" pitchFamily="18" charset="0"/>
                <a:ea typeface="Cabin Italics"/>
                <a:cs typeface="Times New Roman" panose="02020603050405020304" pitchFamily="18" charset="0"/>
                <a:sym typeface="Cabin Italics"/>
              </a:rPr>
              <a:t>Tên</a:t>
            </a:r>
            <a:r>
              <a:rPr lang="en-US" sz="3599" i="1">
                <a:solidFill>
                  <a:srgbClr val="000000"/>
                </a:solidFill>
                <a:latin typeface="Times New Roman" panose="02020603050405020304" pitchFamily="18" charset="0"/>
                <a:ea typeface="Cabin Italics"/>
                <a:cs typeface="Times New Roman" panose="02020603050405020304" pitchFamily="18" charset="0"/>
                <a:sym typeface="Cabin Italics"/>
              </a:rPr>
              <a:t>: </a:t>
            </a:r>
            <a:r>
              <a:rPr lang="en-US" sz="3599" i="1" err="1" smtClean="0">
                <a:solidFill>
                  <a:srgbClr val="000000"/>
                </a:solidFill>
                <a:latin typeface="Times New Roman" panose="02020603050405020304" pitchFamily="18" charset="0"/>
                <a:ea typeface="Cabin Italics"/>
                <a:cs typeface="Times New Roman" panose="02020603050405020304" pitchFamily="18" charset="0"/>
                <a:sym typeface="Cabin Italics"/>
              </a:rPr>
              <a:t>Hà</a:t>
            </a:r>
            <a:r>
              <a:rPr lang="en-US" sz="3599" i="1" smtClean="0">
                <a:solidFill>
                  <a:srgbClr val="000000"/>
                </a:solidFill>
                <a:latin typeface="Times New Roman" panose="02020603050405020304" pitchFamily="18" charset="0"/>
                <a:ea typeface="Cabin Italics"/>
                <a:cs typeface="Times New Roman" panose="02020603050405020304" pitchFamily="18" charset="0"/>
                <a:sym typeface="Cabin Italics"/>
              </a:rPr>
              <a:t> Gia </a:t>
            </a:r>
            <a:r>
              <a:rPr lang="en-US" sz="3599" i="1" err="1" smtClean="0">
                <a:solidFill>
                  <a:srgbClr val="000000"/>
                </a:solidFill>
                <a:latin typeface="Times New Roman" panose="02020603050405020304" pitchFamily="18" charset="0"/>
                <a:ea typeface="Cabin Italics"/>
                <a:cs typeface="Times New Roman" panose="02020603050405020304" pitchFamily="18" charset="0"/>
                <a:sym typeface="Cabin Italics"/>
              </a:rPr>
              <a:t>Lộc</a:t>
            </a:r>
            <a:endParaRPr lang="en-US" sz="3599" i="1">
              <a:solidFill>
                <a:srgbClr val="000000"/>
              </a:solidFill>
              <a:latin typeface="Times New Roman" panose="02020603050405020304" pitchFamily="18" charset="0"/>
              <a:ea typeface="Cabin Italics"/>
              <a:cs typeface="Times New Roman" panose="02020603050405020304" pitchFamily="18" charset="0"/>
              <a:sym typeface="Cabin Italics"/>
            </a:endParaRPr>
          </a:p>
          <a:p>
            <a:pPr algn="just">
              <a:lnSpc>
                <a:spcPts val="5039"/>
              </a:lnSpc>
            </a:pPr>
            <a:r>
              <a:rPr lang="en-US" sz="3599" i="1" err="1">
                <a:solidFill>
                  <a:srgbClr val="000000"/>
                </a:solidFill>
                <a:latin typeface="Times New Roman" panose="02020603050405020304" pitchFamily="18" charset="0"/>
                <a:ea typeface="Cabin Italics"/>
                <a:cs typeface="Times New Roman" panose="02020603050405020304" pitchFamily="18" charset="0"/>
                <a:sym typeface="Cabin Italics"/>
              </a:rPr>
              <a:t>Mã</a:t>
            </a:r>
            <a:r>
              <a:rPr lang="en-US" sz="3599" i="1">
                <a:solidFill>
                  <a:srgbClr val="000000"/>
                </a:solidFill>
                <a:latin typeface="Times New Roman" panose="02020603050405020304" pitchFamily="18" charset="0"/>
                <a:ea typeface="Cabin Italics"/>
                <a:cs typeface="Times New Roman" panose="02020603050405020304" pitchFamily="18" charset="0"/>
                <a:sym typeface="Cabin Italics"/>
              </a:rPr>
              <a:t> </a:t>
            </a:r>
            <a:r>
              <a:rPr lang="en-US" sz="3599" i="1" err="1">
                <a:solidFill>
                  <a:srgbClr val="000000"/>
                </a:solidFill>
                <a:latin typeface="Times New Roman" panose="02020603050405020304" pitchFamily="18" charset="0"/>
                <a:ea typeface="Cabin Italics"/>
                <a:cs typeface="Times New Roman" panose="02020603050405020304" pitchFamily="18" charset="0"/>
                <a:sym typeface="Cabin Italics"/>
              </a:rPr>
              <a:t>lớp</a:t>
            </a:r>
            <a:r>
              <a:rPr lang="en-US" sz="3599" i="1">
                <a:solidFill>
                  <a:srgbClr val="000000"/>
                </a:solidFill>
                <a:latin typeface="Times New Roman" panose="02020603050405020304" pitchFamily="18" charset="0"/>
                <a:ea typeface="Cabin Italics"/>
                <a:cs typeface="Times New Roman" panose="02020603050405020304" pitchFamily="18" charset="0"/>
                <a:sym typeface="Cabin Italics"/>
              </a:rPr>
              <a:t>: DA22TTD</a:t>
            </a:r>
          </a:p>
          <a:p>
            <a:pPr marL="0" lvl="0" indent="0" algn="just">
              <a:lnSpc>
                <a:spcPts val="5039"/>
              </a:lnSpc>
              <a:spcBef>
                <a:spcPct val="0"/>
              </a:spcBef>
            </a:pPr>
            <a:r>
              <a:rPr lang="en-US" sz="3599" i="1">
                <a:solidFill>
                  <a:srgbClr val="000000"/>
                </a:solidFill>
                <a:latin typeface="Times New Roman" panose="02020603050405020304" pitchFamily="18" charset="0"/>
                <a:ea typeface="Cabin Italics"/>
                <a:cs typeface="Times New Roman" panose="02020603050405020304" pitchFamily="18" charset="0"/>
                <a:sym typeface="Cabin Italics"/>
              </a:rPr>
              <a:t>MSSV: </a:t>
            </a:r>
            <a:r>
              <a:rPr lang="en-US" sz="3599" i="1" smtClean="0">
                <a:solidFill>
                  <a:srgbClr val="000000"/>
                </a:solidFill>
                <a:latin typeface="Times New Roman" panose="02020603050405020304" pitchFamily="18" charset="0"/>
                <a:ea typeface="Cabin Italics"/>
                <a:cs typeface="Times New Roman" panose="02020603050405020304" pitchFamily="18" charset="0"/>
                <a:sym typeface="Cabin Italics"/>
              </a:rPr>
              <a:t>110122103</a:t>
            </a:r>
            <a:endParaRPr lang="en-US" sz="3599" i="1">
              <a:solidFill>
                <a:srgbClr val="000000"/>
              </a:solidFill>
              <a:latin typeface="Times New Roman" panose="02020603050405020304" pitchFamily="18" charset="0"/>
              <a:ea typeface="Cabin Italics"/>
              <a:cs typeface="Times New Roman" panose="02020603050405020304" pitchFamily="18" charset="0"/>
              <a:sym typeface="Cabin Itali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12562"/>
            <a:ext cx="9964391" cy="1088390"/>
          </a:xfrm>
          <a:prstGeom prst="rect">
            <a:avLst/>
          </a:prstGeom>
        </p:spPr>
        <p:txBody>
          <a:bodyPr lIns="0" tIns="0" rIns="0" bIns="0" rtlCol="0" anchor="t">
            <a:spAutoFit/>
          </a:bodyPr>
          <a:lstStyle/>
          <a:p>
            <a:pPr marL="0" lvl="0" indent="0" algn="l">
              <a:lnSpc>
                <a:spcPts val="8470"/>
              </a:lnSpc>
              <a:spcBef>
                <a:spcPct val="0"/>
              </a:spcBef>
            </a:pPr>
            <a:r>
              <a:rPr lang="en-US" sz="7700" b="1">
                <a:solidFill>
                  <a:srgbClr val="1836B2"/>
                </a:solidFill>
                <a:latin typeface="Times New Roman" panose="02020603050405020304" pitchFamily="18" charset="0"/>
                <a:ea typeface="Cabin Semi-Bold"/>
                <a:cs typeface="Times New Roman" panose="02020603050405020304" pitchFamily="18" charset="0"/>
                <a:sym typeface="Cabin Semi-Bold"/>
              </a:rPr>
              <a:t>Nội dung thuyết trình</a:t>
            </a:r>
          </a:p>
        </p:txBody>
      </p:sp>
      <p:grpSp>
        <p:nvGrpSpPr>
          <p:cNvPr id="3" name="Group 3"/>
          <p:cNvGrpSpPr/>
          <p:nvPr/>
        </p:nvGrpSpPr>
        <p:grpSpPr>
          <a:xfrm>
            <a:off x="13741037" y="-1217562"/>
            <a:ext cx="9852713" cy="11676274"/>
            <a:chOff x="0" y="0"/>
            <a:chExt cx="13136951" cy="15568366"/>
          </a:xfrm>
        </p:grpSpPr>
        <p:sp>
          <p:nvSpPr>
            <p:cNvPr id="4" name="Freeform 4"/>
            <p:cNvSpPr/>
            <p:nvPr/>
          </p:nvSpPr>
          <p:spPr>
            <a:xfrm flipV="1">
              <a:off x="0" y="0"/>
              <a:ext cx="10199044" cy="582331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2">
                <a:extLst>
                  <a:ext uri="{96DAC541-7B7A-43D3-8B79-37D633B846F1}">
                    <asvg:svgBlip xmlns:asvg="http://schemas.microsoft.com/office/drawing/2016/SVG/main" xmlns="" r:embed="rId3"/>
                  </a:ext>
                </a:extLst>
              </a:blip>
              <a:stretch>
                <a:fillRect t="-51576"/>
              </a:stretch>
            </a:blipFill>
          </p:spPr>
          <p:txBody>
            <a:bodyPr/>
            <a:lstStyle/>
            <a:p>
              <a:endParaRPr lang="vi-VN"/>
            </a:p>
          </p:txBody>
        </p:sp>
        <p:grpSp>
          <p:nvGrpSpPr>
            <p:cNvPr id="5" name="Group 5"/>
            <p:cNvGrpSpPr/>
            <p:nvPr/>
          </p:nvGrpSpPr>
          <p:grpSpPr>
            <a:xfrm rot="-10800000">
              <a:off x="2115666" y="3513875"/>
              <a:ext cx="11021285" cy="12054491"/>
              <a:chOff x="0" y="0"/>
              <a:chExt cx="4911651" cy="5372100"/>
            </a:xfrm>
          </p:grpSpPr>
          <p:sp>
            <p:nvSpPr>
              <p:cNvPr id="6" name="Freeform 6"/>
              <p:cNvSpPr/>
              <p:nvPr/>
            </p:nvSpPr>
            <p:spPr>
              <a:xfrm>
                <a:off x="0" y="0"/>
                <a:ext cx="4911651" cy="5372100"/>
              </a:xfrm>
              <a:custGeom>
                <a:avLst/>
                <a:gdLst/>
                <a:ahLst/>
                <a:cxnLst/>
                <a:rect l="l" t="t" r="r" b="b"/>
                <a:pathLst>
                  <a:path w="4911651" h="537210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p:spPr>
            <p:txBody>
              <a:bodyPr/>
              <a:lstStyle/>
              <a:p>
                <a:endParaRPr lang="vi-VN"/>
              </a:p>
            </p:txBody>
          </p:sp>
        </p:grpSp>
      </p:grpSp>
      <p:graphicFrame>
        <p:nvGraphicFramePr>
          <p:cNvPr id="7" name="Table 7"/>
          <p:cNvGraphicFramePr>
            <a:graphicFrameLocks noGrp="1"/>
          </p:cNvGraphicFramePr>
          <p:nvPr>
            <p:extLst>
              <p:ext uri="{D42A27DB-BD31-4B8C-83A1-F6EECF244321}">
                <p14:modId xmlns:p14="http://schemas.microsoft.com/office/powerpoint/2010/main" val="2653077801"/>
              </p:ext>
            </p:extLst>
          </p:nvPr>
        </p:nvGraphicFramePr>
        <p:xfrm>
          <a:off x="1028699" y="1994157"/>
          <a:ext cx="13982701" cy="8111712"/>
        </p:xfrm>
        <a:graphic>
          <a:graphicData uri="http://schemas.openxmlformats.org/drawingml/2006/table">
            <a:tbl>
              <a:tblPr/>
              <a:tblGrid>
                <a:gridCol w="7002393">
                  <a:extLst>
                    <a:ext uri="{9D8B030D-6E8A-4147-A177-3AD203B41FA5}">
                      <a16:colId xmlns:a16="http://schemas.microsoft.com/office/drawing/2014/main" xmlns="" val="20000"/>
                    </a:ext>
                  </a:extLst>
                </a:gridCol>
                <a:gridCol w="6980308">
                  <a:extLst>
                    <a:ext uri="{9D8B030D-6E8A-4147-A177-3AD203B41FA5}">
                      <a16:colId xmlns:a16="http://schemas.microsoft.com/office/drawing/2014/main" xmlns="" val="20001"/>
                    </a:ext>
                  </a:extLst>
                </a:gridCol>
              </a:tblGrid>
              <a:tr h="1827467">
                <a:tc>
                  <a:txBody>
                    <a:bodyPr/>
                    <a:lstStyle/>
                    <a:p>
                      <a:pPr algn="l">
                        <a:lnSpc>
                          <a:spcPts val="5599"/>
                        </a:lnSpc>
                        <a:defRPr/>
                      </a:pPr>
                      <a:r>
                        <a:rPr lang="en-US" sz="3999" smtClean="0">
                          <a:solidFill>
                            <a:srgbClr val="000000"/>
                          </a:solidFill>
                          <a:latin typeface="Arial" panose="020B0604020202020204" pitchFamily="34" charset="0"/>
                          <a:ea typeface="Cabin"/>
                          <a:cs typeface="Arial" panose="020B0604020202020204" pitchFamily="34" charset="0"/>
                          <a:sym typeface="Cabin"/>
                        </a:rPr>
                        <a:t>1. L</a:t>
                      </a:r>
                      <a:r>
                        <a:rPr lang="vi-VN" sz="3999" smtClean="0">
                          <a:solidFill>
                            <a:srgbClr val="000000"/>
                          </a:solidFill>
                          <a:latin typeface="Arial" panose="020B0604020202020204" pitchFamily="34" charset="0"/>
                          <a:ea typeface="Cabin"/>
                          <a:cs typeface="Arial" panose="020B0604020202020204" pitchFamily="34" charset="0"/>
                          <a:sym typeface="Cabin"/>
                        </a:rPr>
                        <a:t>ý </a:t>
                      </a:r>
                      <a:r>
                        <a:rPr lang="vi-VN" sz="3999">
                          <a:solidFill>
                            <a:srgbClr val="000000"/>
                          </a:solidFill>
                          <a:latin typeface="Arial" panose="020B0604020202020204" pitchFamily="34" charset="0"/>
                          <a:ea typeface="Cabin"/>
                          <a:cs typeface="Arial" panose="020B0604020202020204" pitchFamily="34" charset="0"/>
                          <a:sym typeface="Cabin"/>
                        </a:rPr>
                        <a:t>do chọn </a:t>
                      </a:r>
                      <a:r>
                        <a:rPr lang="en-US" sz="3999" err="1">
                          <a:solidFill>
                            <a:srgbClr val="000000"/>
                          </a:solidFill>
                          <a:latin typeface="Arial" panose="020B0604020202020204" pitchFamily="34" charset="0"/>
                          <a:ea typeface="Cabin"/>
                          <a:cs typeface="Arial" panose="020B0604020202020204" pitchFamily="34" charset="0"/>
                          <a:sym typeface="Cabin"/>
                        </a:rPr>
                        <a:t>đề</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tài</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5599"/>
                        </a:lnSpc>
                        <a:defRPr/>
                      </a:pPr>
                      <a:r>
                        <a:rPr lang="en-US" sz="3999">
                          <a:solidFill>
                            <a:srgbClr val="000000"/>
                          </a:solidFill>
                          <a:latin typeface="Arial" panose="020B0604020202020204" pitchFamily="34" charset="0"/>
                          <a:ea typeface="Cabin"/>
                          <a:cs typeface="Arial" panose="020B0604020202020204" pitchFamily="34" charset="0"/>
                          <a:sym typeface="Cabin"/>
                        </a:rPr>
                        <a:t>2</a:t>
                      </a:r>
                      <a:r>
                        <a:rPr lang="en-US" sz="3999" smtClean="0">
                          <a:solidFill>
                            <a:srgbClr val="000000"/>
                          </a:solidFill>
                          <a:latin typeface="Arial" panose="020B0604020202020204" pitchFamily="34" charset="0"/>
                          <a:ea typeface="Cabin"/>
                          <a:cs typeface="Arial" panose="020B0604020202020204" pitchFamily="34" charset="0"/>
                          <a:sym typeface="Cabin"/>
                        </a:rPr>
                        <a:t>. </a:t>
                      </a:r>
                      <a:r>
                        <a:rPr lang="en-US" sz="3999" err="1" smtClean="0">
                          <a:solidFill>
                            <a:srgbClr val="000000"/>
                          </a:solidFill>
                          <a:latin typeface="Arial" panose="020B0604020202020204" pitchFamily="34" charset="0"/>
                          <a:ea typeface="Cabin"/>
                          <a:cs typeface="Arial" panose="020B0604020202020204" pitchFamily="34" charset="0"/>
                          <a:sym typeface="Cabin"/>
                        </a:rPr>
                        <a:t>Mục</a:t>
                      </a:r>
                      <a:r>
                        <a:rPr lang="en-US" sz="3999" smtClean="0">
                          <a:solidFill>
                            <a:srgbClr val="000000"/>
                          </a:solidFill>
                          <a:latin typeface="Arial" panose="020B0604020202020204" pitchFamily="34" charset="0"/>
                          <a:ea typeface="Cabin"/>
                          <a:cs typeface="Arial" panose="020B0604020202020204" pitchFamily="34" charset="0"/>
                          <a:sym typeface="Cabin"/>
                        </a:rPr>
                        <a:t> </a:t>
                      </a:r>
                      <a:r>
                        <a:rPr lang="vi-VN" sz="3999">
                          <a:solidFill>
                            <a:srgbClr val="000000"/>
                          </a:solidFill>
                          <a:latin typeface="Arial" panose="020B0604020202020204" pitchFamily="34" charset="0"/>
                          <a:ea typeface="Cabin"/>
                          <a:cs typeface="Arial" panose="020B0604020202020204" pitchFamily="34" charset="0"/>
                          <a:sym typeface="Cabin"/>
                        </a:rPr>
                        <a:t>đích</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nghiên</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cứu</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r h="1514337">
                <a:tc>
                  <a:txBody>
                    <a:bodyPr/>
                    <a:lstStyle/>
                    <a:p>
                      <a:pPr algn="l">
                        <a:lnSpc>
                          <a:spcPts val="5599"/>
                        </a:lnSpc>
                        <a:defRPr/>
                      </a:pPr>
                      <a:r>
                        <a:rPr lang="en-US" sz="3999">
                          <a:solidFill>
                            <a:srgbClr val="000000"/>
                          </a:solidFill>
                          <a:latin typeface="Arial" panose="020B0604020202020204" pitchFamily="34" charset="0"/>
                          <a:ea typeface="Cabin"/>
                          <a:cs typeface="Arial" panose="020B0604020202020204" pitchFamily="34" charset="0"/>
                          <a:sym typeface="Cabin"/>
                        </a:rPr>
                        <a:t>3</a:t>
                      </a:r>
                      <a:r>
                        <a:rPr lang="en-US" sz="3999" smtClean="0">
                          <a:solidFill>
                            <a:srgbClr val="000000"/>
                          </a:solidFill>
                          <a:latin typeface="Arial" panose="020B0604020202020204" pitchFamily="34" charset="0"/>
                          <a:ea typeface="Cabin"/>
                          <a:cs typeface="Arial" panose="020B0604020202020204" pitchFamily="34" charset="0"/>
                          <a:sym typeface="Cabin"/>
                        </a:rPr>
                        <a:t>. </a:t>
                      </a:r>
                      <a:r>
                        <a:rPr lang="en-US" sz="3999" err="1" smtClean="0">
                          <a:solidFill>
                            <a:srgbClr val="000000"/>
                          </a:solidFill>
                          <a:latin typeface="Arial" panose="020B0604020202020204" pitchFamily="34" charset="0"/>
                          <a:ea typeface="Cabin"/>
                          <a:cs typeface="Arial" panose="020B0604020202020204" pitchFamily="34" charset="0"/>
                          <a:sym typeface="Cabin"/>
                        </a:rPr>
                        <a:t>Cơ</a:t>
                      </a:r>
                      <a:r>
                        <a:rPr lang="en-US" sz="3999" smtClean="0">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sở</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lý</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thuyết</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5599"/>
                        </a:lnSpc>
                        <a:defRPr/>
                      </a:pPr>
                      <a:r>
                        <a:rPr lang="en-US" sz="3999">
                          <a:solidFill>
                            <a:srgbClr val="000000"/>
                          </a:solidFill>
                          <a:latin typeface="Arial" panose="020B0604020202020204" pitchFamily="34" charset="0"/>
                          <a:ea typeface="Cabin"/>
                          <a:cs typeface="Arial" panose="020B0604020202020204" pitchFamily="34" charset="0"/>
                          <a:sym typeface="Cabin"/>
                        </a:rPr>
                        <a:t>4</a:t>
                      </a:r>
                      <a:r>
                        <a:rPr lang="en-US" sz="3999" smtClean="0">
                          <a:solidFill>
                            <a:srgbClr val="000000"/>
                          </a:solidFill>
                          <a:latin typeface="Arial" panose="020B0604020202020204" pitchFamily="34" charset="0"/>
                          <a:ea typeface="Cabin"/>
                          <a:cs typeface="Arial" panose="020B0604020202020204" pitchFamily="34" charset="0"/>
                          <a:sym typeface="Cabin"/>
                        </a:rPr>
                        <a:t>. </a:t>
                      </a:r>
                      <a:r>
                        <a:rPr lang="en-US" sz="3999" err="1" smtClean="0">
                          <a:solidFill>
                            <a:srgbClr val="000000"/>
                          </a:solidFill>
                          <a:latin typeface="Arial" panose="020B0604020202020204" pitchFamily="34" charset="0"/>
                          <a:ea typeface="Cabin"/>
                          <a:cs typeface="Arial" panose="020B0604020202020204" pitchFamily="34" charset="0"/>
                          <a:sym typeface="Cabin"/>
                        </a:rPr>
                        <a:t>Mô</a:t>
                      </a:r>
                      <a:r>
                        <a:rPr lang="en-US" sz="3999" smtClean="0">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tả</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bài</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toán</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1514337">
                <a:tc>
                  <a:txBody>
                    <a:bodyPr/>
                    <a:lstStyle/>
                    <a:p>
                      <a:pPr algn="l">
                        <a:lnSpc>
                          <a:spcPts val="5599"/>
                        </a:lnSpc>
                        <a:defRPr/>
                      </a:pPr>
                      <a:r>
                        <a:rPr lang="en-US" sz="3999" b="0">
                          <a:solidFill>
                            <a:srgbClr val="000000"/>
                          </a:solidFill>
                          <a:latin typeface="Arial" panose="020B0604020202020204" pitchFamily="34" charset="0"/>
                          <a:ea typeface="Cabin Medium"/>
                          <a:cs typeface="Arial" panose="020B0604020202020204" pitchFamily="34" charset="0"/>
                          <a:sym typeface="Cabin Medium"/>
                        </a:rPr>
                        <a:t>5</a:t>
                      </a:r>
                      <a:r>
                        <a:rPr lang="en-US" sz="3999" b="0" smtClean="0">
                          <a:solidFill>
                            <a:srgbClr val="000000"/>
                          </a:solidFill>
                          <a:latin typeface="Arial" panose="020B0604020202020204" pitchFamily="34" charset="0"/>
                          <a:ea typeface="Cabin Medium"/>
                          <a:cs typeface="Arial" panose="020B0604020202020204" pitchFamily="34" charset="0"/>
                          <a:sym typeface="Cabin Medium"/>
                        </a:rPr>
                        <a:t>. </a:t>
                      </a:r>
                      <a:r>
                        <a:rPr lang="en-US" sz="3999" b="0" err="1" smtClean="0">
                          <a:solidFill>
                            <a:srgbClr val="000000"/>
                          </a:solidFill>
                          <a:latin typeface="Arial" panose="020B0604020202020204" pitchFamily="34" charset="0"/>
                          <a:ea typeface="Cabin Medium"/>
                          <a:cs typeface="Arial" panose="020B0604020202020204" pitchFamily="34" charset="0"/>
                          <a:sym typeface="Cabin Medium"/>
                        </a:rPr>
                        <a:t>Yêu</a:t>
                      </a:r>
                      <a:r>
                        <a:rPr lang="en-US" sz="3999" b="0" smtClean="0">
                          <a:solidFill>
                            <a:srgbClr val="000000"/>
                          </a:solidFill>
                          <a:latin typeface="Arial" panose="020B0604020202020204" pitchFamily="34" charset="0"/>
                          <a:ea typeface="Cabin Medium"/>
                          <a:cs typeface="Arial" panose="020B0604020202020204" pitchFamily="34" charset="0"/>
                          <a:sym typeface="Cabin Medium"/>
                        </a:rPr>
                        <a:t> </a:t>
                      </a:r>
                      <a:r>
                        <a:rPr lang="en-US" sz="3999" b="0" err="1">
                          <a:solidFill>
                            <a:srgbClr val="000000"/>
                          </a:solidFill>
                          <a:latin typeface="Arial" panose="020B0604020202020204" pitchFamily="34" charset="0"/>
                          <a:ea typeface="Cabin Medium"/>
                          <a:cs typeface="Arial" panose="020B0604020202020204" pitchFamily="34" charset="0"/>
                          <a:sym typeface="Cabin Medium"/>
                        </a:rPr>
                        <a:t>cầu</a:t>
                      </a:r>
                      <a:r>
                        <a:rPr lang="en-US" sz="3999" b="0">
                          <a:solidFill>
                            <a:srgbClr val="000000"/>
                          </a:solidFill>
                          <a:latin typeface="Arial" panose="020B0604020202020204" pitchFamily="34" charset="0"/>
                          <a:ea typeface="Cabin Medium"/>
                          <a:cs typeface="Arial" panose="020B0604020202020204" pitchFamily="34" charset="0"/>
                          <a:sym typeface="Cabin Medium"/>
                        </a:rPr>
                        <a:t> </a:t>
                      </a:r>
                      <a:r>
                        <a:rPr lang="en-US" sz="3999" b="0" err="1">
                          <a:solidFill>
                            <a:srgbClr val="000000"/>
                          </a:solidFill>
                          <a:latin typeface="Arial" panose="020B0604020202020204" pitchFamily="34" charset="0"/>
                          <a:ea typeface="Cabin Medium"/>
                          <a:cs typeface="Arial" panose="020B0604020202020204" pitchFamily="34" charset="0"/>
                          <a:sym typeface="Cabin Medium"/>
                        </a:rPr>
                        <a:t>chức</a:t>
                      </a:r>
                      <a:r>
                        <a:rPr lang="en-US" sz="3999" b="0">
                          <a:solidFill>
                            <a:srgbClr val="000000"/>
                          </a:solidFill>
                          <a:latin typeface="Arial" panose="020B0604020202020204" pitchFamily="34" charset="0"/>
                          <a:ea typeface="Cabin Medium"/>
                          <a:cs typeface="Arial" panose="020B0604020202020204" pitchFamily="34" charset="0"/>
                          <a:sym typeface="Cabin Medium"/>
                        </a:rPr>
                        <a:t> </a:t>
                      </a:r>
                      <a:r>
                        <a:rPr lang="en-US" sz="3999" b="0" err="1">
                          <a:solidFill>
                            <a:srgbClr val="000000"/>
                          </a:solidFill>
                          <a:latin typeface="Arial" panose="020B0604020202020204" pitchFamily="34" charset="0"/>
                          <a:ea typeface="Cabin Medium"/>
                          <a:cs typeface="Arial" panose="020B0604020202020204" pitchFamily="34" charset="0"/>
                          <a:sym typeface="Cabin Medium"/>
                        </a:rPr>
                        <a:t>năng</a:t>
                      </a:r>
                      <a:endParaRPr lang="en-US" sz="1100" b="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5599"/>
                        </a:lnSpc>
                        <a:defRPr/>
                      </a:pPr>
                      <a:r>
                        <a:rPr lang="en-US" sz="3999">
                          <a:solidFill>
                            <a:srgbClr val="000000"/>
                          </a:solidFill>
                          <a:latin typeface="Arial" panose="020B0604020202020204" pitchFamily="34" charset="0"/>
                          <a:ea typeface="Cabin"/>
                          <a:cs typeface="Arial" panose="020B0604020202020204" pitchFamily="34" charset="0"/>
                          <a:sym typeface="Cabin"/>
                        </a:rPr>
                        <a:t>6</a:t>
                      </a:r>
                      <a:r>
                        <a:rPr lang="en-US" sz="3999" smtClean="0">
                          <a:solidFill>
                            <a:srgbClr val="000000"/>
                          </a:solidFill>
                          <a:latin typeface="Arial" panose="020B0604020202020204" pitchFamily="34" charset="0"/>
                          <a:ea typeface="Cabin"/>
                          <a:cs typeface="Arial" panose="020B0604020202020204" pitchFamily="34" charset="0"/>
                          <a:sym typeface="Cabin"/>
                        </a:rPr>
                        <a:t>. </a:t>
                      </a:r>
                      <a:r>
                        <a:rPr lang="en-US" sz="3999" err="1" smtClean="0">
                          <a:solidFill>
                            <a:srgbClr val="000000"/>
                          </a:solidFill>
                          <a:latin typeface="Arial" panose="020B0604020202020204" pitchFamily="34" charset="0"/>
                          <a:ea typeface="Cabin"/>
                          <a:cs typeface="Arial" panose="020B0604020202020204" pitchFamily="34" charset="0"/>
                          <a:sym typeface="Cabin"/>
                        </a:rPr>
                        <a:t>Yêu</a:t>
                      </a:r>
                      <a:r>
                        <a:rPr lang="en-US" sz="3999" smtClean="0">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cầu</a:t>
                      </a:r>
                      <a:r>
                        <a:rPr lang="en-US" sz="3999">
                          <a:solidFill>
                            <a:srgbClr val="000000"/>
                          </a:solidFill>
                          <a:latin typeface="Arial" panose="020B0604020202020204" pitchFamily="34" charset="0"/>
                          <a:ea typeface="Cabin"/>
                          <a:cs typeface="Arial" panose="020B0604020202020204" pitchFamily="34" charset="0"/>
                          <a:sym typeface="Cabin"/>
                        </a:rPr>
                        <a:t> phi </a:t>
                      </a:r>
                      <a:r>
                        <a:rPr lang="en-US" sz="3999" err="1">
                          <a:solidFill>
                            <a:srgbClr val="000000"/>
                          </a:solidFill>
                          <a:latin typeface="Arial" panose="020B0604020202020204" pitchFamily="34" charset="0"/>
                          <a:ea typeface="Cabin"/>
                          <a:cs typeface="Arial" panose="020B0604020202020204" pitchFamily="34" charset="0"/>
                          <a:sym typeface="Cabin"/>
                        </a:rPr>
                        <a:t>chức</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năng</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r h="1514337">
                <a:tc>
                  <a:txBody>
                    <a:bodyPr/>
                    <a:lstStyle/>
                    <a:p>
                      <a:pPr algn="l">
                        <a:lnSpc>
                          <a:spcPts val="5599"/>
                        </a:lnSpc>
                        <a:defRPr/>
                      </a:pPr>
                      <a:r>
                        <a:rPr lang="en-US" sz="3999" b="0" i="0" u="none">
                          <a:solidFill>
                            <a:srgbClr val="000000"/>
                          </a:solidFill>
                          <a:latin typeface="Arial" panose="020B0604020202020204" pitchFamily="34" charset="0"/>
                          <a:ea typeface="Cabin Medium"/>
                          <a:cs typeface="Arial" panose="020B0604020202020204" pitchFamily="34" charset="0"/>
                          <a:sym typeface="Cabin Medium"/>
                        </a:rPr>
                        <a:t>7</a:t>
                      </a:r>
                      <a:r>
                        <a:rPr lang="en-US" sz="3999" b="0" i="0" u="none" smtClean="0">
                          <a:solidFill>
                            <a:srgbClr val="000000"/>
                          </a:solidFill>
                          <a:latin typeface="Arial" panose="020B0604020202020204" pitchFamily="34" charset="0"/>
                          <a:ea typeface="Cabin Medium"/>
                          <a:cs typeface="Arial" panose="020B0604020202020204" pitchFamily="34" charset="0"/>
                          <a:sym typeface="Cabin Medium"/>
                        </a:rPr>
                        <a:t>. </a:t>
                      </a:r>
                      <a:r>
                        <a:rPr lang="en-US" sz="3999" b="0" i="0" u="none" err="1" smtClean="0">
                          <a:solidFill>
                            <a:srgbClr val="000000"/>
                          </a:solidFill>
                          <a:latin typeface="Arial" panose="020B0604020202020204" pitchFamily="34" charset="0"/>
                          <a:ea typeface="Cabin Medium"/>
                          <a:cs typeface="Arial" panose="020B0604020202020204" pitchFamily="34" charset="0"/>
                          <a:sym typeface="Cabin Medium"/>
                        </a:rPr>
                        <a:t>Cơ</a:t>
                      </a:r>
                      <a:r>
                        <a:rPr lang="en-US" sz="3999" b="0" i="0" u="none" smtClean="0">
                          <a:solidFill>
                            <a:srgbClr val="000000"/>
                          </a:solidFill>
                          <a:latin typeface="Arial" panose="020B0604020202020204" pitchFamily="34" charset="0"/>
                          <a:ea typeface="Cabin Medium"/>
                          <a:cs typeface="Arial" panose="020B0604020202020204" pitchFamily="34" charset="0"/>
                          <a:sym typeface="Cabin Medium"/>
                        </a:rPr>
                        <a:t> </a:t>
                      </a:r>
                      <a:r>
                        <a:rPr lang="en-US" sz="3999" b="0" i="0" u="none" err="1">
                          <a:solidFill>
                            <a:srgbClr val="000000"/>
                          </a:solidFill>
                          <a:latin typeface="Arial" panose="020B0604020202020204" pitchFamily="34" charset="0"/>
                          <a:ea typeface="Cabin Medium"/>
                          <a:cs typeface="Arial" panose="020B0604020202020204" pitchFamily="34" charset="0"/>
                          <a:sym typeface="Cabin Medium"/>
                        </a:rPr>
                        <a:t>sở</a:t>
                      </a:r>
                      <a:r>
                        <a:rPr lang="en-US" sz="3999" b="0" i="0" u="none">
                          <a:solidFill>
                            <a:srgbClr val="000000"/>
                          </a:solidFill>
                          <a:latin typeface="Arial" panose="020B0604020202020204" pitchFamily="34" charset="0"/>
                          <a:ea typeface="Cabin Medium"/>
                          <a:cs typeface="Arial" panose="020B0604020202020204" pitchFamily="34" charset="0"/>
                          <a:sym typeface="Cabin Medium"/>
                        </a:rPr>
                        <a:t> </a:t>
                      </a:r>
                      <a:r>
                        <a:rPr lang="en-US" sz="3999" b="0" i="0" u="none" err="1">
                          <a:solidFill>
                            <a:srgbClr val="000000"/>
                          </a:solidFill>
                          <a:latin typeface="Arial" panose="020B0604020202020204" pitchFamily="34" charset="0"/>
                          <a:ea typeface="Cabin Medium"/>
                          <a:cs typeface="Arial" panose="020B0604020202020204" pitchFamily="34" charset="0"/>
                          <a:sym typeface="Cabin Medium"/>
                        </a:rPr>
                        <a:t>dữ</a:t>
                      </a:r>
                      <a:r>
                        <a:rPr lang="en-US" sz="3999" b="0" i="0" u="none">
                          <a:solidFill>
                            <a:srgbClr val="000000"/>
                          </a:solidFill>
                          <a:latin typeface="Arial" panose="020B0604020202020204" pitchFamily="34" charset="0"/>
                          <a:ea typeface="Cabin Medium"/>
                          <a:cs typeface="Arial" panose="020B0604020202020204" pitchFamily="34" charset="0"/>
                          <a:sym typeface="Cabin Medium"/>
                        </a:rPr>
                        <a:t> </a:t>
                      </a:r>
                      <a:r>
                        <a:rPr lang="en-US" sz="3999" b="0" i="0" u="none" err="1">
                          <a:solidFill>
                            <a:srgbClr val="000000"/>
                          </a:solidFill>
                          <a:latin typeface="Arial" panose="020B0604020202020204" pitchFamily="34" charset="0"/>
                          <a:ea typeface="Cabin Medium"/>
                          <a:cs typeface="Arial" panose="020B0604020202020204" pitchFamily="34" charset="0"/>
                          <a:sym typeface="Cabin Medium"/>
                        </a:rPr>
                        <a:t>liệu</a:t>
                      </a:r>
                      <a:r>
                        <a:rPr lang="en-US" sz="3999" b="0" i="0" u="none">
                          <a:solidFill>
                            <a:srgbClr val="000000"/>
                          </a:solidFill>
                          <a:latin typeface="Arial" panose="020B0604020202020204" pitchFamily="34" charset="0"/>
                          <a:ea typeface="Cabin Medium"/>
                          <a:cs typeface="Arial" panose="020B0604020202020204" pitchFamily="34" charset="0"/>
                          <a:sym typeface="Cabin Medium"/>
                        </a:rPr>
                        <a:t> </a:t>
                      </a:r>
                      <a:endParaRPr lang="en-US" sz="1100" b="0" i="0" u="none">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ts val="5599"/>
                        </a:lnSpc>
                        <a:spcBef>
                          <a:spcPts val="0"/>
                        </a:spcBef>
                        <a:spcAft>
                          <a:spcPts val="0"/>
                        </a:spcAft>
                        <a:buClrTx/>
                        <a:buSzTx/>
                        <a:buFontTx/>
                        <a:buNone/>
                        <a:tabLst/>
                        <a:defRPr/>
                      </a:pPr>
                      <a:r>
                        <a:rPr lang="vi-VN" sz="4000">
                          <a:latin typeface="+mn-lt"/>
                          <a:cs typeface="Arial" panose="020B0604020202020204" pitchFamily="34" charset="0"/>
                        </a:rPr>
                        <a:t>8</a:t>
                      </a:r>
                      <a:r>
                        <a:rPr lang="vi-VN" sz="4000" smtClean="0">
                          <a:latin typeface="+mn-lt"/>
                          <a:cs typeface="Arial" panose="020B0604020202020204" pitchFamily="34" charset="0"/>
                        </a:rPr>
                        <a:t>.</a:t>
                      </a:r>
                      <a:r>
                        <a:rPr lang="en-US" sz="4000" smtClean="0">
                          <a:latin typeface="+mn-lt"/>
                          <a:cs typeface="Arial" panose="020B0604020202020204" pitchFamily="34" charset="0"/>
                        </a:rPr>
                        <a:t> </a:t>
                      </a:r>
                      <a:r>
                        <a:rPr lang="vi-VN" sz="4000" smtClean="0">
                          <a:latin typeface="+mn-lt"/>
                          <a:cs typeface="Arial" panose="020B0604020202020204" pitchFamily="34" charset="0"/>
                        </a:rPr>
                        <a:t>Dữ </a:t>
                      </a:r>
                      <a:r>
                        <a:rPr lang="vi-VN" sz="4000">
                          <a:latin typeface="+mn-lt"/>
                          <a:cs typeface="Arial" panose="020B0604020202020204" pitchFamily="34" charset="0"/>
                        </a:rPr>
                        <a:t>liệu thử nghiệm</a:t>
                      </a:r>
                      <a:endParaRPr lang="en-US" sz="40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3"/>
                  </a:ext>
                </a:extLst>
              </a:tr>
              <a:tr h="1514337">
                <a:tc>
                  <a:txBody>
                    <a:bodyPr/>
                    <a:lstStyle/>
                    <a:p>
                      <a:pPr algn="l">
                        <a:lnSpc>
                          <a:spcPts val="5599"/>
                        </a:lnSpc>
                        <a:defRPr/>
                      </a:pPr>
                      <a:r>
                        <a:rPr lang="vi-VN" sz="4000">
                          <a:latin typeface="Arial" panose="020B0604020202020204" pitchFamily="34" charset="0"/>
                          <a:cs typeface="Arial" panose="020B0604020202020204" pitchFamily="34" charset="0"/>
                        </a:rPr>
                        <a:t>9</a:t>
                      </a:r>
                      <a:r>
                        <a:rPr lang="vi-VN" sz="4000" smtClean="0">
                          <a:latin typeface="Arial" panose="020B0604020202020204" pitchFamily="34" charset="0"/>
                          <a:cs typeface="Arial" panose="020B0604020202020204" pitchFamily="34" charset="0"/>
                        </a:rPr>
                        <a:t>.</a:t>
                      </a:r>
                      <a:r>
                        <a:rPr lang="en-US" sz="4000" smtClean="0">
                          <a:latin typeface="Arial" panose="020B0604020202020204" pitchFamily="34" charset="0"/>
                          <a:cs typeface="Arial" panose="020B0604020202020204" pitchFamily="34" charset="0"/>
                        </a:rPr>
                        <a:t> </a:t>
                      </a:r>
                      <a:r>
                        <a:rPr lang="vi-VN" sz="4000" smtClean="0">
                          <a:latin typeface="Arial" panose="020B0604020202020204" pitchFamily="34" charset="0"/>
                          <a:cs typeface="Arial" panose="020B0604020202020204" pitchFamily="34" charset="0"/>
                        </a:rPr>
                        <a:t>Kết </a:t>
                      </a:r>
                      <a:r>
                        <a:rPr lang="vi-VN" sz="4000">
                          <a:latin typeface="Arial" panose="020B0604020202020204" pitchFamily="34" charset="0"/>
                          <a:cs typeface="Arial" panose="020B0604020202020204" pitchFamily="34" charset="0"/>
                        </a:rPr>
                        <a:t>quả nghiên cứu</a:t>
                      </a:r>
                      <a:endParaRPr lang="en-US" sz="400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5599"/>
                        </a:lnSpc>
                        <a:defRPr/>
                      </a:pPr>
                      <a:r>
                        <a:rPr lang="vi-VN" sz="4000" smtClean="0">
                          <a:latin typeface="Arial" panose="020B0604020202020204" pitchFamily="34" charset="0"/>
                          <a:cs typeface="Arial" panose="020B0604020202020204" pitchFamily="34" charset="0"/>
                        </a:rPr>
                        <a:t>10.</a:t>
                      </a:r>
                      <a:r>
                        <a:rPr lang="en-US" sz="4000" smtClean="0">
                          <a:latin typeface="Arial" panose="020B0604020202020204" pitchFamily="34" charset="0"/>
                          <a:cs typeface="Arial" panose="020B0604020202020204" pitchFamily="34" charset="0"/>
                        </a:rPr>
                        <a:t> </a:t>
                      </a:r>
                      <a:r>
                        <a:rPr lang="vi-VN" sz="4000" smtClean="0">
                          <a:latin typeface="Arial" panose="020B0604020202020204" pitchFamily="34" charset="0"/>
                          <a:cs typeface="Arial" panose="020B0604020202020204" pitchFamily="34" charset="0"/>
                        </a:rPr>
                        <a:t>Kết</a:t>
                      </a:r>
                      <a:r>
                        <a:rPr lang="en-US" sz="4000" baseline="0" smtClean="0">
                          <a:latin typeface="Arial" panose="020B0604020202020204" pitchFamily="34" charset="0"/>
                          <a:cs typeface="Arial" panose="020B0604020202020204" pitchFamily="34" charset="0"/>
                        </a:rPr>
                        <a:t> </a:t>
                      </a:r>
                      <a:r>
                        <a:rPr lang="vi-VN" sz="4000" smtClean="0">
                          <a:latin typeface="Arial" panose="020B0604020202020204" pitchFamily="34" charset="0"/>
                          <a:cs typeface="Arial" panose="020B0604020202020204" pitchFamily="34" charset="0"/>
                        </a:rPr>
                        <a:t>luận </a:t>
                      </a:r>
                      <a:r>
                        <a:rPr lang="vi-VN" sz="4000">
                          <a:latin typeface="Arial" panose="020B0604020202020204" pitchFamily="34" charset="0"/>
                          <a:cs typeface="Arial" panose="020B0604020202020204" pitchFamily="34" charset="0"/>
                        </a:rPr>
                        <a:t>và Phương hướng phát triển</a:t>
                      </a:r>
                      <a:endParaRPr lang="en-US" sz="40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75E803A-EB2D-0CB4-B30F-4307E0952C32}"/>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xmlns="" id="{65B0AC9B-DED5-DC34-E23D-97E5F9E0DD5E}"/>
              </a:ext>
            </a:extLst>
          </p:cNvPr>
          <p:cNvGrpSpPr/>
          <p:nvPr/>
        </p:nvGrpSpPr>
        <p:grpSpPr>
          <a:xfrm rot="-10800000">
            <a:off x="-2629342" y="-259279"/>
            <a:ext cx="7945947" cy="3511798"/>
            <a:chOff x="0" y="0"/>
            <a:chExt cx="12155147" cy="5372100"/>
          </a:xfrm>
        </p:grpSpPr>
        <p:sp>
          <p:nvSpPr>
            <p:cNvPr id="4" name="Freeform 4">
              <a:extLst>
                <a:ext uri="{FF2B5EF4-FFF2-40B4-BE49-F238E27FC236}">
                  <a16:creationId xmlns:a16="http://schemas.microsoft.com/office/drawing/2014/main" xmlns="" id="{ACA104C8-C8A3-1047-5FF1-83DF6BEC6B4B}"/>
                </a:ext>
              </a:extLst>
            </p:cNvPr>
            <p:cNvSpPr/>
            <p:nvPr/>
          </p:nvSpPr>
          <p:spPr>
            <a:xfrm>
              <a:off x="0" y="0"/>
              <a:ext cx="12155147" cy="5372100"/>
            </a:xfrm>
            <a:custGeom>
              <a:avLst/>
              <a:gdLst/>
              <a:ahLst/>
              <a:cxnLst/>
              <a:rect l="l" t="t" r="r" b="b"/>
              <a:pathLst>
                <a:path w="12155147" h="537210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p:spPr>
          <p:txBody>
            <a:bodyPr/>
            <a:lstStyle/>
            <a:p>
              <a:endParaRPr lang="vi-VN"/>
            </a:p>
          </p:txBody>
        </p:sp>
      </p:grpSp>
      <p:sp>
        <p:nvSpPr>
          <p:cNvPr id="6" name="TextBox 6">
            <a:extLst>
              <a:ext uri="{FF2B5EF4-FFF2-40B4-BE49-F238E27FC236}">
                <a16:creationId xmlns:a16="http://schemas.microsoft.com/office/drawing/2014/main" xmlns="" id="{B4379BC2-88C7-287A-F880-0F31752D2069}"/>
              </a:ext>
            </a:extLst>
          </p:cNvPr>
          <p:cNvSpPr txBox="1"/>
          <p:nvPr/>
        </p:nvSpPr>
        <p:spPr>
          <a:xfrm>
            <a:off x="5486401" y="1800066"/>
            <a:ext cx="12573000" cy="1115690"/>
          </a:xfrm>
          <a:prstGeom prst="rect">
            <a:avLst/>
          </a:prstGeom>
        </p:spPr>
        <p:txBody>
          <a:bodyPr wrap="square" lIns="0" tIns="0" rIns="0" bIns="0" rtlCol="0" anchor="t">
            <a:spAutoFit/>
          </a:bodyPr>
          <a:lstStyle/>
          <a:p>
            <a:pPr marL="0" lvl="0" indent="0" algn="l">
              <a:lnSpc>
                <a:spcPts val="8717"/>
              </a:lnSpc>
              <a:spcBef>
                <a:spcPct val="0"/>
              </a:spcBef>
            </a:pPr>
            <a:r>
              <a:rPr lang="en-US" sz="7925" b="1" u="none" smtClean="0">
                <a:solidFill>
                  <a:srgbClr val="1836B2"/>
                </a:solidFill>
                <a:latin typeface="Times New Roman" panose="02020603050405020304" pitchFamily="18" charset="0"/>
                <a:ea typeface="Cabin Semi-Bold"/>
                <a:cs typeface="Times New Roman" panose="02020603050405020304" pitchFamily="18" charset="0"/>
                <a:sym typeface="Cabin Semi-Bold"/>
              </a:rPr>
              <a:t>1.L</a:t>
            </a:r>
            <a:r>
              <a:rPr lang="vi-VN" sz="7925" b="1" u="none" smtClean="0">
                <a:solidFill>
                  <a:srgbClr val="1836B2"/>
                </a:solidFill>
                <a:latin typeface="Times New Roman" panose="02020603050405020304" pitchFamily="18" charset="0"/>
                <a:ea typeface="Cabin Semi-Bold"/>
                <a:cs typeface="Times New Roman" panose="02020603050405020304" pitchFamily="18" charset="0"/>
                <a:sym typeface="Cabin Semi-Bold"/>
              </a:rPr>
              <a:t>ý </a:t>
            </a:r>
            <a:r>
              <a:rPr lang="vi-VN" sz="7925" b="1" u="none">
                <a:solidFill>
                  <a:srgbClr val="1836B2"/>
                </a:solidFill>
                <a:latin typeface="Times New Roman" panose="02020603050405020304" pitchFamily="18" charset="0"/>
                <a:ea typeface="Cabin Semi-Bold"/>
                <a:cs typeface="Times New Roman" panose="02020603050405020304" pitchFamily="18" charset="0"/>
                <a:sym typeface="Cabin Semi-Bold"/>
              </a:rPr>
              <a:t>do chọn đề tài</a:t>
            </a:r>
            <a:endParaRPr lang="en-US" sz="79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graphicFrame>
        <p:nvGraphicFramePr>
          <p:cNvPr id="8" name="Table 8">
            <a:extLst>
              <a:ext uri="{FF2B5EF4-FFF2-40B4-BE49-F238E27FC236}">
                <a16:creationId xmlns:a16="http://schemas.microsoft.com/office/drawing/2014/main" xmlns="" id="{DD08C178-38B6-594D-1656-0A7BA1A63A61}"/>
              </a:ext>
            </a:extLst>
          </p:cNvPr>
          <p:cNvGraphicFramePr>
            <a:graphicFrameLocks noGrp="1"/>
          </p:cNvGraphicFramePr>
          <p:nvPr>
            <p:extLst>
              <p:ext uri="{D42A27DB-BD31-4B8C-83A1-F6EECF244321}">
                <p14:modId xmlns:p14="http://schemas.microsoft.com/office/powerpoint/2010/main" val="2270036072"/>
              </p:ext>
            </p:extLst>
          </p:nvPr>
        </p:nvGraphicFramePr>
        <p:xfrm>
          <a:off x="304800" y="3619500"/>
          <a:ext cx="5580000" cy="3960000"/>
        </p:xfrm>
        <a:graphic>
          <a:graphicData uri="http://schemas.openxmlformats.org/drawingml/2006/table">
            <a:tbl>
              <a:tblPr/>
              <a:tblGrid>
                <a:gridCol w="5580000">
                  <a:extLst>
                    <a:ext uri="{9D8B030D-6E8A-4147-A177-3AD203B41FA5}">
                      <a16:colId xmlns:a16="http://schemas.microsoft.com/office/drawing/2014/main" xmlns="" val="20000"/>
                    </a:ext>
                  </a:extLst>
                </a:gridCol>
              </a:tblGrid>
              <a:tr h="1304877">
                <a:tc>
                  <a:txBody>
                    <a:bodyPr/>
                    <a:lstStyle/>
                    <a:p>
                      <a:pPr algn="just">
                        <a:lnSpc>
                          <a:spcPts val="3640"/>
                        </a:lnSpc>
                        <a:defRPr/>
                      </a:pPr>
                      <a:r>
                        <a:rPr lang="vi-VN" sz="2800" smtClean="0">
                          <a:latin typeface="+mn-lt"/>
                        </a:rPr>
                        <a:t>1. Sự phát triển của công nghệ và nhu cầu học tập của sinh viên</a:t>
                      </a:r>
                      <a:endParaRPr lang="en-US" sz="2800">
                        <a:latin typeface="+mn-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tcPr>
                </a:tc>
                <a:extLst>
                  <a:ext uri="{0D108BD9-81ED-4DB2-BD59-A6C34878D82A}">
                    <a16:rowId xmlns:a16="http://schemas.microsoft.com/office/drawing/2014/main" xmlns="" val="10000"/>
                  </a:ext>
                </a:extLst>
              </a:tr>
              <a:tr h="2655123">
                <a:tc>
                  <a:txBody>
                    <a:bodyPr/>
                    <a:lstStyle/>
                    <a:p>
                      <a:pPr marL="388620" lvl="1" indent="-194310" algn="just">
                        <a:lnSpc>
                          <a:spcPct val="100000"/>
                        </a:lnSpc>
                        <a:buFont typeface="Arial"/>
                        <a:buChar char="•"/>
                        <a:defRPr/>
                      </a:pPr>
                      <a:r>
                        <a:rPr lang="vi-VN" sz="2300" smtClean="0">
                          <a:latin typeface="+mn-lt"/>
                        </a:rPr>
                        <a:t>Công nghệ thông tin phát triển mạnh, hỗ trợ hiệu quả cho học tập trực tuyến</a:t>
                      </a:r>
                      <a:r>
                        <a:rPr lang="en-US" sz="2300" smtClean="0">
                          <a:latin typeface="+mn-lt"/>
                        </a:rPr>
                        <a:t>.</a:t>
                      </a:r>
                    </a:p>
                    <a:p>
                      <a:pPr marL="388620" lvl="1" indent="-194310" algn="just">
                        <a:lnSpc>
                          <a:spcPct val="100000"/>
                        </a:lnSpc>
                        <a:buFont typeface="Arial"/>
                        <a:buChar char="•"/>
                        <a:defRPr/>
                      </a:pPr>
                      <a:r>
                        <a:rPr lang="vi-VN" sz="2300" smtClean="0">
                          <a:latin typeface="+mn-lt"/>
                        </a:rPr>
                        <a:t>Sinh viên có nhu cầu chia sẻ tài liệu và trao đổi kiến thức ngày càng cao</a:t>
                      </a:r>
                      <a:r>
                        <a:rPr lang="en-US" sz="2300" smtClean="0">
                          <a:latin typeface="+mn-lt"/>
                        </a:rPr>
                        <a:t>.</a:t>
                      </a:r>
                      <a:endParaRPr lang="en-US" sz="2300">
                        <a:solidFill>
                          <a:srgbClr val="000000"/>
                        </a:solidFill>
                        <a:latin typeface="+mn-lt"/>
                        <a:ea typeface="Cabin"/>
                        <a:cs typeface="Times New Roman" panose="02020603050405020304" pitchFamily="18" charset="0"/>
                        <a:sym typeface="Cabin"/>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graphicFrame>
        <p:nvGraphicFramePr>
          <p:cNvPr id="11" name="Table 8">
            <a:extLst>
              <a:ext uri="{FF2B5EF4-FFF2-40B4-BE49-F238E27FC236}">
                <a16:creationId xmlns:a16="http://schemas.microsoft.com/office/drawing/2014/main" xmlns="" id="{ED345EB2-77E0-CF45-94B9-D87B68E950EC}"/>
              </a:ext>
            </a:extLst>
          </p:cNvPr>
          <p:cNvGraphicFramePr>
            <a:graphicFrameLocks noGrp="1"/>
          </p:cNvGraphicFramePr>
          <p:nvPr>
            <p:extLst>
              <p:ext uri="{D42A27DB-BD31-4B8C-83A1-F6EECF244321}">
                <p14:modId xmlns:p14="http://schemas.microsoft.com/office/powerpoint/2010/main" val="3876911460"/>
              </p:ext>
            </p:extLst>
          </p:nvPr>
        </p:nvGraphicFramePr>
        <p:xfrm>
          <a:off x="6400800" y="3619500"/>
          <a:ext cx="5580000" cy="3960000"/>
        </p:xfrm>
        <a:graphic>
          <a:graphicData uri="http://schemas.openxmlformats.org/drawingml/2006/table">
            <a:tbl>
              <a:tblPr/>
              <a:tblGrid>
                <a:gridCol w="5580000">
                  <a:extLst>
                    <a:ext uri="{9D8B030D-6E8A-4147-A177-3AD203B41FA5}">
                      <a16:colId xmlns:a16="http://schemas.microsoft.com/office/drawing/2014/main" xmlns="" val="20000"/>
                    </a:ext>
                  </a:extLst>
                </a:gridCol>
              </a:tblGrid>
              <a:tr h="1325197">
                <a:tc>
                  <a:txBody>
                    <a:bodyPr/>
                    <a:lstStyle/>
                    <a:p>
                      <a:pPr algn="l">
                        <a:lnSpc>
                          <a:spcPts val="3640"/>
                        </a:lnSpc>
                        <a:defRPr/>
                      </a:pPr>
                      <a:r>
                        <a:rPr lang="vi-VN" sz="2800" smtClean="0">
                          <a:latin typeface="+mn-lt"/>
                        </a:rPr>
                        <a:t>2. Tính cần thiết của hệ thống chia sẻ tài liệu và hỏi đáp</a:t>
                      </a:r>
                      <a:endParaRPr lang="en-US" sz="1100">
                        <a:latin typeface="+mn-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tcPr>
                </a:tc>
                <a:extLst>
                  <a:ext uri="{0D108BD9-81ED-4DB2-BD59-A6C34878D82A}">
                    <a16:rowId xmlns:a16="http://schemas.microsoft.com/office/drawing/2014/main" xmlns="" val="10000"/>
                  </a:ext>
                </a:extLst>
              </a:tr>
              <a:tr h="2634803">
                <a:tc>
                  <a:txBody>
                    <a:bodyPr/>
                    <a:lstStyle/>
                    <a:p>
                      <a:pPr marL="388620" lvl="1" indent="-194310" algn="just">
                        <a:lnSpc>
                          <a:spcPct val="100000"/>
                        </a:lnSpc>
                        <a:buFont typeface="Arial"/>
                        <a:buChar char="•"/>
                        <a:defRPr/>
                      </a:pPr>
                      <a:r>
                        <a:rPr lang="vi-VN" sz="2300" smtClean="0">
                          <a:latin typeface="+mn-lt"/>
                          <a:cs typeface="Times New Roman" panose="02020603050405020304" pitchFamily="18" charset="0"/>
                        </a:rPr>
                        <a:t>Giúp sinh viên dễ dàng tìm kiếm và chia sẻ tài liệu học tập.</a:t>
                      </a:r>
                      <a:endParaRPr lang="en-US" sz="2300" smtClean="0">
                        <a:latin typeface="+mn-lt"/>
                        <a:cs typeface="Times New Roman" panose="02020603050405020304" pitchFamily="18" charset="0"/>
                      </a:endParaRPr>
                    </a:p>
                    <a:p>
                      <a:pPr marL="388620" lvl="1" indent="-194310" algn="just">
                        <a:lnSpc>
                          <a:spcPct val="100000"/>
                        </a:lnSpc>
                        <a:buFont typeface="Arial"/>
                        <a:buChar char="•"/>
                        <a:defRPr/>
                      </a:pPr>
                      <a:r>
                        <a:rPr lang="vi-VN" sz="2300" smtClean="0">
                          <a:latin typeface="+mn-lt"/>
                          <a:cs typeface="Times New Roman" panose="02020603050405020304" pitchFamily="18" charset="0"/>
                        </a:rPr>
                        <a:t>Hỗ trợ sinh viên đặt câu hỏi và trao đổi kiến thức.</a:t>
                      </a:r>
                      <a:endParaRPr lang="en-US" sz="2300" smtClean="0">
                        <a:latin typeface="+mn-lt"/>
                        <a:cs typeface="Times New Roman" panose="02020603050405020304" pitchFamily="18" charset="0"/>
                      </a:endParaRPr>
                    </a:p>
                    <a:p>
                      <a:pPr marL="388620" lvl="1" indent="-194310" algn="just">
                        <a:lnSpc>
                          <a:spcPct val="100000"/>
                        </a:lnSpc>
                        <a:buFont typeface="Arial"/>
                        <a:buChar char="•"/>
                        <a:defRPr/>
                      </a:pPr>
                      <a:r>
                        <a:rPr lang="vi-VN" sz="2300" smtClean="0">
                          <a:latin typeface="+mn-lt"/>
                          <a:cs typeface="Times New Roman" panose="02020603050405020304" pitchFamily="18" charset="0"/>
                        </a:rPr>
                        <a:t>Cung cấp thông tin học tập tập trung, thuận tiện sử dụng.</a:t>
                      </a:r>
                      <a:endParaRPr lang="en-US" sz="2300">
                        <a:solidFill>
                          <a:srgbClr val="000000"/>
                        </a:solidFill>
                        <a:latin typeface="+mn-lt"/>
                        <a:ea typeface="Cabin"/>
                        <a:cs typeface="Times New Roman" panose="02020603050405020304" pitchFamily="18" charset="0"/>
                        <a:sym typeface="Cabin"/>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graphicFrame>
        <p:nvGraphicFramePr>
          <p:cNvPr id="12" name="Table 8">
            <a:extLst>
              <a:ext uri="{FF2B5EF4-FFF2-40B4-BE49-F238E27FC236}">
                <a16:creationId xmlns:a16="http://schemas.microsoft.com/office/drawing/2014/main" xmlns="" id="{553FA38D-800A-AC96-B2F1-9521AE92B0AB}"/>
              </a:ext>
            </a:extLst>
          </p:cNvPr>
          <p:cNvGraphicFramePr>
            <a:graphicFrameLocks noGrp="1"/>
          </p:cNvGraphicFramePr>
          <p:nvPr>
            <p:extLst>
              <p:ext uri="{D42A27DB-BD31-4B8C-83A1-F6EECF244321}">
                <p14:modId xmlns:p14="http://schemas.microsoft.com/office/powerpoint/2010/main" val="1205519296"/>
              </p:ext>
            </p:extLst>
          </p:nvPr>
        </p:nvGraphicFramePr>
        <p:xfrm>
          <a:off x="12496800" y="3619500"/>
          <a:ext cx="5580000" cy="3960000"/>
        </p:xfrm>
        <a:graphic>
          <a:graphicData uri="http://schemas.openxmlformats.org/drawingml/2006/table">
            <a:tbl>
              <a:tblPr/>
              <a:tblGrid>
                <a:gridCol w="5580000">
                  <a:extLst>
                    <a:ext uri="{9D8B030D-6E8A-4147-A177-3AD203B41FA5}">
                      <a16:colId xmlns:a16="http://schemas.microsoft.com/office/drawing/2014/main" xmlns="" val="20000"/>
                    </a:ext>
                  </a:extLst>
                </a:gridCol>
              </a:tblGrid>
              <a:tr h="1413036">
                <a:tc>
                  <a:txBody>
                    <a:bodyPr/>
                    <a:lstStyle/>
                    <a:p>
                      <a:pPr algn="l">
                        <a:lnSpc>
                          <a:spcPts val="3640"/>
                        </a:lnSpc>
                        <a:defRPr/>
                      </a:pPr>
                      <a:r>
                        <a:rPr lang="vi-VN" sz="2800" smtClean="0">
                          <a:latin typeface="+mn-lt"/>
                          <a:cs typeface="Times New Roman" panose="02020603050405020304" pitchFamily="18" charset="0"/>
                        </a:rPr>
                        <a:t>3. Lợi ích của hệ thống đối với sinh viên</a:t>
                      </a:r>
                      <a:endParaRPr lang="en-US" sz="2800">
                        <a:latin typeface="+mn-lt"/>
                        <a:cs typeface="Times New Roman" panose="02020603050405020304" pitchFamily="18" charset="0"/>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tcPr>
                </a:tc>
                <a:extLst>
                  <a:ext uri="{0D108BD9-81ED-4DB2-BD59-A6C34878D82A}">
                    <a16:rowId xmlns:a16="http://schemas.microsoft.com/office/drawing/2014/main" xmlns="" val="10000"/>
                  </a:ext>
                </a:extLst>
              </a:tr>
              <a:tr h="2546964">
                <a:tc>
                  <a:txBody>
                    <a:bodyPr/>
                    <a:lstStyle/>
                    <a:p>
                      <a:pPr marL="388620" lvl="1" indent="-194310" algn="just">
                        <a:lnSpc>
                          <a:spcPts val="2520"/>
                        </a:lnSpc>
                        <a:buFont typeface="Arial"/>
                        <a:buChar char="•"/>
                        <a:defRPr/>
                      </a:pPr>
                      <a:r>
                        <a:rPr lang="vi-VN" sz="2300" smtClean="0">
                          <a:latin typeface="+mn-lt"/>
                          <a:cs typeface="Times New Roman" panose="02020603050405020304" pitchFamily="18" charset="0"/>
                        </a:rPr>
                        <a:t>Hỗ trợ sinh viên tiếp cận nhanh nguồn tài liệu học tập đáng tin cậy.</a:t>
                      </a:r>
                      <a:endParaRPr lang="en-US" sz="2300" smtClean="0">
                        <a:latin typeface="+mn-lt"/>
                        <a:cs typeface="Times New Roman" panose="02020603050405020304" pitchFamily="18" charset="0"/>
                      </a:endParaRPr>
                    </a:p>
                    <a:p>
                      <a:pPr marL="388620" lvl="1" indent="-194310" algn="just">
                        <a:lnSpc>
                          <a:spcPts val="2520"/>
                        </a:lnSpc>
                        <a:buFont typeface="Arial"/>
                        <a:buChar char="•"/>
                        <a:defRPr/>
                      </a:pPr>
                      <a:r>
                        <a:rPr lang="vi-VN" sz="2300" smtClean="0">
                          <a:latin typeface="+mn-lt"/>
                          <a:cs typeface="Times New Roman" panose="02020603050405020304" pitchFamily="18" charset="0"/>
                        </a:rPr>
                        <a:t>Tăng cường khả năng trao đổi kiến thức và hỗ trợ học tập lẫn nhau.</a:t>
                      </a:r>
                      <a:endParaRPr lang="en-US" sz="2300">
                        <a:latin typeface="+mn-lt"/>
                        <a:cs typeface="Times New Roman" panose="02020603050405020304" pitchFamily="18" charset="0"/>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14" name="Rectangle 1">
            <a:extLst>
              <a:ext uri="{FF2B5EF4-FFF2-40B4-BE49-F238E27FC236}">
                <a16:creationId xmlns:a16="http://schemas.microsoft.com/office/drawing/2014/main" xmlns="" id="{C29FAD2D-3090-B0F1-9FF8-5569798F66B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pic>
        <p:nvPicPr>
          <p:cNvPr id="5" name="Picture 4" descr="A blue person walking up stairs&#10;&#10;Description automatically generated">
            <a:extLst>
              <a:ext uri="{FF2B5EF4-FFF2-40B4-BE49-F238E27FC236}">
                <a16:creationId xmlns:a16="http://schemas.microsoft.com/office/drawing/2014/main" xmlns="" id="{30033BD7-5F72-CEBD-C686-6364AD9A04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39342" y="7951845"/>
            <a:ext cx="1746858" cy="1746858"/>
          </a:xfrm>
          <a:prstGeom prst="rect">
            <a:avLst/>
          </a:prstGeom>
        </p:spPr>
      </p:pic>
      <p:pic>
        <p:nvPicPr>
          <p:cNvPr id="9" name="Picture 8" descr="A hand with a green arrow pointing down&#10;&#10;Description automatically generated">
            <a:extLst>
              <a:ext uri="{FF2B5EF4-FFF2-40B4-BE49-F238E27FC236}">
                <a16:creationId xmlns:a16="http://schemas.microsoft.com/office/drawing/2014/main" xmlns="" id="{1E6DD156-4C55-F27D-5346-83375CA85A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01000" y="7875614"/>
            <a:ext cx="1969140" cy="1969140"/>
          </a:xfrm>
          <a:prstGeom prst="rect">
            <a:avLst/>
          </a:prstGeom>
        </p:spPr>
      </p:pic>
      <p:pic>
        <p:nvPicPr>
          <p:cNvPr id="13" name="Picture 12" descr="A hand with a medal and a star and a coin&#10;&#10;Description automatically generated">
            <a:extLst>
              <a:ext uri="{FF2B5EF4-FFF2-40B4-BE49-F238E27FC236}">
                <a16:creationId xmlns:a16="http://schemas.microsoft.com/office/drawing/2014/main" xmlns="" id="{35C7BC5B-6840-A3BC-76E3-DAB9D75760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401800" y="7959465"/>
            <a:ext cx="1969141" cy="1969141"/>
          </a:xfrm>
          <a:prstGeom prst="rect">
            <a:avLst/>
          </a:prstGeom>
        </p:spPr>
      </p:pic>
    </p:spTree>
    <p:extLst>
      <p:ext uri="{BB962C8B-B14F-4D97-AF65-F5344CB8AC3E}">
        <p14:creationId xmlns:p14="http://schemas.microsoft.com/office/powerpoint/2010/main" val="2492457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30088AC-D961-B3FD-BDB5-AF6216DA83C2}"/>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xmlns="" id="{9F09FE31-2B22-0D41-FFE7-9EA24BDE408C}"/>
              </a:ext>
            </a:extLst>
          </p:cNvPr>
          <p:cNvGrpSpPr/>
          <p:nvPr/>
        </p:nvGrpSpPr>
        <p:grpSpPr>
          <a:xfrm rot="-10800000">
            <a:off x="-2629342" y="-259279"/>
            <a:ext cx="7945947" cy="3511798"/>
            <a:chOff x="0" y="0"/>
            <a:chExt cx="12155147" cy="5372100"/>
          </a:xfrm>
        </p:grpSpPr>
        <p:sp>
          <p:nvSpPr>
            <p:cNvPr id="4" name="Freeform 4">
              <a:extLst>
                <a:ext uri="{FF2B5EF4-FFF2-40B4-BE49-F238E27FC236}">
                  <a16:creationId xmlns:a16="http://schemas.microsoft.com/office/drawing/2014/main" xmlns="" id="{7D46B007-4CA4-B7C3-844B-18CBE20FC8CC}"/>
                </a:ext>
              </a:extLst>
            </p:cNvPr>
            <p:cNvSpPr/>
            <p:nvPr/>
          </p:nvSpPr>
          <p:spPr>
            <a:xfrm>
              <a:off x="0" y="0"/>
              <a:ext cx="12155147" cy="5372100"/>
            </a:xfrm>
            <a:custGeom>
              <a:avLst/>
              <a:gdLst/>
              <a:ahLst/>
              <a:cxnLst/>
              <a:rect l="l" t="t" r="r" b="b"/>
              <a:pathLst>
                <a:path w="12155147" h="537210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p:spPr>
          <p:txBody>
            <a:bodyPr/>
            <a:lstStyle/>
            <a:p>
              <a:endParaRPr lang="vi-VN"/>
            </a:p>
          </p:txBody>
        </p:sp>
      </p:grpSp>
      <p:sp>
        <p:nvSpPr>
          <p:cNvPr id="6" name="TextBox 6">
            <a:extLst>
              <a:ext uri="{FF2B5EF4-FFF2-40B4-BE49-F238E27FC236}">
                <a16:creationId xmlns:a16="http://schemas.microsoft.com/office/drawing/2014/main" xmlns="" id="{A0263E83-F0E0-C116-64ED-CA6254091F91}"/>
              </a:ext>
            </a:extLst>
          </p:cNvPr>
          <p:cNvSpPr txBox="1"/>
          <p:nvPr/>
        </p:nvSpPr>
        <p:spPr>
          <a:xfrm>
            <a:off x="5486401" y="1800066"/>
            <a:ext cx="12573000" cy="1115690"/>
          </a:xfrm>
          <a:prstGeom prst="rect">
            <a:avLst/>
          </a:prstGeom>
        </p:spPr>
        <p:txBody>
          <a:bodyPr wrap="square" lIns="0" tIns="0" rIns="0" bIns="0" rtlCol="0" anchor="t">
            <a:spAutoFit/>
          </a:bodyPr>
          <a:lstStyle/>
          <a:p>
            <a:pPr marL="0" lvl="0" indent="0" algn="l">
              <a:lnSpc>
                <a:spcPts val="8717"/>
              </a:lnSpc>
              <a:spcBef>
                <a:spcPct val="0"/>
              </a:spcBef>
            </a:pPr>
            <a:r>
              <a:rPr lang="vi-VN" sz="7925" b="1" u="none">
                <a:solidFill>
                  <a:srgbClr val="1836B2"/>
                </a:solidFill>
                <a:latin typeface="Times New Roman" panose="02020603050405020304" pitchFamily="18" charset="0"/>
                <a:ea typeface="Cabin Semi-Bold"/>
                <a:cs typeface="Times New Roman" panose="02020603050405020304" pitchFamily="18" charset="0"/>
                <a:sym typeface="Cabin Semi-Bold"/>
              </a:rPr>
              <a:t>2.Mục đích nghiên cứu</a:t>
            </a:r>
            <a:endParaRPr lang="en-US" sz="79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14" name="Rectangle 1">
            <a:extLst>
              <a:ext uri="{FF2B5EF4-FFF2-40B4-BE49-F238E27FC236}">
                <a16:creationId xmlns:a16="http://schemas.microsoft.com/office/drawing/2014/main" xmlns="" id="{3CAB68A5-B173-4804-934E-20EA7C3BCE6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pic>
        <p:nvPicPr>
          <p:cNvPr id="15" name="Picture 14" descr="A dart hitting the center of a target&#10;&#10;Description automatically generated">
            <a:extLst>
              <a:ext uri="{FF2B5EF4-FFF2-40B4-BE49-F238E27FC236}">
                <a16:creationId xmlns:a16="http://schemas.microsoft.com/office/drawing/2014/main" xmlns="" id="{AB6F806E-9FBE-19D0-1D26-6CEA36DD21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10260" y="5576888"/>
            <a:ext cx="4762500" cy="4762500"/>
          </a:xfrm>
          <a:prstGeom prst="rect">
            <a:avLst/>
          </a:prstGeom>
        </p:spPr>
      </p:pic>
      <p:sp>
        <p:nvSpPr>
          <p:cNvPr id="18" name="TextBox 17">
            <a:extLst>
              <a:ext uri="{FF2B5EF4-FFF2-40B4-BE49-F238E27FC236}">
                <a16:creationId xmlns:a16="http://schemas.microsoft.com/office/drawing/2014/main" xmlns="" id="{9980BEC8-CAD6-7BB7-33AF-F934FEC16EB8}"/>
              </a:ext>
            </a:extLst>
          </p:cNvPr>
          <p:cNvSpPr txBox="1"/>
          <p:nvPr/>
        </p:nvSpPr>
        <p:spPr>
          <a:xfrm>
            <a:off x="1752600" y="4305299"/>
            <a:ext cx="10896600" cy="4154984"/>
          </a:xfrm>
          <a:prstGeom prst="rect">
            <a:avLst/>
          </a:prstGeom>
          <a:noFill/>
        </p:spPr>
        <p:txBody>
          <a:bodyPr wrap="square" rtlCol="0">
            <a:spAutoFit/>
          </a:bodyPr>
          <a:lstStyle/>
          <a:p>
            <a:r>
              <a:rPr lang="vi-VN" sz="2400" b="1" smtClean="0"/>
              <a:t>1. Quản </a:t>
            </a:r>
            <a:r>
              <a:rPr lang="vi-VN" sz="2400" b="1"/>
              <a:t>lý và chia sẻ tài liệu học tập hiệu quả</a:t>
            </a:r>
            <a:r>
              <a:rPr lang="vi-VN" sz="2400"/>
              <a:t/>
            </a:r>
            <a:br>
              <a:rPr lang="vi-VN" sz="2400"/>
            </a:br>
            <a:r>
              <a:rPr lang="vi-VN" sz="2400"/>
              <a:t>Xây dựng hệ thống lưu trữ và quản lý tài liệu học tập, hỗ trợ sinh viên dễ dàng chia sẻ và truy cập tài liệu</a:t>
            </a:r>
            <a:r>
              <a:rPr lang="vi-VN" sz="2400" smtClean="0"/>
              <a:t>.</a:t>
            </a:r>
            <a:endParaRPr lang="en-US" sz="2400" smtClean="0"/>
          </a:p>
          <a:p>
            <a:endParaRPr lang="vi-VN" sz="2400"/>
          </a:p>
          <a:p>
            <a:r>
              <a:rPr lang="vi-VN" sz="2400" b="1"/>
              <a:t>2. Hỗ trợ trao đổi và hỏi đáp giữa sinh viên</a:t>
            </a:r>
            <a:r>
              <a:rPr lang="vi-VN" sz="2400"/>
              <a:t/>
            </a:r>
            <a:br>
              <a:rPr lang="vi-VN" sz="2400"/>
            </a:br>
            <a:r>
              <a:rPr lang="vi-VN" sz="2400"/>
              <a:t>Thiết kế giao diện thân thiện, giúp sinh viên đặt câu hỏi, thảo luận và trao đổi kiến thức một cách thuận tiện</a:t>
            </a:r>
            <a:r>
              <a:rPr lang="vi-VN" sz="2400" smtClean="0"/>
              <a:t>.</a:t>
            </a:r>
            <a:endParaRPr lang="en-US" sz="2400" smtClean="0"/>
          </a:p>
          <a:p>
            <a:endParaRPr lang="vi-VN" sz="2400"/>
          </a:p>
          <a:p>
            <a:r>
              <a:rPr lang="vi-VN" sz="2400" b="1"/>
              <a:t>3. Nâng cao hiệu quả học tập và tính cộng đồng</a:t>
            </a:r>
            <a:r>
              <a:rPr lang="vi-VN" sz="2400"/>
              <a:t/>
            </a:r>
            <a:br>
              <a:rPr lang="vi-VN" sz="2400"/>
            </a:br>
            <a:r>
              <a:rPr lang="vi-VN" sz="2400"/>
              <a:t>Tạo môi trường học tập trực tuyến, tăng cường sự tương tác và hỗ trợ lẫn nhau giữa sinh viên.</a:t>
            </a:r>
          </a:p>
        </p:txBody>
      </p:sp>
    </p:spTree>
    <p:extLst>
      <p:ext uri="{BB962C8B-B14F-4D97-AF65-F5344CB8AC3E}">
        <p14:creationId xmlns:p14="http://schemas.microsoft.com/office/powerpoint/2010/main" val="1484462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ACF5569-8787-0062-F375-50063FE23D12}"/>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D262D63C-B488-BE8F-C638-5411651FA7C7}"/>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447F5CB9-EEEE-A003-FD07-4A3605270386}"/>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B11A3129-E3A3-B22B-AE4B-9D0FA520B721}"/>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4CD4F022-1E5A-B5DB-4C6B-6714ADAFFCE2}"/>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C9B6B59E-ED31-2260-EC82-6518739409DB}"/>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D4C17CFB-C9FC-3A0E-9F79-4E4FF14A6573}"/>
              </a:ext>
            </a:extLst>
          </p:cNvPr>
          <p:cNvSpPr txBox="1"/>
          <p:nvPr/>
        </p:nvSpPr>
        <p:spPr>
          <a:xfrm>
            <a:off x="1059218" y="991667"/>
            <a:ext cx="8378511" cy="1132149"/>
          </a:xfrm>
          <a:prstGeom prst="rect">
            <a:avLst/>
          </a:prstGeom>
        </p:spPr>
        <p:txBody>
          <a:bodyPr lIns="0" tIns="0" rIns="0" bIns="0" rtlCol="0" anchor="t">
            <a:spAutoFit/>
          </a:bodyPr>
          <a:lstStyle/>
          <a:p>
            <a:pPr marL="0" lvl="0" indent="0" algn="l">
              <a:lnSpc>
                <a:spcPts val="8717"/>
              </a:lnSpc>
              <a:spcBef>
                <a:spcPct val="0"/>
              </a:spcBef>
            </a:pPr>
            <a:r>
              <a:rPr lang="en-US" sz="7925" b="1" u="none">
                <a:solidFill>
                  <a:srgbClr val="1836B2"/>
                </a:solidFill>
                <a:latin typeface="Times New Roman" panose="02020603050405020304" pitchFamily="18" charset="0"/>
                <a:ea typeface="Cabin Semi-Bold"/>
                <a:cs typeface="Times New Roman" panose="02020603050405020304" pitchFamily="18" charset="0"/>
                <a:sym typeface="Cabin Semi-Bold"/>
              </a:rPr>
              <a:t>3.</a:t>
            </a:r>
            <a:r>
              <a:rPr lang="vi-VN" sz="7925" b="1" u="none">
                <a:solidFill>
                  <a:srgbClr val="1836B2"/>
                </a:solidFill>
                <a:latin typeface="Times New Roman" panose="02020603050405020304" pitchFamily="18" charset="0"/>
                <a:ea typeface="Cabin Semi-Bold"/>
                <a:cs typeface="Times New Roman" panose="02020603050405020304" pitchFamily="18" charset="0"/>
                <a:sym typeface="Cabin Semi-Bold"/>
              </a:rPr>
              <a:t>Cơ sở lý thuyết</a:t>
            </a:r>
            <a:endParaRPr lang="en-US" sz="79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pic>
        <p:nvPicPr>
          <p:cNvPr id="36" name="Picture 35">
            <a:extLst>
              <a:ext uri="{FF2B5EF4-FFF2-40B4-BE49-F238E27FC236}">
                <a16:creationId xmlns:a16="http://schemas.microsoft.com/office/drawing/2014/main" xmlns="" id="{C31AA998-9AB8-F2BE-E319-BEBC9E06D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17403" y="3241527"/>
            <a:ext cx="2766645" cy="1878330"/>
          </a:xfrm>
          <a:prstGeom prst="rect">
            <a:avLst/>
          </a:prstGeom>
        </p:spPr>
      </p:pic>
      <p:sp>
        <p:nvSpPr>
          <p:cNvPr id="40" name="TextBox 39">
            <a:extLst>
              <a:ext uri="{FF2B5EF4-FFF2-40B4-BE49-F238E27FC236}">
                <a16:creationId xmlns:a16="http://schemas.microsoft.com/office/drawing/2014/main" xmlns="" id="{8AC8433D-F9F0-949A-802A-213B5893CD86}"/>
              </a:ext>
            </a:extLst>
          </p:cNvPr>
          <p:cNvSpPr txBox="1"/>
          <p:nvPr/>
        </p:nvSpPr>
        <p:spPr>
          <a:xfrm>
            <a:off x="304800" y="6157122"/>
            <a:ext cx="4953000" cy="1200329"/>
          </a:xfrm>
          <a:prstGeom prst="rect">
            <a:avLst/>
          </a:prstGeom>
          <a:noFill/>
        </p:spPr>
        <p:txBody>
          <a:bodyPr wrap="square" rtlCol="0">
            <a:spAutoFit/>
          </a:bodyPr>
          <a:lstStyle/>
          <a:p>
            <a:pPr algn="ctr"/>
            <a:r>
              <a:rPr lang="vi-VN" sz="2400"/>
              <a:t>Xây dựng giao diện người </a:t>
            </a:r>
            <a:r>
              <a:rPr lang="vi-VN" sz="2400" smtClean="0"/>
              <a:t>dùng, </a:t>
            </a:r>
            <a:r>
              <a:rPr lang="vi-VN" sz="2400"/>
              <a:t>xử lý tương tác và cập nhật dữ liệu linh hoạt.</a:t>
            </a:r>
            <a:endParaRPr lang="vi-VN" sz="2400"/>
          </a:p>
        </p:txBody>
      </p:sp>
      <p:sp>
        <p:nvSpPr>
          <p:cNvPr id="42" name="TextBox 41">
            <a:extLst>
              <a:ext uri="{FF2B5EF4-FFF2-40B4-BE49-F238E27FC236}">
                <a16:creationId xmlns:a16="http://schemas.microsoft.com/office/drawing/2014/main" xmlns="" id="{BD68D535-6787-D116-201E-E9E1BAD12D5B}"/>
              </a:ext>
            </a:extLst>
          </p:cNvPr>
          <p:cNvSpPr txBox="1"/>
          <p:nvPr/>
        </p:nvSpPr>
        <p:spPr>
          <a:xfrm>
            <a:off x="11262000" y="6168565"/>
            <a:ext cx="3124200" cy="1200329"/>
          </a:xfrm>
          <a:prstGeom prst="rect">
            <a:avLst/>
          </a:prstGeom>
          <a:noFill/>
        </p:spPr>
        <p:txBody>
          <a:bodyPr wrap="square" rtlCol="0">
            <a:spAutoFit/>
          </a:bodyPr>
          <a:lstStyle/>
          <a:p>
            <a:pPr algn="ctr"/>
            <a:r>
              <a:rPr lang="vi-VN" sz="2400"/>
              <a:t>Công cụ triển khai và quản lý môi trường phát triển ứng </a:t>
            </a:r>
            <a:r>
              <a:rPr lang="vi-VN" sz="2400" smtClean="0"/>
              <a:t>dụng</a:t>
            </a:r>
            <a:r>
              <a:rPr lang="en-US" sz="2400" smtClean="0"/>
              <a:t>.</a:t>
            </a:r>
            <a:endParaRPr lang="vi-VN" sz="2400"/>
          </a:p>
        </p:txBody>
      </p:sp>
      <p:sp>
        <p:nvSpPr>
          <p:cNvPr id="44" name="TextBox 43">
            <a:extLst>
              <a:ext uri="{FF2B5EF4-FFF2-40B4-BE49-F238E27FC236}">
                <a16:creationId xmlns:a16="http://schemas.microsoft.com/office/drawing/2014/main" xmlns="" id="{4A786343-5445-D0E6-4AC1-C0930424107A}"/>
              </a:ext>
            </a:extLst>
          </p:cNvPr>
          <p:cNvSpPr txBox="1"/>
          <p:nvPr/>
        </p:nvSpPr>
        <p:spPr>
          <a:xfrm>
            <a:off x="14706119" y="6157121"/>
            <a:ext cx="3352800" cy="830997"/>
          </a:xfrm>
          <a:prstGeom prst="rect">
            <a:avLst/>
          </a:prstGeom>
          <a:noFill/>
        </p:spPr>
        <p:txBody>
          <a:bodyPr wrap="square" rtlCol="0">
            <a:spAutoFit/>
          </a:bodyPr>
          <a:lstStyle/>
          <a:p>
            <a:pPr algn="ctr"/>
            <a:r>
              <a:rPr lang="vi-VN" sz="2400"/>
              <a:t>Lưu trữ dữ liệu trong cơ sở dữ liệu</a:t>
            </a:r>
          </a:p>
        </p:txBody>
      </p:sp>
      <p:pic>
        <p:nvPicPr>
          <p:cNvPr id="1028" name="Picture 4" descr="React full logo transparent PNG - Stick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1300" y="3171814"/>
            <a:ext cx="2880000" cy="274226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D:\Downloads\nodejsDark.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7700" y="3661003"/>
            <a:ext cx="2880000" cy="176388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715000" y="6157122"/>
            <a:ext cx="5105400" cy="1200329"/>
          </a:xfrm>
          <a:prstGeom prst="rect">
            <a:avLst/>
          </a:prstGeom>
        </p:spPr>
        <p:txBody>
          <a:bodyPr wrap="square">
            <a:spAutoFit/>
          </a:bodyPr>
          <a:lstStyle/>
          <a:p>
            <a:pPr algn="ctr"/>
            <a:r>
              <a:rPr lang="vi-VN" sz="2400"/>
              <a:t>Xử lý phía máy chủ và cung cấp các API cho hệ thống, hỗ trợ giao tiếp giữa </a:t>
            </a:r>
            <a:r>
              <a:rPr lang="en-US" sz="2400" smtClean="0">
                <a:latin typeface="Arial" panose="020B0604020202020204" pitchFamily="34" charset="0"/>
                <a:cs typeface="Arial" panose="020B0604020202020204" pitchFamily="34" charset="0"/>
              </a:rPr>
              <a:t>Frontend</a:t>
            </a:r>
            <a:r>
              <a:rPr lang="en-US" sz="2400" smtClean="0"/>
              <a:t> </a:t>
            </a:r>
            <a:r>
              <a:rPr lang="vi-VN" sz="2400" smtClean="0"/>
              <a:t>và </a:t>
            </a:r>
            <a:r>
              <a:rPr lang="vi-VN" sz="2400"/>
              <a:t>cơ sở dữ liệu.</a:t>
            </a:r>
          </a:p>
        </p:txBody>
      </p:sp>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06200" y="3171814"/>
            <a:ext cx="2880000" cy="2273299"/>
          </a:xfrm>
          <a:prstGeom prst="rect">
            <a:avLst/>
          </a:prstGeom>
        </p:spPr>
      </p:pic>
    </p:spTree>
    <p:extLst>
      <p:ext uri="{BB962C8B-B14F-4D97-AF65-F5344CB8AC3E}">
        <p14:creationId xmlns:p14="http://schemas.microsoft.com/office/powerpoint/2010/main" val="1849559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95D5E83-45B0-4719-4467-DCC02C8C190A}"/>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A9DFFA1E-D023-13D4-7498-966A0FEF6AB6}"/>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F5B12159-160F-AA39-C513-4AEEBAAA925D}"/>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E154BCCF-082D-4B7D-F4A7-1D1CE9BB2876}"/>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4E2864FA-C26C-3EB6-1513-C84BD188CB46}"/>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E894AC84-379A-6D2D-04A9-C8A9341B6E1D}"/>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5929CFA9-053E-CD37-D29D-7E3CFAF29264}"/>
              </a:ext>
            </a:extLst>
          </p:cNvPr>
          <p:cNvSpPr txBox="1"/>
          <p:nvPr/>
        </p:nvSpPr>
        <p:spPr>
          <a:xfrm>
            <a:off x="1059218" y="991667"/>
            <a:ext cx="8378511" cy="1132149"/>
          </a:xfrm>
          <a:prstGeom prst="rect">
            <a:avLst/>
          </a:prstGeom>
        </p:spPr>
        <p:txBody>
          <a:bodyPr lIns="0" tIns="0" rIns="0" bIns="0" rtlCol="0" anchor="t">
            <a:spAutoFit/>
          </a:bodyPr>
          <a:lstStyle/>
          <a:p>
            <a:pPr marL="0" lvl="0" indent="0" algn="l">
              <a:lnSpc>
                <a:spcPts val="8717"/>
              </a:lnSpc>
              <a:spcBef>
                <a:spcPct val="0"/>
              </a:spcBef>
            </a:pPr>
            <a:r>
              <a:rPr lang="vi-VN" sz="7925" b="1" u="none">
                <a:solidFill>
                  <a:srgbClr val="1836B2"/>
                </a:solidFill>
                <a:latin typeface="+mj-lt"/>
                <a:ea typeface="Cabin Semi-Bold"/>
                <a:cs typeface="Cabin Semi-Bold"/>
                <a:sym typeface="Cabin Semi-Bold"/>
              </a:rPr>
              <a:t>4.Mô tả bài toán</a:t>
            </a:r>
            <a:endParaRPr lang="en-US" sz="7925" b="1" u="none">
              <a:solidFill>
                <a:srgbClr val="1836B2"/>
              </a:solidFill>
              <a:latin typeface="+mj-lt"/>
              <a:ea typeface="Cabin Semi-Bold"/>
              <a:cs typeface="Cabin Semi-Bold"/>
              <a:sym typeface="Cabin Semi-Bold"/>
            </a:endParaRPr>
          </a:p>
        </p:txBody>
      </p:sp>
      <p:pic>
        <p:nvPicPr>
          <p:cNvPr id="3" name="Picture 2" descr="A group of people standing around a table with light bulbs above them&#10;&#10;Description automatically generated">
            <a:extLst>
              <a:ext uri="{FF2B5EF4-FFF2-40B4-BE49-F238E27FC236}">
                <a16:creationId xmlns:a16="http://schemas.microsoft.com/office/drawing/2014/main" xmlns="" id="{A04ABBC1-F6C3-C47C-3ED2-3C9F7517CD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01400" y="1733550"/>
            <a:ext cx="6902068" cy="6819900"/>
          </a:xfrm>
          <a:prstGeom prst="rect">
            <a:avLst/>
          </a:prstGeom>
        </p:spPr>
      </p:pic>
      <p:sp>
        <p:nvSpPr>
          <p:cNvPr id="4" name="TextBox 3">
            <a:extLst>
              <a:ext uri="{FF2B5EF4-FFF2-40B4-BE49-F238E27FC236}">
                <a16:creationId xmlns:a16="http://schemas.microsoft.com/office/drawing/2014/main" xmlns="" id="{76786F02-478A-8C4D-DA53-909D5EA07AEB}"/>
              </a:ext>
            </a:extLst>
          </p:cNvPr>
          <p:cNvSpPr txBox="1"/>
          <p:nvPr/>
        </p:nvSpPr>
        <p:spPr>
          <a:xfrm>
            <a:off x="1432560" y="3213456"/>
            <a:ext cx="8534400" cy="2308324"/>
          </a:xfrm>
          <a:prstGeom prst="rect">
            <a:avLst/>
          </a:prstGeom>
          <a:noFill/>
        </p:spPr>
        <p:txBody>
          <a:bodyPr wrap="square" rtlCol="0">
            <a:spAutoFit/>
          </a:bodyPr>
          <a:lstStyle/>
          <a:p>
            <a:r>
              <a:rPr lang="vi-VN" sz="2400"/>
              <a:t>Sự phát triển của công nghệ thông tin làm gia tăng nhu cầu học tập và trao đổi kiến thức trực tuyến của sinh viên. Tuy nhiên, tài liệu học tập và hoạt động hỏi đáp hiện còn phân tán, thiếu một hệ thống tập trung. Vì vậy, cần xây dựng hệ thống chia sẻ tài liệu và hỏi đáp giữa sinh viên để hỗ trợ học tập hiệu quả hơn.</a:t>
            </a:r>
          </a:p>
        </p:txBody>
      </p:sp>
      <p:sp>
        <p:nvSpPr>
          <p:cNvPr id="5" name="TextBox 4">
            <a:extLst>
              <a:ext uri="{FF2B5EF4-FFF2-40B4-BE49-F238E27FC236}">
                <a16:creationId xmlns:a16="http://schemas.microsoft.com/office/drawing/2014/main" xmlns="" id="{ED61F322-9BE9-8E3C-9BA4-9DC661BE41D0}"/>
              </a:ext>
            </a:extLst>
          </p:cNvPr>
          <p:cNvSpPr txBox="1"/>
          <p:nvPr/>
        </p:nvSpPr>
        <p:spPr>
          <a:xfrm>
            <a:off x="1447800" y="2690236"/>
            <a:ext cx="2895600" cy="523220"/>
          </a:xfrm>
          <a:prstGeom prst="rect">
            <a:avLst/>
          </a:prstGeom>
          <a:noFill/>
        </p:spPr>
        <p:txBody>
          <a:bodyPr wrap="square" rtlCol="0">
            <a:spAutoFit/>
          </a:bodyPr>
          <a:lstStyle/>
          <a:p>
            <a:r>
              <a:rPr lang="vi-VN" sz="2800" b="1"/>
              <a:t>1</a:t>
            </a:r>
            <a:r>
              <a:rPr lang="vi-VN" sz="2800" b="1" smtClean="0"/>
              <a:t>.</a:t>
            </a:r>
            <a:r>
              <a:rPr lang="en-US" sz="2800" b="1" smtClean="0"/>
              <a:t> </a:t>
            </a:r>
            <a:r>
              <a:rPr lang="vi-VN" sz="2800" b="1" smtClean="0"/>
              <a:t>Bối </a:t>
            </a:r>
            <a:r>
              <a:rPr lang="vi-VN" sz="2800" b="1"/>
              <a:t>cảnh</a:t>
            </a:r>
          </a:p>
        </p:txBody>
      </p:sp>
    </p:spTree>
    <p:extLst>
      <p:ext uri="{BB962C8B-B14F-4D97-AF65-F5344CB8AC3E}">
        <p14:creationId xmlns:p14="http://schemas.microsoft.com/office/powerpoint/2010/main" val="3541064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2AC58F-3488-4EC9-1C37-782A9ADFE2E2}"/>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BB498E16-C14A-F8A2-68C6-E26657EE1EB5}"/>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6AF7CCEF-7509-DA4E-A399-E07403D39CC8}"/>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8B6E1CA0-1528-E981-C405-7975D76923DB}"/>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3ED98387-A417-6AD9-C12A-DE2FA114CB60}"/>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13A35029-9523-9651-AA1C-F1B132E8CF76}"/>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75DC7B33-3238-B209-5AD2-20939B7B67D4}"/>
              </a:ext>
            </a:extLst>
          </p:cNvPr>
          <p:cNvSpPr txBox="1"/>
          <p:nvPr/>
        </p:nvSpPr>
        <p:spPr>
          <a:xfrm>
            <a:off x="1059218" y="991667"/>
            <a:ext cx="8378511" cy="1132149"/>
          </a:xfrm>
          <a:prstGeom prst="rect">
            <a:avLst/>
          </a:prstGeom>
        </p:spPr>
        <p:txBody>
          <a:bodyPr lIns="0" tIns="0" rIns="0" bIns="0" rtlCol="0" anchor="t">
            <a:spAutoFit/>
          </a:bodyPr>
          <a:lstStyle/>
          <a:p>
            <a:pPr marL="0" lvl="0" indent="0" algn="l">
              <a:lnSpc>
                <a:spcPts val="8717"/>
              </a:lnSpc>
              <a:spcBef>
                <a:spcPct val="0"/>
              </a:spcBef>
            </a:pPr>
            <a:r>
              <a:rPr lang="vi-VN" sz="7925" b="1" u="none">
                <a:solidFill>
                  <a:srgbClr val="1836B2"/>
                </a:solidFill>
                <a:latin typeface="+mj-lt"/>
                <a:ea typeface="Cabin Semi-Bold"/>
                <a:cs typeface="Cabin Semi-Bold"/>
                <a:sym typeface="Cabin Semi-Bold"/>
              </a:rPr>
              <a:t>4.Mô tả bài toán</a:t>
            </a:r>
            <a:endParaRPr lang="en-US" sz="7925"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xmlns="" id="{D0693A78-D47A-6FE8-A83E-50B51F4592DB}"/>
              </a:ext>
            </a:extLst>
          </p:cNvPr>
          <p:cNvSpPr txBox="1"/>
          <p:nvPr/>
        </p:nvSpPr>
        <p:spPr>
          <a:xfrm>
            <a:off x="1432560" y="3213456"/>
            <a:ext cx="8534400" cy="1569660"/>
          </a:xfrm>
          <a:prstGeom prst="rect">
            <a:avLst/>
          </a:prstGeom>
          <a:noFill/>
        </p:spPr>
        <p:txBody>
          <a:bodyPr wrap="square" rtlCol="0">
            <a:spAutoFit/>
          </a:bodyPr>
          <a:lstStyle/>
          <a:p>
            <a:pPr algn="just"/>
            <a:r>
              <a:rPr lang="vi-VN" sz="2400"/>
              <a:t>Sinh viên gặp khó khăn trong việc tìm kiếm tài liệu học tập và trao đổi kiến thức do các nguồn thông tin còn phân tán. Việc thiếu một hệ thống tập trung hỗ trợ chia sẻ tài liệu và hỏi đáp làm giảm hiệu quả học tập và sự tương tác giữa sinh viên.</a:t>
            </a:r>
            <a:endParaRPr lang="vi-VN" sz="240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xmlns="" id="{2A46E307-B50D-907B-61F9-919168C0FA75}"/>
              </a:ext>
            </a:extLst>
          </p:cNvPr>
          <p:cNvSpPr txBox="1"/>
          <p:nvPr/>
        </p:nvSpPr>
        <p:spPr>
          <a:xfrm>
            <a:off x="1447800" y="2690236"/>
            <a:ext cx="2895600" cy="523220"/>
          </a:xfrm>
          <a:prstGeom prst="rect">
            <a:avLst/>
          </a:prstGeom>
          <a:noFill/>
        </p:spPr>
        <p:txBody>
          <a:bodyPr wrap="square" rtlCol="0">
            <a:spAutoFit/>
          </a:bodyPr>
          <a:lstStyle/>
          <a:p>
            <a:r>
              <a:rPr lang="vi-VN" sz="2800" b="1"/>
              <a:t>2</a:t>
            </a:r>
            <a:r>
              <a:rPr lang="vi-VN" sz="2800" b="1" smtClean="0"/>
              <a:t>.</a:t>
            </a:r>
            <a:r>
              <a:rPr lang="en-US" sz="2800" b="1" smtClean="0"/>
              <a:t> </a:t>
            </a:r>
            <a:r>
              <a:rPr lang="vi-VN" sz="2800" b="1" smtClean="0"/>
              <a:t>Vấn </a:t>
            </a:r>
            <a:r>
              <a:rPr lang="vi-VN" sz="2800" b="1"/>
              <a:t>Đề</a:t>
            </a:r>
          </a:p>
        </p:txBody>
      </p:sp>
      <p:pic>
        <p:nvPicPr>
          <p:cNvPr id="6" name="Picture 5" descr="A group of colorful bubbles with a question mark&#10;&#10;Description automatically generated">
            <a:extLst>
              <a:ext uri="{FF2B5EF4-FFF2-40B4-BE49-F238E27FC236}">
                <a16:creationId xmlns:a16="http://schemas.microsoft.com/office/drawing/2014/main" xmlns="" id="{84DED4A2-BADC-BA52-8674-DB0701D8D7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97807" y="1181100"/>
            <a:ext cx="7486650" cy="7581900"/>
          </a:xfrm>
          <a:prstGeom prst="rect">
            <a:avLst/>
          </a:prstGeom>
        </p:spPr>
      </p:pic>
    </p:spTree>
    <p:extLst>
      <p:ext uri="{BB962C8B-B14F-4D97-AF65-F5344CB8AC3E}">
        <p14:creationId xmlns:p14="http://schemas.microsoft.com/office/powerpoint/2010/main" val="1890192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1AD40B0-B1A8-6F4B-7506-CAFD7B20FF45}"/>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5BC9FC37-4AD9-63C8-A99F-6A10DC236474}"/>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6785C27D-D120-094A-789F-689D1A5C7FC5}"/>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47F04B91-EF57-29B7-8EC4-1975AF912CED}"/>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589E9C64-8411-7C2E-EB59-CB14AA8E6482}"/>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9875F02D-A542-5D9C-62A6-500C68FA99E4}"/>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F0136037-8F6B-613D-6054-C1B7D77007D5}"/>
              </a:ext>
            </a:extLst>
          </p:cNvPr>
          <p:cNvSpPr txBox="1"/>
          <p:nvPr/>
        </p:nvSpPr>
        <p:spPr>
          <a:xfrm>
            <a:off x="1059218" y="991667"/>
            <a:ext cx="8378511" cy="1132149"/>
          </a:xfrm>
          <a:prstGeom prst="rect">
            <a:avLst/>
          </a:prstGeom>
        </p:spPr>
        <p:txBody>
          <a:bodyPr lIns="0" tIns="0" rIns="0" bIns="0" rtlCol="0" anchor="t">
            <a:spAutoFit/>
          </a:bodyPr>
          <a:lstStyle/>
          <a:p>
            <a:pPr marL="0" lvl="0" indent="0" algn="l">
              <a:lnSpc>
                <a:spcPts val="8717"/>
              </a:lnSpc>
              <a:spcBef>
                <a:spcPct val="0"/>
              </a:spcBef>
            </a:pPr>
            <a:r>
              <a:rPr lang="vi-VN" sz="7925" b="1" u="none">
                <a:solidFill>
                  <a:srgbClr val="1836B2"/>
                </a:solidFill>
                <a:latin typeface="+mj-lt"/>
                <a:ea typeface="Cabin Semi-Bold"/>
                <a:cs typeface="Cabin Semi-Bold"/>
                <a:sym typeface="Cabin Semi-Bold"/>
              </a:rPr>
              <a:t>4.Mô tả bài toán</a:t>
            </a:r>
            <a:endParaRPr lang="en-US" sz="7925"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xmlns="" id="{2A6C593F-6C42-2BE7-9039-1DB03072C7C8}"/>
              </a:ext>
            </a:extLst>
          </p:cNvPr>
          <p:cNvSpPr txBox="1"/>
          <p:nvPr/>
        </p:nvSpPr>
        <p:spPr>
          <a:xfrm>
            <a:off x="1432559" y="3213456"/>
            <a:ext cx="6644641" cy="3046988"/>
          </a:xfrm>
          <a:prstGeom prst="rect">
            <a:avLst/>
          </a:prstGeom>
          <a:noFill/>
        </p:spPr>
        <p:txBody>
          <a:bodyPr wrap="square" rtlCol="0">
            <a:spAutoFit/>
          </a:bodyPr>
          <a:lstStyle/>
          <a:p>
            <a:pPr algn="just"/>
            <a:r>
              <a:rPr lang="vi-VN" sz="2400"/>
              <a:t>Xây dựng hệ thống chia sẻ tài liệu học tập và hỏi đáp giữa sinh </a:t>
            </a:r>
            <a:r>
              <a:rPr lang="vi-VN" sz="2400" smtClean="0"/>
              <a:t>viên</a:t>
            </a:r>
            <a:r>
              <a:rPr lang="en-US" sz="2400" smtClean="0"/>
              <a:t>:</a:t>
            </a:r>
          </a:p>
          <a:p>
            <a:pPr marL="342900" indent="-342900" algn="just">
              <a:buFont typeface="Arial" panose="020B0604020202020204" pitchFamily="34" charset="0"/>
              <a:buChar char="•"/>
            </a:pPr>
            <a:r>
              <a:rPr lang="vi-VN" sz="2400" smtClean="0"/>
              <a:t>Hỗ </a:t>
            </a:r>
            <a:r>
              <a:rPr lang="vi-VN" sz="2400"/>
              <a:t>trợ quản lý, tìm kiếm và chia sẻ tài liệu học tập hiệu </a:t>
            </a:r>
            <a:r>
              <a:rPr lang="vi-VN" sz="2400" smtClean="0"/>
              <a:t>quả.</a:t>
            </a:r>
            <a:endParaRPr lang="en-US" sz="2400" smtClean="0"/>
          </a:p>
          <a:p>
            <a:pPr marL="342900" indent="-342900" algn="just">
              <a:buFont typeface="Arial" panose="020B0604020202020204" pitchFamily="34" charset="0"/>
              <a:buChar char="•"/>
            </a:pPr>
            <a:r>
              <a:rPr lang="vi-VN" sz="2400" smtClean="0"/>
              <a:t>Tạo </a:t>
            </a:r>
            <a:r>
              <a:rPr lang="vi-VN" sz="2400"/>
              <a:t>môi trường thuận tiện cho sinh viên trao đổi kiến thức và đặt câu </a:t>
            </a:r>
            <a:r>
              <a:rPr lang="vi-VN" sz="2400" smtClean="0"/>
              <a:t>hỏi.</a:t>
            </a:r>
            <a:endParaRPr lang="en-US" sz="2400" smtClean="0"/>
          </a:p>
          <a:p>
            <a:pPr marL="342900" indent="-342900" algn="just">
              <a:buFont typeface="Arial" panose="020B0604020202020204" pitchFamily="34" charset="0"/>
              <a:buChar char="•"/>
            </a:pPr>
            <a:r>
              <a:rPr lang="vi-VN" sz="2400" smtClean="0"/>
              <a:t>Nâng </a:t>
            </a:r>
            <a:r>
              <a:rPr lang="vi-VN" sz="2400"/>
              <a:t>cao hiệu quả học tập và tăng cường tính cộng đồng giữa sinh viên.</a:t>
            </a:r>
            <a:endParaRPr lang="vi-VN" sz="2400"/>
          </a:p>
        </p:txBody>
      </p:sp>
      <p:sp>
        <p:nvSpPr>
          <p:cNvPr id="5" name="TextBox 4">
            <a:extLst>
              <a:ext uri="{FF2B5EF4-FFF2-40B4-BE49-F238E27FC236}">
                <a16:creationId xmlns:a16="http://schemas.microsoft.com/office/drawing/2014/main" xmlns="" id="{605B67C8-59A1-0D9D-C33F-62B6727D35E1}"/>
              </a:ext>
            </a:extLst>
          </p:cNvPr>
          <p:cNvSpPr txBox="1"/>
          <p:nvPr/>
        </p:nvSpPr>
        <p:spPr>
          <a:xfrm>
            <a:off x="1447800" y="2690236"/>
            <a:ext cx="2895600" cy="523220"/>
          </a:xfrm>
          <a:prstGeom prst="rect">
            <a:avLst/>
          </a:prstGeom>
          <a:noFill/>
        </p:spPr>
        <p:txBody>
          <a:bodyPr wrap="square" rtlCol="0">
            <a:spAutoFit/>
          </a:bodyPr>
          <a:lstStyle/>
          <a:p>
            <a:r>
              <a:rPr lang="en-US" sz="2800" b="1">
                <a:latin typeface="Arial" panose="020B0604020202020204" pitchFamily="34" charset="0"/>
                <a:cs typeface="Arial" panose="020B0604020202020204" pitchFamily="34" charset="0"/>
              </a:rPr>
              <a:t>3</a:t>
            </a:r>
            <a:r>
              <a:rPr lang="vi-VN" sz="2800" b="1" smtClean="0">
                <a:latin typeface="Arial" panose="020B0604020202020204" pitchFamily="34" charset="0"/>
                <a:cs typeface="Arial" panose="020B0604020202020204" pitchFamily="34" charset="0"/>
              </a:rPr>
              <a:t>.</a:t>
            </a:r>
            <a:r>
              <a:rPr lang="en-US" sz="2800" b="1" smtClean="0">
                <a:latin typeface="Arial" panose="020B0604020202020204" pitchFamily="34" charset="0"/>
                <a:cs typeface="Arial" panose="020B0604020202020204" pitchFamily="34" charset="0"/>
              </a:rPr>
              <a:t> </a:t>
            </a:r>
            <a:r>
              <a:rPr lang="vi-VN" sz="2800" b="1" smtClean="0">
                <a:latin typeface="Arial" panose="020B0604020202020204" pitchFamily="34" charset="0"/>
                <a:cs typeface="Arial" panose="020B0604020202020204" pitchFamily="34" charset="0"/>
              </a:rPr>
              <a:t>Mục </a:t>
            </a:r>
            <a:r>
              <a:rPr lang="vi-VN" sz="2800" b="1">
                <a:latin typeface="Arial" panose="020B0604020202020204" pitchFamily="34" charset="0"/>
                <a:cs typeface="Arial" panose="020B0604020202020204" pitchFamily="34" charset="0"/>
              </a:rPr>
              <a:t>tiêu</a:t>
            </a:r>
          </a:p>
        </p:txBody>
      </p:sp>
      <p:pic>
        <p:nvPicPr>
          <p:cNvPr id="2" name="Picture 1" descr="A dart hitting the center of a target&#10;&#10;Description automatically generated">
            <a:extLst>
              <a:ext uri="{FF2B5EF4-FFF2-40B4-BE49-F238E27FC236}">
                <a16:creationId xmlns:a16="http://schemas.microsoft.com/office/drawing/2014/main" xmlns="" id="{2385FEBA-FB51-D908-63D0-1C295DD114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62460" y="1986368"/>
            <a:ext cx="4762500" cy="4762500"/>
          </a:xfrm>
          <a:prstGeom prst="rect">
            <a:avLst/>
          </a:prstGeom>
        </p:spPr>
      </p:pic>
    </p:spTree>
    <p:extLst>
      <p:ext uri="{BB962C8B-B14F-4D97-AF65-F5344CB8AC3E}">
        <p14:creationId xmlns:p14="http://schemas.microsoft.com/office/powerpoint/2010/main" val="649845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656002" y="5251113"/>
            <a:ext cx="14756260" cy="0"/>
          </a:xfrm>
          <a:prstGeom prst="line">
            <a:avLst/>
          </a:prstGeom>
          <a:ln w="47625" cap="rnd">
            <a:solidFill>
              <a:srgbClr val="86C7ED"/>
            </a:solidFill>
            <a:prstDash val="sysDot"/>
            <a:headEnd type="none" w="sm" len="sm"/>
            <a:tailEnd type="none" w="sm" len="sm"/>
          </a:ln>
        </p:spPr>
        <p:txBody>
          <a:bodyPr/>
          <a:lstStyle/>
          <a:p>
            <a:endParaRPr lang="vi-VN"/>
          </a:p>
        </p:txBody>
      </p:sp>
      <p:sp>
        <p:nvSpPr>
          <p:cNvPr id="3" name="TextBox 3"/>
          <p:cNvSpPr txBox="1"/>
          <p:nvPr/>
        </p:nvSpPr>
        <p:spPr>
          <a:xfrm>
            <a:off x="983385" y="973382"/>
            <a:ext cx="9086762" cy="1119991"/>
          </a:xfrm>
          <a:prstGeom prst="rect">
            <a:avLst/>
          </a:prstGeom>
        </p:spPr>
        <p:txBody>
          <a:bodyPr lIns="0" tIns="0" rIns="0" bIns="0" rtlCol="0" anchor="t">
            <a:spAutoFit/>
          </a:bodyPr>
          <a:lstStyle/>
          <a:p>
            <a:pPr marL="0" lvl="0" indent="0" algn="l">
              <a:lnSpc>
                <a:spcPts val="8635"/>
              </a:lnSpc>
              <a:spcBef>
                <a:spcPct val="0"/>
              </a:spcBef>
            </a:pPr>
            <a:r>
              <a:rPr lang="vi-VN" sz="7850" b="1" u="none">
                <a:solidFill>
                  <a:srgbClr val="1836B2"/>
                </a:solidFill>
                <a:latin typeface="+mj-lt"/>
                <a:ea typeface="Cabin Semi-Bold"/>
                <a:cs typeface="Cabin Semi-Bold"/>
                <a:sym typeface="Cabin Semi-Bold"/>
              </a:rPr>
              <a:t>5.Yêu cầu chức năng</a:t>
            </a:r>
            <a:endParaRPr lang="en-US" sz="7850" b="1" u="none">
              <a:solidFill>
                <a:srgbClr val="1836B2"/>
              </a:solidFill>
              <a:latin typeface="+mj-lt"/>
              <a:ea typeface="Cabin Semi-Bold"/>
              <a:cs typeface="Cabin Semi-Bold"/>
              <a:sym typeface="Cabin Semi-Bold"/>
            </a:endParaRPr>
          </a:p>
        </p:txBody>
      </p:sp>
      <p:sp>
        <p:nvSpPr>
          <p:cNvPr id="6" name="TextBox 6"/>
          <p:cNvSpPr txBox="1"/>
          <p:nvPr/>
        </p:nvSpPr>
        <p:spPr>
          <a:xfrm>
            <a:off x="35404" y="5450533"/>
            <a:ext cx="3241196" cy="507831"/>
          </a:xfrm>
          <a:prstGeom prst="rect">
            <a:avLst/>
          </a:prstGeom>
        </p:spPr>
        <p:txBody>
          <a:bodyPr wrap="square" lIns="0" tIns="0" rIns="0" bIns="0" rtlCol="0" anchor="t">
            <a:spAutoFit/>
          </a:bodyPr>
          <a:lstStyle/>
          <a:p>
            <a:pPr lvl="0" algn="ctr">
              <a:lnSpc>
                <a:spcPct val="150000"/>
              </a:lnSpc>
              <a:spcBef>
                <a:spcPts val="600"/>
              </a:spcBef>
              <a:spcAft>
                <a:spcPts val="600"/>
              </a:spcAft>
            </a:pPr>
            <a:r>
              <a:rPr lang="vi-VN" sz="2200" b="1"/>
              <a:t>Xác </a:t>
            </a:r>
            <a:r>
              <a:rPr lang="vi-VN" sz="2200" b="1" smtClean="0"/>
              <a:t>thực</a:t>
            </a:r>
            <a:r>
              <a:rPr lang="en-US" sz="2200" b="1" smtClean="0"/>
              <a:t> </a:t>
            </a:r>
            <a:r>
              <a:rPr lang="en-US" sz="2200" b="1" err="1" smtClean="0"/>
              <a:t>và</a:t>
            </a:r>
            <a:r>
              <a:rPr lang="en-US" sz="2200" b="1" smtClean="0"/>
              <a:t> </a:t>
            </a:r>
            <a:r>
              <a:rPr lang="en-US" sz="2200" b="1"/>
              <a:t>p</a:t>
            </a:r>
            <a:r>
              <a:rPr lang="vi-VN" sz="2200" b="1" smtClean="0"/>
              <a:t>hân </a:t>
            </a:r>
            <a:r>
              <a:rPr lang="vi-VN" sz="2200" b="1"/>
              <a:t>quyền</a:t>
            </a:r>
            <a:endParaRPr lang="vi-VN" sz="2200">
              <a:effectLst/>
              <a:ea typeface="SimSun" panose="02010600030101010101" pitchFamily="2" charset="-122"/>
              <a:cs typeface="Times New Roman" panose="02020603050405020304" pitchFamily="18" charset="0"/>
            </a:endParaRPr>
          </a:p>
        </p:txBody>
      </p:sp>
      <p:sp>
        <p:nvSpPr>
          <p:cNvPr id="20" name="AutoShape 20"/>
          <p:cNvSpPr/>
          <p:nvPr/>
        </p:nvSpPr>
        <p:spPr>
          <a:xfrm>
            <a:off x="0" y="-446411"/>
            <a:ext cx="13497585" cy="791631"/>
          </a:xfrm>
          <a:prstGeom prst="rect">
            <a:avLst/>
          </a:prstGeom>
          <a:solidFill>
            <a:srgbClr val="1836B2"/>
          </a:solidFill>
        </p:spPr>
        <p:txBody>
          <a:bodyPr/>
          <a:lstStyle/>
          <a:p>
            <a:endParaRPr lang="vi-VN"/>
          </a:p>
        </p:txBody>
      </p:sp>
      <p:sp>
        <p:nvSpPr>
          <p:cNvPr id="21" name="Freeform 21"/>
          <p:cNvSpPr/>
          <p:nvPr/>
        </p:nvSpPr>
        <p:spPr>
          <a:xfrm flipV="1">
            <a:off x="11599196" y="-1270647"/>
            <a:ext cx="5660104" cy="3231734"/>
          </a:xfrm>
          <a:custGeom>
            <a:avLst/>
            <a:gdLst/>
            <a:ahLst/>
            <a:cxnLst/>
            <a:rect l="l" t="t" r="r" b="b"/>
            <a:pathLst>
              <a:path w="5660104" h="3231734">
                <a:moveTo>
                  <a:pt x="0" y="3231733"/>
                </a:moveTo>
                <a:lnTo>
                  <a:pt x="5660104" y="3231733"/>
                </a:lnTo>
                <a:lnTo>
                  <a:pt x="5660104" y="0"/>
                </a:lnTo>
                <a:lnTo>
                  <a:pt x="0" y="0"/>
                </a:lnTo>
                <a:lnTo>
                  <a:pt x="0" y="3231733"/>
                </a:lnTo>
                <a:close/>
              </a:path>
            </a:pathLst>
          </a:custGeom>
          <a:blipFill>
            <a:blip r:embed="rId2">
              <a:extLst>
                <a:ext uri="{96DAC541-7B7A-43D3-8B79-37D633B846F1}">
                  <asvg:svgBlip xmlns:asvg="http://schemas.microsoft.com/office/drawing/2016/SVG/main" xmlns="" r:embed="rId3"/>
                </a:ext>
              </a:extLst>
            </a:blip>
            <a:stretch>
              <a:fillRect t="-51576"/>
            </a:stretch>
          </a:blipFill>
        </p:spPr>
        <p:txBody>
          <a:bodyPr/>
          <a:lstStyle/>
          <a:p>
            <a:endParaRPr lang="vi-VN"/>
          </a:p>
        </p:txBody>
      </p:sp>
      <p:grpSp>
        <p:nvGrpSpPr>
          <p:cNvPr id="4" name="Group 3"/>
          <p:cNvGrpSpPr/>
          <p:nvPr/>
        </p:nvGrpSpPr>
        <p:grpSpPr>
          <a:xfrm>
            <a:off x="1259756" y="5083965"/>
            <a:ext cx="431397" cy="385689"/>
            <a:chOff x="864828" y="5051692"/>
            <a:chExt cx="431397" cy="385689"/>
          </a:xfrm>
        </p:grpSpPr>
        <p:sp>
          <p:nvSpPr>
            <p:cNvPr id="16" name="AutoShape 16"/>
            <p:cNvSpPr/>
            <p:nvPr/>
          </p:nvSpPr>
          <p:spPr>
            <a:xfrm>
              <a:off x="864828" y="5064844"/>
              <a:ext cx="419100" cy="372537"/>
            </a:xfrm>
            <a:prstGeom prst="rect">
              <a:avLst/>
            </a:prstGeom>
            <a:solidFill>
              <a:srgbClr val="A066CB"/>
            </a:solidFill>
          </p:spPr>
          <p:txBody>
            <a:bodyPr/>
            <a:lstStyle/>
            <a:p>
              <a:endParaRPr lang="vi-VN"/>
            </a:p>
          </p:txBody>
        </p:sp>
        <p:sp>
          <p:nvSpPr>
            <p:cNvPr id="30" name="TextBox 29">
              <a:extLst>
                <a:ext uri="{FF2B5EF4-FFF2-40B4-BE49-F238E27FC236}">
                  <a16:creationId xmlns:a16="http://schemas.microsoft.com/office/drawing/2014/main" xmlns="" id="{B73E373A-83B6-426D-3A11-7E3143039773}"/>
                </a:ext>
              </a:extLst>
            </p:cNvPr>
            <p:cNvSpPr txBox="1"/>
            <p:nvPr/>
          </p:nvSpPr>
          <p:spPr>
            <a:xfrm>
              <a:off x="915225" y="5051692"/>
              <a:ext cx="381000" cy="369332"/>
            </a:xfrm>
            <a:prstGeom prst="rect">
              <a:avLst/>
            </a:prstGeom>
            <a:noFill/>
          </p:spPr>
          <p:txBody>
            <a:bodyPr wrap="square" rtlCol="0">
              <a:spAutoFit/>
            </a:bodyPr>
            <a:lstStyle/>
            <a:p>
              <a:r>
                <a:rPr lang="en-US">
                  <a:solidFill>
                    <a:schemeClr val="bg1"/>
                  </a:solidFill>
                </a:rPr>
                <a:t>1</a:t>
              </a:r>
              <a:endParaRPr lang="vi-VN">
                <a:solidFill>
                  <a:schemeClr val="bg1"/>
                </a:solidFill>
              </a:endParaRPr>
            </a:p>
          </p:txBody>
        </p:sp>
      </p:grpSp>
      <p:grpSp>
        <p:nvGrpSpPr>
          <p:cNvPr id="10" name="Group 9"/>
          <p:cNvGrpSpPr/>
          <p:nvPr/>
        </p:nvGrpSpPr>
        <p:grpSpPr>
          <a:xfrm>
            <a:off x="4169239" y="5037019"/>
            <a:ext cx="434340" cy="400362"/>
            <a:chOff x="4169239" y="5037019"/>
            <a:chExt cx="434340" cy="400362"/>
          </a:xfrm>
        </p:grpSpPr>
        <p:sp>
          <p:nvSpPr>
            <p:cNvPr id="25" name="AutoShape 16">
              <a:extLst>
                <a:ext uri="{FF2B5EF4-FFF2-40B4-BE49-F238E27FC236}">
                  <a16:creationId xmlns:a16="http://schemas.microsoft.com/office/drawing/2014/main" xmlns="" id="{5F656632-971E-4446-686A-3BDCFFA6AAAA}"/>
                </a:ext>
              </a:extLst>
            </p:cNvPr>
            <p:cNvSpPr/>
            <p:nvPr/>
          </p:nvSpPr>
          <p:spPr>
            <a:xfrm>
              <a:off x="4169239" y="5064844"/>
              <a:ext cx="419100" cy="372537"/>
            </a:xfrm>
            <a:prstGeom prst="rect">
              <a:avLst/>
            </a:prstGeom>
            <a:solidFill>
              <a:srgbClr val="A066CB"/>
            </a:solidFill>
          </p:spPr>
          <p:txBody>
            <a:bodyPr/>
            <a:lstStyle/>
            <a:p>
              <a:endParaRPr lang="vi-VN"/>
            </a:p>
          </p:txBody>
        </p:sp>
        <p:sp>
          <p:nvSpPr>
            <p:cNvPr id="31" name="TextBox 30">
              <a:extLst>
                <a:ext uri="{FF2B5EF4-FFF2-40B4-BE49-F238E27FC236}">
                  <a16:creationId xmlns:a16="http://schemas.microsoft.com/office/drawing/2014/main" xmlns="" id="{154064ED-EAF8-8CCB-8458-9700014A7BA8}"/>
                </a:ext>
              </a:extLst>
            </p:cNvPr>
            <p:cNvSpPr txBox="1"/>
            <p:nvPr/>
          </p:nvSpPr>
          <p:spPr>
            <a:xfrm>
              <a:off x="4222579" y="5037019"/>
              <a:ext cx="381000" cy="369332"/>
            </a:xfrm>
            <a:prstGeom prst="rect">
              <a:avLst/>
            </a:prstGeom>
            <a:noFill/>
          </p:spPr>
          <p:txBody>
            <a:bodyPr wrap="square" rtlCol="0">
              <a:spAutoFit/>
            </a:bodyPr>
            <a:lstStyle/>
            <a:p>
              <a:r>
                <a:rPr lang="en-US">
                  <a:solidFill>
                    <a:schemeClr val="bg1"/>
                  </a:solidFill>
                </a:rPr>
                <a:t>2</a:t>
              </a:r>
              <a:endParaRPr lang="vi-VN">
                <a:solidFill>
                  <a:schemeClr val="bg1"/>
                </a:solidFill>
              </a:endParaRPr>
            </a:p>
          </p:txBody>
        </p:sp>
      </p:grpSp>
      <p:grpSp>
        <p:nvGrpSpPr>
          <p:cNvPr id="9" name="Group 8"/>
          <p:cNvGrpSpPr/>
          <p:nvPr/>
        </p:nvGrpSpPr>
        <p:grpSpPr>
          <a:xfrm>
            <a:off x="7020779" y="5037019"/>
            <a:ext cx="420658" cy="413589"/>
            <a:chOff x="7441437" y="5037019"/>
            <a:chExt cx="420658" cy="413589"/>
          </a:xfrm>
        </p:grpSpPr>
        <p:sp>
          <p:nvSpPr>
            <p:cNvPr id="18" name="AutoShape 18"/>
            <p:cNvSpPr/>
            <p:nvPr/>
          </p:nvSpPr>
          <p:spPr>
            <a:xfrm>
              <a:off x="7488890" y="5145385"/>
              <a:ext cx="239988" cy="262851"/>
            </a:xfrm>
            <a:prstGeom prst="rect">
              <a:avLst/>
            </a:prstGeom>
            <a:solidFill>
              <a:srgbClr val="A066CB"/>
            </a:solidFill>
          </p:spPr>
          <p:txBody>
            <a:bodyPr/>
            <a:lstStyle/>
            <a:p>
              <a:endParaRPr lang="vi-VN"/>
            </a:p>
          </p:txBody>
        </p:sp>
        <p:sp>
          <p:nvSpPr>
            <p:cNvPr id="26" name="AutoShape 16">
              <a:extLst>
                <a:ext uri="{FF2B5EF4-FFF2-40B4-BE49-F238E27FC236}">
                  <a16:creationId xmlns:a16="http://schemas.microsoft.com/office/drawing/2014/main" xmlns="" id="{F8BD53E8-13F5-F565-1DD0-F37458460363}"/>
                </a:ext>
              </a:extLst>
            </p:cNvPr>
            <p:cNvSpPr/>
            <p:nvPr/>
          </p:nvSpPr>
          <p:spPr>
            <a:xfrm>
              <a:off x="7441437" y="5078071"/>
              <a:ext cx="419100" cy="372537"/>
            </a:xfrm>
            <a:prstGeom prst="rect">
              <a:avLst/>
            </a:prstGeom>
            <a:solidFill>
              <a:srgbClr val="A066CB"/>
            </a:solidFill>
          </p:spPr>
          <p:txBody>
            <a:bodyPr/>
            <a:lstStyle/>
            <a:p>
              <a:endParaRPr lang="vi-VN"/>
            </a:p>
          </p:txBody>
        </p:sp>
        <p:sp>
          <p:nvSpPr>
            <p:cNvPr id="32" name="TextBox 31">
              <a:extLst>
                <a:ext uri="{FF2B5EF4-FFF2-40B4-BE49-F238E27FC236}">
                  <a16:creationId xmlns:a16="http://schemas.microsoft.com/office/drawing/2014/main" xmlns="" id="{CC77D843-2B2B-AB99-EBCD-CDC0D9000A43}"/>
                </a:ext>
              </a:extLst>
            </p:cNvPr>
            <p:cNvSpPr txBox="1"/>
            <p:nvPr/>
          </p:nvSpPr>
          <p:spPr>
            <a:xfrm>
              <a:off x="7481095" y="5037019"/>
              <a:ext cx="381000" cy="369332"/>
            </a:xfrm>
            <a:prstGeom prst="rect">
              <a:avLst/>
            </a:prstGeom>
            <a:noFill/>
          </p:spPr>
          <p:txBody>
            <a:bodyPr wrap="square" rtlCol="0">
              <a:spAutoFit/>
            </a:bodyPr>
            <a:lstStyle/>
            <a:p>
              <a:r>
                <a:rPr lang="en-US">
                  <a:solidFill>
                    <a:schemeClr val="bg1"/>
                  </a:solidFill>
                </a:rPr>
                <a:t>3</a:t>
              </a:r>
              <a:endParaRPr lang="vi-VN">
                <a:solidFill>
                  <a:schemeClr val="bg1"/>
                </a:solidFill>
              </a:endParaRPr>
            </a:p>
          </p:txBody>
        </p:sp>
      </p:grpSp>
      <p:grpSp>
        <p:nvGrpSpPr>
          <p:cNvPr id="8" name="Group 7"/>
          <p:cNvGrpSpPr/>
          <p:nvPr/>
        </p:nvGrpSpPr>
        <p:grpSpPr>
          <a:xfrm>
            <a:off x="10180646" y="5020766"/>
            <a:ext cx="447364" cy="385585"/>
            <a:chOff x="10628010" y="5020766"/>
            <a:chExt cx="447364" cy="385585"/>
          </a:xfrm>
        </p:grpSpPr>
        <p:sp>
          <p:nvSpPr>
            <p:cNvPr id="19" name="AutoShape 19"/>
            <p:cNvSpPr/>
            <p:nvPr/>
          </p:nvSpPr>
          <p:spPr>
            <a:xfrm>
              <a:off x="10718985" y="5121572"/>
              <a:ext cx="239988" cy="262851"/>
            </a:xfrm>
            <a:prstGeom prst="rect">
              <a:avLst/>
            </a:prstGeom>
            <a:solidFill>
              <a:srgbClr val="A066CB"/>
            </a:solidFill>
          </p:spPr>
          <p:txBody>
            <a:bodyPr/>
            <a:lstStyle/>
            <a:p>
              <a:endParaRPr lang="vi-VN"/>
            </a:p>
          </p:txBody>
        </p:sp>
        <p:sp>
          <p:nvSpPr>
            <p:cNvPr id="27" name="AutoShape 16">
              <a:extLst>
                <a:ext uri="{FF2B5EF4-FFF2-40B4-BE49-F238E27FC236}">
                  <a16:creationId xmlns:a16="http://schemas.microsoft.com/office/drawing/2014/main" xmlns="" id="{621B0141-F123-02A0-86F4-1A559F9021C7}"/>
                </a:ext>
              </a:extLst>
            </p:cNvPr>
            <p:cNvSpPr/>
            <p:nvPr/>
          </p:nvSpPr>
          <p:spPr>
            <a:xfrm>
              <a:off x="10628010" y="5033814"/>
              <a:ext cx="419100" cy="372537"/>
            </a:xfrm>
            <a:prstGeom prst="rect">
              <a:avLst/>
            </a:prstGeom>
            <a:solidFill>
              <a:srgbClr val="A066CB"/>
            </a:solidFill>
          </p:spPr>
          <p:txBody>
            <a:bodyPr/>
            <a:lstStyle/>
            <a:p>
              <a:endParaRPr lang="vi-VN"/>
            </a:p>
          </p:txBody>
        </p:sp>
        <p:sp>
          <p:nvSpPr>
            <p:cNvPr id="33" name="TextBox 32">
              <a:extLst>
                <a:ext uri="{FF2B5EF4-FFF2-40B4-BE49-F238E27FC236}">
                  <a16:creationId xmlns:a16="http://schemas.microsoft.com/office/drawing/2014/main" xmlns="" id="{DF476A3A-B5EE-C228-0562-7D6F97058D22}"/>
                </a:ext>
              </a:extLst>
            </p:cNvPr>
            <p:cNvSpPr txBox="1"/>
            <p:nvPr/>
          </p:nvSpPr>
          <p:spPr>
            <a:xfrm>
              <a:off x="10694374" y="5020766"/>
              <a:ext cx="381000" cy="369332"/>
            </a:xfrm>
            <a:prstGeom prst="rect">
              <a:avLst/>
            </a:prstGeom>
            <a:noFill/>
          </p:spPr>
          <p:txBody>
            <a:bodyPr wrap="square" rtlCol="0">
              <a:spAutoFit/>
            </a:bodyPr>
            <a:lstStyle/>
            <a:p>
              <a:r>
                <a:rPr lang="en-US">
                  <a:solidFill>
                    <a:schemeClr val="bg1"/>
                  </a:solidFill>
                </a:rPr>
                <a:t>4</a:t>
              </a:r>
              <a:endParaRPr lang="vi-VN">
                <a:solidFill>
                  <a:schemeClr val="bg1"/>
                </a:solidFill>
              </a:endParaRPr>
            </a:p>
          </p:txBody>
        </p:sp>
      </p:grpSp>
      <p:grpSp>
        <p:nvGrpSpPr>
          <p:cNvPr id="7" name="Group 6"/>
          <p:cNvGrpSpPr/>
          <p:nvPr/>
        </p:nvGrpSpPr>
        <p:grpSpPr>
          <a:xfrm>
            <a:off x="13423381" y="5066446"/>
            <a:ext cx="433844" cy="384162"/>
            <a:chOff x="13909211" y="5066446"/>
            <a:chExt cx="433844" cy="384162"/>
          </a:xfrm>
        </p:grpSpPr>
        <p:sp>
          <p:nvSpPr>
            <p:cNvPr id="23" name="AutoShape 19">
              <a:extLst>
                <a:ext uri="{FF2B5EF4-FFF2-40B4-BE49-F238E27FC236}">
                  <a16:creationId xmlns:a16="http://schemas.microsoft.com/office/drawing/2014/main" xmlns="" id="{134B4763-3B66-CA8B-382A-7E3B0068562A}"/>
                </a:ext>
              </a:extLst>
            </p:cNvPr>
            <p:cNvSpPr/>
            <p:nvPr/>
          </p:nvSpPr>
          <p:spPr>
            <a:xfrm>
              <a:off x="13989142" y="5121572"/>
              <a:ext cx="239988" cy="262851"/>
            </a:xfrm>
            <a:prstGeom prst="rect">
              <a:avLst/>
            </a:prstGeom>
            <a:solidFill>
              <a:srgbClr val="A066CB"/>
            </a:solidFill>
          </p:spPr>
          <p:txBody>
            <a:bodyPr/>
            <a:lstStyle/>
            <a:p>
              <a:endParaRPr lang="vi-VN"/>
            </a:p>
          </p:txBody>
        </p:sp>
        <p:sp>
          <p:nvSpPr>
            <p:cNvPr id="28" name="AutoShape 16">
              <a:extLst>
                <a:ext uri="{FF2B5EF4-FFF2-40B4-BE49-F238E27FC236}">
                  <a16:creationId xmlns:a16="http://schemas.microsoft.com/office/drawing/2014/main" xmlns="" id="{FFDB0F60-1F3C-6145-1F0D-7845AEC23C5E}"/>
                </a:ext>
              </a:extLst>
            </p:cNvPr>
            <p:cNvSpPr/>
            <p:nvPr/>
          </p:nvSpPr>
          <p:spPr>
            <a:xfrm>
              <a:off x="13909211" y="5078071"/>
              <a:ext cx="419100" cy="372537"/>
            </a:xfrm>
            <a:prstGeom prst="rect">
              <a:avLst/>
            </a:prstGeom>
            <a:solidFill>
              <a:srgbClr val="A066CB"/>
            </a:solidFill>
          </p:spPr>
          <p:txBody>
            <a:bodyPr/>
            <a:lstStyle/>
            <a:p>
              <a:endParaRPr lang="vi-VN"/>
            </a:p>
          </p:txBody>
        </p:sp>
        <p:sp>
          <p:nvSpPr>
            <p:cNvPr id="34" name="TextBox 33">
              <a:extLst>
                <a:ext uri="{FF2B5EF4-FFF2-40B4-BE49-F238E27FC236}">
                  <a16:creationId xmlns:a16="http://schemas.microsoft.com/office/drawing/2014/main" xmlns="" id="{94B32FD7-737E-174A-2DA3-A1A451EB4A2B}"/>
                </a:ext>
              </a:extLst>
            </p:cNvPr>
            <p:cNvSpPr txBox="1"/>
            <p:nvPr/>
          </p:nvSpPr>
          <p:spPr>
            <a:xfrm>
              <a:off x="13962055" y="5066446"/>
              <a:ext cx="381000" cy="369332"/>
            </a:xfrm>
            <a:prstGeom prst="rect">
              <a:avLst/>
            </a:prstGeom>
            <a:noFill/>
          </p:spPr>
          <p:txBody>
            <a:bodyPr wrap="square" rtlCol="0">
              <a:spAutoFit/>
            </a:bodyPr>
            <a:lstStyle/>
            <a:p>
              <a:r>
                <a:rPr lang="en-US" smtClean="0">
                  <a:solidFill>
                    <a:schemeClr val="bg1"/>
                  </a:solidFill>
                </a:rPr>
                <a:t>5</a:t>
              </a:r>
              <a:endParaRPr lang="vi-VN">
                <a:solidFill>
                  <a:schemeClr val="bg1"/>
                </a:solidFill>
              </a:endParaRPr>
            </a:p>
          </p:txBody>
        </p:sp>
      </p:grpSp>
      <p:grpSp>
        <p:nvGrpSpPr>
          <p:cNvPr id="5" name="Group 4"/>
          <p:cNvGrpSpPr/>
          <p:nvPr/>
        </p:nvGrpSpPr>
        <p:grpSpPr>
          <a:xfrm>
            <a:off x="16366585" y="5078256"/>
            <a:ext cx="434473" cy="384162"/>
            <a:chOff x="17213622" y="5066446"/>
            <a:chExt cx="434473" cy="384162"/>
          </a:xfrm>
        </p:grpSpPr>
        <p:sp>
          <p:nvSpPr>
            <p:cNvPr id="24" name="AutoShape 19">
              <a:extLst>
                <a:ext uri="{FF2B5EF4-FFF2-40B4-BE49-F238E27FC236}">
                  <a16:creationId xmlns:a16="http://schemas.microsoft.com/office/drawing/2014/main" xmlns="" id="{1E78EB48-2102-75E2-6E3B-837CA59D753F}"/>
                </a:ext>
              </a:extLst>
            </p:cNvPr>
            <p:cNvSpPr/>
            <p:nvPr/>
          </p:nvSpPr>
          <p:spPr>
            <a:xfrm>
              <a:off x="17259299" y="5143500"/>
              <a:ext cx="239988" cy="262851"/>
            </a:xfrm>
            <a:prstGeom prst="rect">
              <a:avLst/>
            </a:prstGeom>
            <a:solidFill>
              <a:srgbClr val="A066CB"/>
            </a:solidFill>
          </p:spPr>
          <p:txBody>
            <a:bodyPr/>
            <a:lstStyle/>
            <a:p>
              <a:endParaRPr lang="vi-VN"/>
            </a:p>
          </p:txBody>
        </p:sp>
        <p:sp>
          <p:nvSpPr>
            <p:cNvPr id="29" name="AutoShape 16">
              <a:extLst>
                <a:ext uri="{FF2B5EF4-FFF2-40B4-BE49-F238E27FC236}">
                  <a16:creationId xmlns:a16="http://schemas.microsoft.com/office/drawing/2014/main" xmlns="" id="{80AB478A-ED9B-13B3-8674-167019475EB3}"/>
                </a:ext>
              </a:extLst>
            </p:cNvPr>
            <p:cNvSpPr/>
            <p:nvPr/>
          </p:nvSpPr>
          <p:spPr>
            <a:xfrm>
              <a:off x="17213622" y="5078071"/>
              <a:ext cx="419100" cy="372537"/>
            </a:xfrm>
            <a:prstGeom prst="rect">
              <a:avLst/>
            </a:prstGeom>
            <a:solidFill>
              <a:srgbClr val="A066CB"/>
            </a:solidFill>
          </p:spPr>
          <p:txBody>
            <a:bodyPr/>
            <a:lstStyle/>
            <a:p>
              <a:endParaRPr lang="vi-VN"/>
            </a:p>
          </p:txBody>
        </p:sp>
        <p:sp>
          <p:nvSpPr>
            <p:cNvPr id="38" name="TextBox 37">
              <a:extLst>
                <a:ext uri="{FF2B5EF4-FFF2-40B4-BE49-F238E27FC236}">
                  <a16:creationId xmlns:a16="http://schemas.microsoft.com/office/drawing/2014/main" xmlns="" id="{813792C6-9058-2BDF-557F-DF108DCB25C0}"/>
                </a:ext>
              </a:extLst>
            </p:cNvPr>
            <p:cNvSpPr txBox="1"/>
            <p:nvPr/>
          </p:nvSpPr>
          <p:spPr>
            <a:xfrm>
              <a:off x="17267095" y="5066446"/>
              <a:ext cx="381000" cy="369332"/>
            </a:xfrm>
            <a:prstGeom prst="rect">
              <a:avLst/>
            </a:prstGeom>
            <a:noFill/>
          </p:spPr>
          <p:txBody>
            <a:bodyPr wrap="square" rtlCol="0">
              <a:spAutoFit/>
            </a:bodyPr>
            <a:lstStyle/>
            <a:p>
              <a:r>
                <a:rPr lang="en-US">
                  <a:solidFill>
                    <a:schemeClr val="bg1"/>
                  </a:solidFill>
                </a:rPr>
                <a:t>6</a:t>
              </a:r>
              <a:endParaRPr lang="vi-VN">
                <a:solidFill>
                  <a:schemeClr val="bg1"/>
                </a:solidFill>
              </a:endParaRPr>
            </a:p>
          </p:txBody>
        </p:sp>
      </p:grpSp>
      <p:sp>
        <p:nvSpPr>
          <p:cNvPr id="39" name="TextBox 6">
            <a:extLst>
              <a:ext uri="{FF2B5EF4-FFF2-40B4-BE49-F238E27FC236}">
                <a16:creationId xmlns:a16="http://schemas.microsoft.com/office/drawing/2014/main" xmlns="" id="{7B0E9FD0-2986-8C0D-4C27-8870582FE96E}"/>
              </a:ext>
            </a:extLst>
          </p:cNvPr>
          <p:cNvSpPr txBox="1"/>
          <p:nvPr/>
        </p:nvSpPr>
        <p:spPr>
          <a:xfrm>
            <a:off x="3280460" y="4385972"/>
            <a:ext cx="2265238" cy="507831"/>
          </a:xfrm>
          <a:prstGeom prst="rect">
            <a:avLst/>
          </a:prstGeom>
        </p:spPr>
        <p:txBody>
          <a:bodyPr wrap="square" lIns="0" tIns="0" rIns="0" bIns="0" rtlCol="0" anchor="t">
            <a:spAutoFit/>
          </a:bodyPr>
          <a:lstStyle/>
          <a:p>
            <a:pPr lvl="0" algn="ctr">
              <a:lnSpc>
                <a:spcPct val="150000"/>
              </a:lnSpc>
              <a:spcBef>
                <a:spcPts val="600"/>
              </a:spcBef>
              <a:spcAft>
                <a:spcPts val="600"/>
              </a:spcAft>
            </a:pPr>
            <a:r>
              <a:rPr lang="en-US" sz="2200" b="1" smtClean="0">
                <a:latin typeface="Arial (Body)"/>
                <a:ea typeface="SimSun" panose="02010600030101010101" pitchFamily="2" charset="-122"/>
                <a:cs typeface="Times New Roman" panose="02020603050405020304" pitchFamily="18" charset="0"/>
              </a:rPr>
              <a:t>Chia </a:t>
            </a:r>
            <a:r>
              <a:rPr lang="en-US" sz="2200" b="1" err="1" smtClean="0">
                <a:latin typeface="Arial (Body)"/>
                <a:ea typeface="SimSun" panose="02010600030101010101" pitchFamily="2" charset="-122"/>
                <a:cs typeface="Times New Roman" panose="02020603050405020304" pitchFamily="18" charset="0"/>
              </a:rPr>
              <a:t>sẻ</a:t>
            </a:r>
            <a:r>
              <a:rPr lang="vi-VN" sz="2200" b="1" smtClean="0">
                <a:latin typeface="Arial (Body)"/>
                <a:ea typeface="SimSun" panose="02010600030101010101" pitchFamily="2" charset="-122"/>
                <a:cs typeface="Times New Roman" panose="02020603050405020304" pitchFamily="18" charset="0"/>
              </a:rPr>
              <a:t> </a:t>
            </a:r>
            <a:r>
              <a:rPr lang="vi-VN" sz="2200" b="1">
                <a:ea typeface="SimSun" panose="02010600030101010101" pitchFamily="2" charset="-122"/>
                <a:cs typeface="Times New Roman" panose="02020603050405020304" pitchFamily="18" charset="0"/>
              </a:rPr>
              <a:t>tài liệu</a:t>
            </a:r>
            <a:endParaRPr lang="vi-VN" sz="2200">
              <a:effectLst/>
              <a:ea typeface="SimSun" panose="02010600030101010101" pitchFamily="2" charset="-122"/>
              <a:cs typeface="Times New Roman" panose="02020603050405020304" pitchFamily="18" charset="0"/>
            </a:endParaRPr>
          </a:p>
        </p:txBody>
      </p:sp>
      <p:sp>
        <p:nvSpPr>
          <p:cNvPr id="40" name="TextBox 6">
            <a:extLst>
              <a:ext uri="{FF2B5EF4-FFF2-40B4-BE49-F238E27FC236}">
                <a16:creationId xmlns:a16="http://schemas.microsoft.com/office/drawing/2014/main" xmlns="" id="{344C5596-297D-686A-62F5-AFCAA774FBFB}"/>
              </a:ext>
            </a:extLst>
          </p:cNvPr>
          <p:cNvSpPr txBox="1"/>
          <p:nvPr/>
        </p:nvSpPr>
        <p:spPr>
          <a:xfrm>
            <a:off x="5854725" y="5510283"/>
            <a:ext cx="2667001" cy="507831"/>
          </a:xfrm>
          <a:prstGeom prst="rect">
            <a:avLst/>
          </a:prstGeom>
        </p:spPr>
        <p:txBody>
          <a:bodyPr wrap="square" lIns="0" tIns="0" rIns="0" bIns="0" rtlCol="0" anchor="t">
            <a:spAutoFit/>
          </a:bodyPr>
          <a:lstStyle/>
          <a:p>
            <a:pPr lvl="0" algn="ctr">
              <a:lnSpc>
                <a:spcPct val="150000"/>
              </a:lnSpc>
              <a:spcBef>
                <a:spcPts val="600"/>
              </a:spcBef>
              <a:spcAft>
                <a:spcPts val="600"/>
              </a:spcAft>
            </a:pPr>
            <a:r>
              <a:rPr lang="en-US" sz="2200" b="1" err="1" smtClean="0">
                <a:latin typeface="Arial (Body)"/>
              </a:rPr>
              <a:t>Tìm</a:t>
            </a:r>
            <a:r>
              <a:rPr lang="en-US" sz="2200" b="1" smtClean="0">
                <a:latin typeface="Arial (Body)"/>
              </a:rPr>
              <a:t> </a:t>
            </a:r>
            <a:r>
              <a:rPr lang="en-US" sz="2200" b="1" err="1" smtClean="0">
                <a:latin typeface="Arial (Body)"/>
              </a:rPr>
              <a:t>kiếm</a:t>
            </a:r>
            <a:r>
              <a:rPr lang="en-US" sz="2200" b="1" smtClean="0">
                <a:latin typeface="Arial (Body)"/>
              </a:rPr>
              <a:t> </a:t>
            </a:r>
            <a:r>
              <a:rPr lang="en-US" sz="2200" b="1" err="1" smtClean="0">
                <a:latin typeface="Arial (Body)"/>
              </a:rPr>
              <a:t>và</a:t>
            </a:r>
            <a:r>
              <a:rPr lang="en-US" sz="2200" b="1" smtClean="0">
                <a:latin typeface="Arial (Body)"/>
              </a:rPr>
              <a:t> </a:t>
            </a:r>
            <a:r>
              <a:rPr lang="en-US" sz="2200" b="1" err="1" smtClean="0">
                <a:latin typeface="Arial (Body)"/>
              </a:rPr>
              <a:t>lọc</a:t>
            </a:r>
            <a:endParaRPr lang="vi-VN" sz="2200">
              <a:effectLst/>
              <a:latin typeface="Arial (Body)"/>
              <a:ea typeface="SimSun" panose="02010600030101010101" pitchFamily="2" charset="-122"/>
              <a:cs typeface="Times New Roman" panose="02020603050405020304" pitchFamily="18" charset="0"/>
            </a:endParaRPr>
          </a:p>
        </p:txBody>
      </p:sp>
      <p:sp>
        <p:nvSpPr>
          <p:cNvPr id="41" name="TextBox 6">
            <a:extLst>
              <a:ext uri="{FF2B5EF4-FFF2-40B4-BE49-F238E27FC236}">
                <a16:creationId xmlns:a16="http://schemas.microsoft.com/office/drawing/2014/main" xmlns="" id="{87E7C51A-9266-48C4-D612-13B833D9D822}"/>
              </a:ext>
            </a:extLst>
          </p:cNvPr>
          <p:cNvSpPr txBox="1"/>
          <p:nvPr/>
        </p:nvSpPr>
        <p:spPr>
          <a:xfrm>
            <a:off x="9743311" y="4385973"/>
            <a:ext cx="1388397" cy="507831"/>
          </a:xfrm>
          <a:prstGeom prst="rect">
            <a:avLst/>
          </a:prstGeom>
        </p:spPr>
        <p:txBody>
          <a:bodyPr wrap="square" lIns="0" tIns="0" rIns="0" bIns="0" rtlCol="0" anchor="t">
            <a:spAutoFit/>
          </a:bodyPr>
          <a:lstStyle/>
          <a:p>
            <a:pPr lvl="0" algn="ctr">
              <a:lnSpc>
                <a:spcPct val="150000"/>
              </a:lnSpc>
              <a:spcBef>
                <a:spcPts val="600"/>
              </a:spcBef>
              <a:spcAft>
                <a:spcPts val="600"/>
              </a:spcAft>
            </a:pPr>
            <a:r>
              <a:rPr lang="vi-VN" sz="2200" b="1"/>
              <a:t>Hỏi đáp</a:t>
            </a:r>
            <a:endParaRPr lang="vi-VN" sz="2200">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44" name="Freeform 2">
            <a:extLst>
              <a:ext uri="{FF2B5EF4-FFF2-40B4-BE49-F238E27FC236}">
                <a16:creationId xmlns:a16="http://schemas.microsoft.com/office/drawing/2014/main" xmlns="" id="{7F1F07F3-3940-AD3F-FF01-8C88BDB162FB}"/>
              </a:ext>
            </a:extLst>
          </p:cNvPr>
          <p:cNvSpPr/>
          <p:nvPr/>
        </p:nvSpPr>
        <p:spPr>
          <a:xfrm>
            <a:off x="14935200" y="6896100"/>
            <a:ext cx="5886688" cy="5196158"/>
          </a:xfrm>
          <a:custGeom>
            <a:avLst/>
            <a:gdLst/>
            <a:ahLst/>
            <a:cxnLst/>
            <a:rect l="l" t="t" r="r" b="b"/>
            <a:pathLst>
              <a:path w="749691" h="769273">
                <a:moveTo>
                  <a:pt x="0" y="0"/>
                </a:moveTo>
                <a:lnTo>
                  <a:pt x="749691" y="0"/>
                </a:lnTo>
                <a:lnTo>
                  <a:pt x="749691" y="769273"/>
                </a:lnTo>
                <a:lnTo>
                  <a:pt x="0" y="76927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vi-VN"/>
          </a:p>
        </p:txBody>
      </p:sp>
      <p:grpSp>
        <p:nvGrpSpPr>
          <p:cNvPr id="45" name="Group 2">
            <a:extLst>
              <a:ext uri="{FF2B5EF4-FFF2-40B4-BE49-F238E27FC236}">
                <a16:creationId xmlns:a16="http://schemas.microsoft.com/office/drawing/2014/main" xmlns="" id="{7E4DE8B1-8D48-63AC-FFE9-CB696AD7D2A2}"/>
              </a:ext>
            </a:extLst>
          </p:cNvPr>
          <p:cNvGrpSpPr/>
          <p:nvPr/>
        </p:nvGrpSpPr>
        <p:grpSpPr>
          <a:xfrm>
            <a:off x="-1992840" y="7429500"/>
            <a:ext cx="4742962" cy="4392438"/>
            <a:chOff x="0" y="0"/>
            <a:chExt cx="5800804" cy="5372100"/>
          </a:xfrm>
        </p:grpSpPr>
        <p:sp>
          <p:nvSpPr>
            <p:cNvPr id="46" name="Freeform 3">
              <a:extLst>
                <a:ext uri="{FF2B5EF4-FFF2-40B4-BE49-F238E27FC236}">
                  <a16:creationId xmlns:a16="http://schemas.microsoft.com/office/drawing/2014/main" xmlns="" id="{AA8ED684-77D3-F7D3-BEAB-C3C88DC1A5A7}"/>
                </a:ext>
              </a:extLst>
            </p:cNvPr>
            <p:cNvSpPr/>
            <p:nvPr/>
          </p:nvSpPr>
          <p:spPr>
            <a:xfrm>
              <a:off x="0" y="0"/>
              <a:ext cx="5800804" cy="5372100"/>
            </a:xfrm>
            <a:custGeom>
              <a:avLst/>
              <a:gdLst/>
              <a:ahLst/>
              <a:cxnLst/>
              <a:rect l="l" t="t" r="r" b="b"/>
              <a:pathLst>
                <a:path w="5800804" h="537210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p:spPr>
          <p:txBody>
            <a:bodyPr/>
            <a:lstStyle/>
            <a:p>
              <a:endParaRPr lang="vi-VN"/>
            </a:p>
          </p:txBody>
        </p:sp>
      </p:grpSp>
      <p:sp>
        <p:nvSpPr>
          <p:cNvPr id="35" name="TextBox 6">
            <a:extLst>
              <a:ext uri="{FF2B5EF4-FFF2-40B4-BE49-F238E27FC236}">
                <a16:creationId xmlns:a16="http://schemas.microsoft.com/office/drawing/2014/main" xmlns="" id="{87E7C51A-9266-48C4-D612-13B833D9D822}"/>
              </a:ext>
            </a:extLst>
          </p:cNvPr>
          <p:cNvSpPr txBox="1"/>
          <p:nvPr/>
        </p:nvSpPr>
        <p:spPr>
          <a:xfrm>
            <a:off x="11848247" y="5510105"/>
            <a:ext cx="3636955" cy="507831"/>
          </a:xfrm>
          <a:prstGeom prst="rect">
            <a:avLst/>
          </a:prstGeom>
        </p:spPr>
        <p:txBody>
          <a:bodyPr wrap="square" lIns="0" tIns="0" rIns="0" bIns="0" rtlCol="0" anchor="t">
            <a:spAutoFit/>
          </a:bodyPr>
          <a:lstStyle/>
          <a:p>
            <a:pPr lvl="0" algn="ctr">
              <a:lnSpc>
                <a:spcPct val="150000"/>
              </a:lnSpc>
              <a:spcBef>
                <a:spcPts val="600"/>
              </a:spcBef>
              <a:spcAft>
                <a:spcPts val="600"/>
              </a:spcAft>
            </a:pPr>
            <a:r>
              <a:rPr lang="vi-VN" sz="2200" b="1"/>
              <a:t>Đánh giá nội dung hỏi đáp</a:t>
            </a:r>
            <a:endParaRPr lang="vi-VN" sz="2200">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36" name="TextBox 6">
            <a:extLst>
              <a:ext uri="{FF2B5EF4-FFF2-40B4-BE49-F238E27FC236}">
                <a16:creationId xmlns:a16="http://schemas.microsoft.com/office/drawing/2014/main" xmlns="" id="{87E7C51A-9266-48C4-D612-13B833D9D822}"/>
              </a:ext>
            </a:extLst>
          </p:cNvPr>
          <p:cNvSpPr txBox="1"/>
          <p:nvPr/>
        </p:nvSpPr>
        <p:spPr>
          <a:xfrm>
            <a:off x="14879645" y="4323198"/>
            <a:ext cx="3408355" cy="507831"/>
          </a:xfrm>
          <a:prstGeom prst="rect">
            <a:avLst/>
          </a:prstGeom>
        </p:spPr>
        <p:txBody>
          <a:bodyPr wrap="square" lIns="0" tIns="0" rIns="0" bIns="0" rtlCol="0" anchor="t">
            <a:spAutoFit/>
          </a:bodyPr>
          <a:lstStyle/>
          <a:p>
            <a:pPr lvl="0" algn="ctr">
              <a:lnSpc>
                <a:spcPct val="150000"/>
              </a:lnSpc>
              <a:spcBef>
                <a:spcPts val="600"/>
              </a:spcBef>
              <a:spcAft>
                <a:spcPts val="600"/>
              </a:spcAft>
            </a:pPr>
            <a:r>
              <a:rPr lang="vi-VN" sz="2200" b="1"/>
              <a:t>Báo cáo </a:t>
            </a:r>
            <a:r>
              <a:rPr lang="en-US" sz="2200" b="1" err="1" smtClean="0"/>
              <a:t>và</a:t>
            </a:r>
            <a:r>
              <a:rPr lang="vi-VN" sz="2200" b="1" smtClean="0"/>
              <a:t> </a:t>
            </a:r>
            <a:r>
              <a:rPr lang="en-US" sz="2200" b="1" smtClean="0"/>
              <a:t>k</a:t>
            </a:r>
            <a:r>
              <a:rPr lang="vi-VN" sz="2200" b="1" smtClean="0"/>
              <a:t>iểm </a:t>
            </a:r>
            <a:r>
              <a:rPr lang="vi-VN" sz="2200" b="1"/>
              <a:t>duyệt</a:t>
            </a:r>
            <a:endParaRPr lang="vi-VN" sz="2200">
              <a:effectLst/>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1080B76-944E-DE6E-6216-A1786DF35A1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xmlns="" id="{D7E90B47-238B-5A14-B602-E8EA934198B9}"/>
              </a:ext>
            </a:extLst>
          </p:cNvPr>
          <p:cNvSpPr/>
          <p:nvPr/>
        </p:nvSpPr>
        <p:spPr>
          <a:xfrm>
            <a:off x="1028700" y="5251113"/>
            <a:ext cx="16230600" cy="0"/>
          </a:xfrm>
          <a:prstGeom prst="line">
            <a:avLst/>
          </a:prstGeom>
          <a:ln w="47625" cap="rnd">
            <a:solidFill>
              <a:srgbClr val="86C7ED"/>
            </a:solidFill>
            <a:prstDash val="sysDot"/>
            <a:headEnd type="none" w="sm" len="sm"/>
            <a:tailEnd type="none" w="sm" len="sm"/>
          </a:ln>
        </p:spPr>
        <p:txBody>
          <a:bodyPr/>
          <a:lstStyle/>
          <a:p>
            <a:endParaRPr lang="vi-VN"/>
          </a:p>
        </p:txBody>
      </p:sp>
      <p:sp>
        <p:nvSpPr>
          <p:cNvPr id="6" name="TextBox 6">
            <a:extLst>
              <a:ext uri="{FF2B5EF4-FFF2-40B4-BE49-F238E27FC236}">
                <a16:creationId xmlns:a16="http://schemas.microsoft.com/office/drawing/2014/main" xmlns="" id="{8C61B582-6A5B-4DF4-D6D0-64BFA6E48092}"/>
              </a:ext>
            </a:extLst>
          </p:cNvPr>
          <p:cNvSpPr txBox="1"/>
          <p:nvPr/>
        </p:nvSpPr>
        <p:spPr>
          <a:xfrm>
            <a:off x="152400" y="5665514"/>
            <a:ext cx="3364924" cy="386965"/>
          </a:xfrm>
          <a:prstGeom prst="rect">
            <a:avLst/>
          </a:prstGeom>
        </p:spPr>
        <p:txBody>
          <a:bodyPr lIns="0" tIns="0" rIns="0" bIns="0" rtlCol="0" anchor="t">
            <a:spAutoFit/>
          </a:bodyPr>
          <a:lstStyle/>
          <a:p>
            <a:pPr marL="0" lvl="0" indent="0" algn="l">
              <a:lnSpc>
                <a:spcPts val="3249"/>
              </a:lnSpc>
              <a:spcBef>
                <a:spcPct val="0"/>
              </a:spcBef>
            </a:pPr>
            <a:r>
              <a:rPr lang="vi-VN" sz="2499" b="1" spc="-49">
                <a:solidFill>
                  <a:srgbClr val="000000"/>
                </a:solidFill>
                <a:ea typeface="Cabin Medium"/>
                <a:cs typeface="Cabin Medium"/>
                <a:sym typeface="Cabin Medium"/>
              </a:rPr>
              <a:t>Tải trang nhanh chóng</a:t>
            </a:r>
            <a:endParaRPr lang="en-US" sz="2499" b="1" u="none" spc="-49">
              <a:solidFill>
                <a:srgbClr val="000000"/>
              </a:solidFill>
              <a:ea typeface="Cabin Medium"/>
              <a:cs typeface="Cabin Medium"/>
              <a:sym typeface="Cabin Medium"/>
            </a:endParaRPr>
          </a:p>
        </p:txBody>
      </p:sp>
      <p:sp>
        <p:nvSpPr>
          <p:cNvPr id="9" name="TextBox 9">
            <a:extLst>
              <a:ext uri="{FF2B5EF4-FFF2-40B4-BE49-F238E27FC236}">
                <a16:creationId xmlns:a16="http://schemas.microsoft.com/office/drawing/2014/main" xmlns="" id="{ADE7F21A-6768-2525-2AA9-4037A0CDB77F}"/>
              </a:ext>
            </a:extLst>
          </p:cNvPr>
          <p:cNvSpPr txBox="1"/>
          <p:nvPr/>
        </p:nvSpPr>
        <p:spPr>
          <a:xfrm>
            <a:off x="5066330" y="4364061"/>
            <a:ext cx="3364924" cy="386965"/>
          </a:xfrm>
          <a:prstGeom prst="rect">
            <a:avLst/>
          </a:prstGeom>
        </p:spPr>
        <p:txBody>
          <a:bodyPr lIns="0" tIns="0" rIns="0" bIns="0" rtlCol="0" anchor="t">
            <a:spAutoFit/>
          </a:bodyPr>
          <a:lstStyle/>
          <a:p>
            <a:pPr marL="0" lvl="0" indent="0" algn="l">
              <a:lnSpc>
                <a:spcPts val="3249"/>
              </a:lnSpc>
              <a:spcBef>
                <a:spcPct val="0"/>
              </a:spcBef>
            </a:pPr>
            <a:r>
              <a:rPr lang="en-US" sz="2499" b="1" u="none" spc="-49">
                <a:solidFill>
                  <a:srgbClr val="000000"/>
                </a:solidFill>
                <a:latin typeface="Arial" panose="020B0604020202020204" pitchFamily="34" charset="0"/>
                <a:ea typeface="Cabin Medium"/>
                <a:cs typeface="Arial" panose="020B0604020202020204" pitchFamily="34" charset="0"/>
                <a:sym typeface="Cabin Medium"/>
              </a:rPr>
              <a:t>Giao </a:t>
            </a:r>
            <a:r>
              <a:rPr lang="vi-VN" sz="2499" b="1" u="none" spc="-49">
                <a:solidFill>
                  <a:srgbClr val="000000"/>
                </a:solidFill>
                <a:latin typeface="Arial" panose="020B0604020202020204" pitchFamily="34" charset="0"/>
                <a:ea typeface="Cabin Medium"/>
                <a:cs typeface="Arial" panose="020B0604020202020204" pitchFamily="34" charset="0"/>
                <a:sym typeface="Cabin Medium"/>
              </a:rPr>
              <a:t>diện thân thiện</a:t>
            </a:r>
            <a:endParaRPr lang="en-US" sz="2499" b="1" u="none" spc="-49">
              <a:solidFill>
                <a:srgbClr val="000000"/>
              </a:solidFill>
              <a:latin typeface="Arial" panose="020B0604020202020204" pitchFamily="34" charset="0"/>
              <a:ea typeface="Cabin Medium"/>
              <a:cs typeface="Arial" panose="020B0604020202020204" pitchFamily="34" charset="0"/>
              <a:sym typeface="Cabin Medium"/>
            </a:endParaRPr>
          </a:p>
        </p:txBody>
      </p:sp>
      <p:sp>
        <p:nvSpPr>
          <p:cNvPr id="12" name="TextBox 12">
            <a:extLst>
              <a:ext uri="{FF2B5EF4-FFF2-40B4-BE49-F238E27FC236}">
                <a16:creationId xmlns:a16="http://schemas.microsoft.com/office/drawing/2014/main" xmlns="" id="{865D9240-470A-25CE-959A-907D8C5EE4AF}"/>
              </a:ext>
            </a:extLst>
          </p:cNvPr>
          <p:cNvSpPr txBox="1"/>
          <p:nvPr/>
        </p:nvSpPr>
        <p:spPr>
          <a:xfrm>
            <a:off x="15239589" y="4445507"/>
            <a:ext cx="3364925" cy="386965"/>
          </a:xfrm>
          <a:prstGeom prst="rect">
            <a:avLst/>
          </a:prstGeom>
        </p:spPr>
        <p:txBody>
          <a:bodyPr lIns="0" tIns="0" rIns="0" bIns="0" rtlCol="0" anchor="t">
            <a:spAutoFit/>
          </a:bodyPr>
          <a:lstStyle/>
          <a:p>
            <a:pPr marL="0" lvl="0" indent="0" algn="l">
              <a:lnSpc>
                <a:spcPts val="3249"/>
              </a:lnSpc>
              <a:spcBef>
                <a:spcPct val="0"/>
              </a:spcBef>
            </a:pPr>
            <a:r>
              <a:rPr lang="vi-VN" sz="2499" b="1" spc="-49">
                <a:solidFill>
                  <a:srgbClr val="000000"/>
                </a:solidFill>
                <a:latin typeface="Arial" panose="020B0604020202020204" pitchFamily="34" charset="0"/>
                <a:ea typeface="Cabin Medium"/>
                <a:cs typeface="Arial" panose="020B0604020202020204" pitchFamily="34" charset="0"/>
                <a:sym typeface="Cabin Medium"/>
              </a:rPr>
              <a:t>Khả năng tương thích</a:t>
            </a:r>
            <a:endParaRPr lang="en-US" sz="2499" b="1" u="none" spc="-49">
              <a:solidFill>
                <a:srgbClr val="000000"/>
              </a:solidFill>
              <a:latin typeface="Arial" panose="020B0604020202020204" pitchFamily="34" charset="0"/>
              <a:ea typeface="Cabin Medium"/>
              <a:cs typeface="Arial" panose="020B0604020202020204" pitchFamily="34" charset="0"/>
              <a:sym typeface="Cabin Medium"/>
            </a:endParaRPr>
          </a:p>
        </p:txBody>
      </p:sp>
      <p:sp>
        <p:nvSpPr>
          <p:cNvPr id="14" name="TextBox 14">
            <a:extLst>
              <a:ext uri="{FF2B5EF4-FFF2-40B4-BE49-F238E27FC236}">
                <a16:creationId xmlns:a16="http://schemas.microsoft.com/office/drawing/2014/main" xmlns="" id="{7DB59A04-1867-376C-0C1C-A204BDD2550E}"/>
              </a:ext>
            </a:extLst>
          </p:cNvPr>
          <p:cNvSpPr txBox="1"/>
          <p:nvPr/>
        </p:nvSpPr>
        <p:spPr>
          <a:xfrm>
            <a:off x="10363200" y="5711703"/>
            <a:ext cx="3364925" cy="386965"/>
          </a:xfrm>
          <a:prstGeom prst="rect">
            <a:avLst/>
          </a:prstGeom>
        </p:spPr>
        <p:txBody>
          <a:bodyPr lIns="0" tIns="0" rIns="0" bIns="0" rtlCol="0" anchor="t">
            <a:spAutoFit/>
          </a:bodyPr>
          <a:lstStyle/>
          <a:p>
            <a:pPr marL="0" lvl="0" indent="0" algn="l">
              <a:lnSpc>
                <a:spcPts val="3249"/>
              </a:lnSpc>
              <a:spcBef>
                <a:spcPct val="0"/>
              </a:spcBef>
            </a:pPr>
            <a:r>
              <a:rPr lang="vi-VN" sz="2499" b="1" u="none" spc="-49">
                <a:solidFill>
                  <a:srgbClr val="000000"/>
                </a:solidFill>
                <a:ea typeface="Cabin Medium"/>
                <a:cs typeface="Cabin Medium"/>
                <a:sym typeface="Cabin Medium"/>
              </a:rPr>
              <a:t>Dễ dàng tương tác</a:t>
            </a:r>
            <a:endParaRPr lang="en-US" sz="2499" b="1" u="none" spc="-49">
              <a:solidFill>
                <a:srgbClr val="000000"/>
              </a:solidFill>
              <a:ea typeface="Cabin Medium"/>
              <a:cs typeface="Cabin Medium"/>
              <a:sym typeface="Cabin Medium"/>
            </a:endParaRPr>
          </a:p>
        </p:txBody>
      </p:sp>
      <p:sp>
        <p:nvSpPr>
          <p:cNvPr id="20" name="AutoShape 20">
            <a:extLst>
              <a:ext uri="{FF2B5EF4-FFF2-40B4-BE49-F238E27FC236}">
                <a16:creationId xmlns:a16="http://schemas.microsoft.com/office/drawing/2014/main" xmlns="" id="{3CEE60E1-6E2F-9296-99D5-5AD68AF4C2E0}"/>
              </a:ext>
            </a:extLst>
          </p:cNvPr>
          <p:cNvSpPr/>
          <p:nvPr/>
        </p:nvSpPr>
        <p:spPr>
          <a:xfrm>
            <a:off x="0" y="-446411"/>
            <a:ext cx="13497585" cy="791631"/>
          </a:xfrm>
          <a:prstGeom prst="rect">
            <a:avLst/>
          </a:prstGeom>
          <a:solidFill>
            <a:srgbClr val="1836B2"/>
          </a:solidFill>
        </p:spPr>
        <p:txBody>
          <a:bodyPr/>
          <a:lstStyle/>
          <a:p>
            <a:endParaRPr lang="vi-VN"/>
          </a:p>
        </p:txBody>
      </p:sp>
      <p:sp>
        <p:nvSpPr>
          <p:cNvPr id="21" name="Freeform 21">
            <a:extLst>
              <a:ext uri="{FF2B5EF4-FFF2-40B4-BE49-F238E27FC236}">
                <a16:creationId xmlns:a16="http://schemas.microsoft.com/office/drawing/2014/main" xmlns="" id="{8C016A15-DB77-F276-C905-A9554E9ADD66}"/>
              </a:ext>
            </a:extLst>
          </p:cNvPr>
          <p:cNvSpPr/>
          <p:nvPr/>
        </p:nvSpPr>
        <p:spPr>
          <a:xfrm flipV="1">
            <a:off x="11599196" y="-1270647"/>
            <a:ext cx="5660104" cy="3231734"/>
          </a:xfrm>
          <a:custGeom>
            <a:avLst/>
            <a:gdLst/>
            <a:ahLst/>
            <a:cxnLst/>
            <a:rect l="l" t="t" r="r" b="b"/>
            <a:pathLst>
              <a:path w="5660104" h="3231734">
                <a:moveTo>
                  <a:pt x="0" y="3231733"/>
                </a:moveTo>
                <a:lnTo>
                  <a:pt x="5660104" y="3231733"/>
                </a:lnTo>
                <a:lnTo>
                  <a:pt x="5660104" y="0"/>
                </a:lnTo>
                <a:lnTo>
                  <a:pt x="0" y="0"/>
                </a:lnTo>
                <a:lnTo>
                  <a:pt x="0" y="3231733"/>
                </a:lnTo>
                <a:close/>
              </a:path>
            </a:pathLst>
          </a:custGeom>
          <a:blipFill>
            <a:blip r:embed="rId2">
              <a:extLst>
                <a:ext uri="{96DAC541-7B7A-43D3-8B79-37D633B846F1}">
                  <asvg:svgBlip xmlns:asvg="http://schemas.microsoft.com/office/drawing/2016/SVG/main" xmlns="" r:embed="rId3"/>
                </a:ext>
              </a:extLst>
            </a:blip>
            <a:stretch>
              <a:fillRect t="-51576"/>
            </a:stretch>
          </a:blipFill>
        </p:spPr>
        <p:txBody>
          <a:bodyPr/>
          <a:lstStyle/>
          <a:p>
            <a:endParaRPr lang="vi-VN"/>
          </a:p>
        </p:txBody>
      </p:sp>
      <p:sp>
        <p:nvSpPr>
          <p:cNvPr id="22" name="Freeform 2">
            <a:extLst>
              <a:ext uri="{FF2B5EF4-FFF2-40B4-BE49-F238E27FC236}">
                <a16:creationId xmlns:a16="http://schemas.microsoft.com/office/drawing/2014/main" xmlns="" id="{3E22D365-017C-0778-1E23-2D52AB382A68}"/>
              </a:ext>
            </a:extLst>
          </p:cNvPr>
          <p:cNvSpPr/>
          <p:nvPr/>
        </p:nvSpPr>
        <p:spPr>
          <a:xfrm>
            <a:off x="15239589" y="6619023"/>
            <a:ext cx="5886688" cy="5196158"/>
          </a:xfrm>
          <a:custGeom>
            <a:avLst/>
            <a:gdLst/>
            <a:ahLst/>
            <a:cxnLst/>
            <a:rect l="l" t="t" r="r" b="b"/>
            <a:pathLst>
              <a:path w="749691" h="769273">
                <a:moveTo>
                  <a:pt x="0" y="0"/>
                </a:moveTo>
                <a:lnTo>
                  <a:pt x="749691" y="0"/>
                </a:lnTo>
                <a:lnTo>
                  <a:pt x="749691" y="769273"/>
                </a:lnTo>
                <a:lnTo>
                  <a:pt x="0" y="76927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vi-VN"/>
          </a:p>
        </p:txBody>
      </p:sp>
      <p:grpSp>
        <p:nvGrpSpPr>
          <p:cNvPr id="7" name="Group 6"/>
          <p:cNvGrpSpPr/>
          <p:nvPr/>
        </p:nvGrpSpPr>
        <p:grpSpPr>
          <a:xfrm>
            <a:off x="1013865" y="5082878"/>
            <a:ext cx="433935" cy="441622"/>
            <a:chOff x="1013865" y="5082878"/>
            <a:chExt cx="433935" cy="441622"/>
          </a:xfrm>
        </p:grpSpPr>
        <p:sp>
          <p:nvSpPr>
            <p:cNvPr id="16" name="AutoShape 16">
              <a:extLst>
                <a:ext uri="{FF2B5EF4-FFF2-40B4-BE49-F238E27FC236}">
                  <a16:creationId xmlns:a16="http://schemas.microsoft.com/office/drawing/2014/main" xmlns="" id="{405205FA-F874-5B05-A4EC-39CF2B2BC037}"/>
                </a:ext>
              </a:extLst>
            </p:cNvPr>
            <p:cNvSpPr/>
            <p:nvPr/>
          </p:nvSpPr>
          <p:spPr>
            <a:xfrm>
              <a:off x="1013865" y="5109249"/>
              <a:ext cx="433935" cy="415251"/>
            </a:xfrm>
            <a:prstGeom prst="rect">
              <a:avLst/>
            </a:prstGeom>
            <a:solidFill>
              <a:srgbClr val="A066CB"/>
            </a:solidFill>
          </p:spPr>
          <p:txBody>
            <a:bodyPr/>
            <a:lstStyle/>
            <a:p>
              <a:endParaRPr lang="vi-VN"/>
            </a:p>
          </p:txBody>
        </p:sp>
        <p:sp>
          <p:nvSpPr>
            <p:cNvPr id="26" name="TextBox 25">
              <a:extLst>
                <a:ext uri="{FF2B5EF4-FFF2-40B4-BE49-F238E27FC236}">
                  <a16:creationId xmlns:a16="http://schemas.microsoft.com/office/drawing/2014/main" xmlns="" id="{3D3E1F71-6454-3EE1-AEA2-F1DEDFB17C2D}"/>
                </a:ext>
              </a:extLst>
            </p:cNvPr>
            <p:cNvSpPr txBox="1"/>
            <p:nvPr/>
          </p:nvSpPr>
          <p:spPr>
            <a:xfrm>
              <a:off x="1066800" y="5082878"/>
              <a:ext cx="381000" cy="369332"/>
            </a:xfrm>
            <a:prstGeom prst="rect">
              <a:avLst/>
            </a:prstGeom>
            <a:noFill/>
          </p:spPr>
          <p:txBody>
            <a:bodyPr wrap="square" rtlCol="0">
              <a:spAutoFit/>
            </a:bodyPr>
            <a:lstStyle/>
            <a:p>
              <a:r>
                <a:rPr lang="en-US">
                  <a:solidFill>
                    <a:schemeClr val="bg1"/>
                  </a:solidFill>
                </a:rPr>
                <a:t>1</a:t>
              </a:r>
              <a:endParaRPr lang="vi-VN">
                <a:solidFill>
                  <a:schemeClr val="bg1"/>
                </a:solidFill>
              </a:endParaRPr>
            </a:p>
          </p:txBody>
        </p:sp>
      </p:grpSp>
      <p:grpSp>
        <p:nvGrpSpPr>
          <p:cNvPr id="5" name="Group 4"/>
          <p:cNvGrpSpPr/>
          <p:nvPr/>
        </p:nvGrpSpPr>
        <p:grpSpPr>
          <a:xfrm>
            <a:off x="6314857" y="5075099"/>
            <a:ext cx="459400" cy="440386"/>
            <a:chOff x="5220284" y="5090259"/>
            <a:chExt cx="459400" cy="440386"/>
          </a:xfrm>
        </p:grpSpPr>
        <p:sp>
          <p:nvSpPr>
            <p:cNvPr id="17" name="AutoShape 17">
              <a:extLst>
                <a:ext uri="{FF2B5EF4-FFF2-40B4-BE49-F238E27FC236}">
                  <a16:creationId xmlns:a16="http://schemas.microsoft.com/office/drawing/2014/main" xmlns="" id="{CDB0B4C8-7B32-792C-B56B-0B172A57F79C}"/>
                </a:ext>
              </a:extLst>
            </p:cNvPr>
            <p:cNvSpPr/>
            <p:nvPr/>
          </p:nvSpPr>
          <p:spPr>
            <a:xfrm>
              <a:off x="5317258" y="5143500"/>
              <a:ext cx="239988" cy="262851"/>
            </a:xfrm>
            <a:prstGeom prst="rect">
              <a:avLst/>
            </a:prstGeom>
            <a:solidFill>
              <a:srgbClr val="A066CB"/>
            </a:solidFill>
          </p:spPr>
          <p:txBody>
            <a:bodyPr/>
            <a:lstStyle/>
            <a:p>
              <a:endParaRPr lang="vi-VN"/>
            </a:p>
          </p:txBody>
        </p:sp>
        <p:sp>
          <p:nvSpPr>
            <p:cNvPr id="23" name="AutoShape 16">
              <a:extLst>
                <a:ext uri="{FF2B5EF4-FFF2-40B4-BE49-F238E27FC236}">
                  <a16:creationId xmlns:a16="http://schemas.microsoft.com/office/drawing/2014/main" xmlns="" id="{3C76DC18-1A39-714F-792B-942DE4FA6C04}"/>
                </a:ext>
              </a:extLst>
            </p:cNvPr>
            <p:cNvSpPr/>
            <p:nvPr/>
          </p:nvSpPr>
          <p:spPr>
            <a:xfrm>
              <a:off x="5220284" y="5115394"/>
              <a:ext cx="433935" cy="415251"/>
            </a:xfrm>
            <a:prstGeom prst="rect">
              <a:avLst/>
            </a:prstGeom>
            <a:solidFill>
              <a:srgbClr val="A066CB"/>
            </a:solidFill>
          </p:spPr>
          <p:txBody>
            <a:bodyPr/>
            <a:lstStyle/>
            <a:p>
              <a:endParaRPr lang="vi-VN"/>
            </a:p>
          </p:txBody>
        </p:sp>
        <p:sp>
          <p:nvSpPr>
            <p:cNvPr id="27" name="TextBox 26">
              <a:extLst>
                <a:ext uri="{FF2B5EF4-FFF2-40B4-BE49-F238E27FC236}">
                  <a16:creationId xmlns:a16="http://schemas.microsoft.com/office/drawing/2014/main" xmlns="" id="{1258195D-DCED-45FF-1E56-4E2CC7C66722}"/>
                </a:ext>
              </a:extLst>
            </p:cNvPr>
            <p:cNvSpPr txBox="1"/>
            <p:nvPr/>
          </p:nvSpPr>
          <p:spPr>
            <a:xfrm>
              <a:off x="5298684" y="5090259"/>
              <a:ext cx="381000" cy="369332"/>
            </a:xfrm>
            <a:prstGeom prst="rect">
              <a:avLst/>
            </a:prstGeom>
            <a:noFill/>
          </p:spPr>
          <p:txBody>
            <a:bodyPr wrap="square" rtlCol="0">
              <a:spAutoFit/>
            </a:bodyPr>
            <a:lstStyle/>
            <a:p>
              <a:r>
                <a:rPr lang="en-US">
                  <a:solidFill>
                    <a:schemeClr val="bg1"/>
                  </a:solidFill>
                </a:rPr>
                <a:t>2</a:t>
              </a:r>
              <a:endParaRPr lang="vi-VN">
                <a:solidFill>
                  <a:schemeClr val="bg1"/>
                </a:solidFill>
              </a:endParaRPr>
            </a:p>
          </p:txBody>
        </p:sp>
      </p:grpSp>
      <p:grpSp>
        <p:nvGrpSpPr>
          <p:cNvPr id="4" name="Group 3"/>
          <p:cNvGrpSpPr/>
          <p:nvPr/>
        </p:nvGrpSpPr>
        <p:grpSpPr>
          <a:xfrm>
            <a:off x="11582875" y="5109248"/>
            <a:ext cx="462788" cy="415251"/>
            <a:chOff x="9485821" y="5109248"/>
            <a:chExt cx="462788" cy="415251"/>
          </a:xfrm>
        </p:grpSpPr>
        <p:sp>
          <p:nvSpPr>
            <p:cNvPr id="18" name="AutoShape 18">
              <a:extLst>
                <a:ext uri="{FF2B5EF4-FFF2-40B4-BE49-F238E27FC236}">
                  <a16:creationId xmlns:a16="http://schemas.microsoft.com/office/drawing/2014/main" xmlns="" id="{F106B165-5EFC-7B87-3F88-858C5CB03387}"/>
                </a:ext>
              </a:extLst>
            </p:cNvPr>
            <p:cNvSpPr/>
            <p:nvPr/>
          </p:nvSpPr>
          <p:spPr>
            <a:xfrm>
              <a:off x="9605817" y="5143500"/>
              <a:ext cx="239988" cy="262851"/>
            </a:xfrm>
            <a:prstGeom prst="rect">
              <a:avLst/>
            </a:prstGeom>
            <a:solidFill>
              <a:srgbClr val="A066CB"/>
            </a:solidFill>
          </p:spPr>
          <p:txBody>
            <a:bodyPr/>
            <a:lstStyle/>
            <a:p>
              <a:endParaRPr lang="vi-VN"/>
            </a:p>
          </p:txBody>
        </p:sp>
        <p:sp>
          <p:nvSpPr>
            <p:cNvPr id="24" name="AutoShape 16">
              <a:extLst>
                <a:ext uri="{FF2B5EF4-FFF2-40B4-BE49-F238E27FC236}">
                  <a16:creationId xmlns:a16="http://schemas.microsoft.com/office/drawing/2014/main" xmlns="" id="{DDF6F99A-E531-AF31-52F3-601D1611E134}"/>
                </a:ext>
              </a:extLst>
            </p:cNvPr>
            <p:cNvSpPr/>
            <p:nvPr/>
          </p:nvSpPr>
          <p:spPr>
            <a:xfrm>
              <a:off x="9485821" y="5109248"/>
              <a:ext cx="433935" cy="415251"/>
            </a:xfrm>
            <a:prstGeom prst="rect">
              <a:avLst/>
            </a:prstGeom>
            <a:solidFill>
              <a:srgbClr val="A066CB"/>
            </a:solidFill>
          </p:spPr>
          <p:txBody>
            <a:bodyPr/>
            <a:lstStyle/>
            <a:p>
              <a:endParaRPr lang="vi-VN"/>
            </a:p>
          </p:txBody>
        </p:sp>
        <p:sp>
          <p:nvSpPr>
            <p:cNvPr id="29" name="TextBox 28">
              <a:extLst>
                <a:ext uri="{FF2B5EF4-FFF2-40B4-BE49-F238E27FC236}">
                  <a16:creationId xmlns:a16="http://schemas.microsoft.com/office/drawing/2014/main" xmlns="" id="{47E437CF-791E-EE67-8E19-9DF29482DE4A}"/>
                </a:ext>
              </a:extLst>
            </p:cNvPr>
            <p:cNvSpPr txBox="1"/>
            <p:nvPr/>
          </p:nvSpPr>
          <p:spPr>
            <a:xfrm>
              <a:off x="9567609" y="5132207"/>
              <a:ext cx="381000" cy="369332"/>
            </a:xfrm>
            <a:prstGeom prst="rect">
              <a:avLst/>
            </a:prstGeom>
            <a:noFill/>
          </p:spPr>
          <p:txBody>
            <a:bodyPr wrap="square" rtlCol="0">
              <a:spAutoFit/>
            </a:bodyPr>
            <a:lstStyle/>
            <a:p>
              <a:r>
                <a:rPr lang="en-US">
                  <a:solidFill>
                    <a:schemeClr val="bg1"/>
                  </a:solidFill>
                </a:rPr>
                <a:t>3</a:t>
              </a:r>
              <a:endParaRPr lang="vi-VN">
                <a:solidFill>
                  <a:schemeClr val="bg1"/>
                </a:solidFill>
              </a:endParaRPr>
            </a:p>
          </p:txBody>
        </p:sp>
      </p:grpSp>
      <p:grpSp>
        <p:nvGrpSpPr>
          <p:cNvPr id="3" name="Group 2"/>
          <p:cNvGrpSpPr/>
          <p:nvPr/>
        </p:nvGrpSpPr>
        <p:grpSpPr>
          <a:xfrm>
            <a:off x="16779035" y="5040949"/>
            <a:ext cx="433935" cy="415251"/>
            <a:chOff x="13751358" y="5040949"/>
            <a:chExt cx="433935" cy="415251"/>
          </a:xfrm>
        </p:grpSpPr>
        <p:sp>
          <p:nvSpPr>
            <p:cNvPr id="19" name="AutoShape 19">
              <a:extLst>
                <a:ext uri="{FF2B5EF4-FFF2-40B4-BE49-F238E27FC236}">
                  <a16:creationId xmlns:a16="http://schemas.microsoft.com/office/drawing/2014/main" xmlns="" id="{33428499-FCEB-D784-0558-D40923494858}"/>
                </a:ext>
              </a:extLst>
            </p:cNvPr>
            <p:cNvSpPr/>
            <p:nvPr/>
          </p:nvSpPr>
          <p:spPr>
            <a:xfrm>
              <a:off x="13894375" y="5143500"/>
              <a:ext cx="239988" cy="262851"/>
            </a:xfrm>
            <a:prstGeom prst="rect">
              <a:avLst/>
            </a:prstGeom>
            <a:solidFill>
              <a:srgbClr val="A066CB"/>
            </a:solidFill>
          </p:spPr>
          <p:txBody>
            <a:bodyPr/>
            <a:lstStyle/>
            <a:p>
              <a:endParaRPr lang="vi-VN"/>
            </a:p>
          </p:txBody>
        </p:sp>
        <p:sp>
          <p:nvSpPr>
            <p:cNvPr id="25" name="AutoShape 16">
              <a:extLst>
                <a:ext uri="{FF2B5EF4-FFF2-40B4-BE49-F238E27FC236}">
                  <a16:creationId xmlns:a16="http://schemas.microsoft.com/office/drawing/2014/main" xmlns="" id="{FF71925F-D26A-6326-E905-F0BC42E8659F}"/>
                </a:ext>
              </a:extLst>
            </p:cNvPr>
            <p:cNvSpPr/>
            <p:nvPr/>
          </p:nvSpPr>
          <p:spPr>
            <a:xfrm>
              <a:off x="13751358" y="5040949"/>
              <a:ext cx="433935" cy="415251"/>
            </a:xfrm>
            <a:prstGeom prst="rect">
              <a:avLst/>
            </a:prstGeom>
            <a:solidFill>
              <a:srgbClr val="A066CB"/>
            </a:solidFill>
          </p:spPr>
          <p:txBody>
            <a:bodyPr/>
            <a:lstStyle/>
            <a:p>
              <a:endParaRPr lang="vi-VN"/>
            </a:p>
          </p:txBody>
        </p:sp>
        <p:sp>
          <p:nvSpPr>
            <p:cNvPr id="30" name="TextBox 29">
              <a:extLst>
                <a:ext uri="{FF2B5EF4-FFF2-40B4-BE49-F238E27FC236}">
                  <a16:creationId xmlns:a16="http://schemas.microsoft.com/office/drawing/2014/main" xmlns="" id="{42659B50-0A68-1000-C953-8B11790A404F}"/>
                </a:ext>
              </a:extLst>
            </p:cNvPr>
            <p:cNvSpPr txBox="1"/>
            <p:nvPr/>
          </p:nvSpPr>
          <p:spPr>
            <a:xfrm>
              <a:off x="13789051" y="5040949"/>
              <a:ext cx="381000" cy="369332"/>
            </a:xfrm>
            <a:prstGeom prst="rect">
              <a:avLst/>
            </a:prstGeom>
            <a:noFill/>
          </p:spPr>
          <p:txBody>
            <a:bodyPr wrap="square" rtlCol="0">
              <a:spAutoFit/>
            </a:bodyPr>
            <a:lstStyle/>
            <a:p>
              <a:r>
                <a:rPr lang="en-US">
                  <a:solidFill>
                    <a:schemeClr val="bg1"/>
                  </a:solidFill>
                </a:rPr>
                <a:t>4</a:t>
              </a:r>
              <a:endParaRPr lang="vi-VN">
                <a:solidFill>
                  <a:schemeClr val="bg1"/>
                </a:solidFill>
              </a:endParaRPr>
            </a:p>
          </p:txBody>
        </p:sp>
      </p:grpSp>
      <p:sp>
        <p:nvSpPr>
          <p:cNvPr id="31" name="TextBox 3">
            <a:extLst>
              <a:ext uri="{FF2B5EF4-FFF2-40B4-BE49-F238E27FC236}">
                <a16:creationId xmlns:a16="http://schemas.microsoft.com/office/drawing/2014/main" xmlns="" id="{D3FE53DA-8BF4-D94A-D6ED-473065AC7F62}"/>
              </a:ext>
            </a:extLst>
          </p:cNvPr>
          <p:cNvSpPr txBox="1"/>
          <p:nvPr/>
        </p:nvSpPr>
        <p:spPr>
          <a:xfrm>
            <a:off x="983384" y="973382"/>
            <a:ext cx="10827615" cy="1102866"/>
          </a:xfrm>
          <a:prstGeom prst="rect">
            <a:avLst/>
          </a:prstGeom>
        </p:spPr>
        <p:txBody>
          <a:bodyPr wrap="square" lIns="0" tIns="0" rIns="0" bIns="0" rtlCol="0" anchor="t">
            <a:spAutoFit/>
          </a:bodyPr>
          <a:lstStyle/>
          <a:p>
            <a:pPr marL="0" lvl="0" indent="0" algn="l">
              <a:lnSpc>
                <a:spcPts val="8635"/>
              </a:lnSpc>
              <a:spcBef>
                <a:spcPct val="0"/>
              </a:spcBef>
            </a:pPr>
            <a:r>
              <a:rPr lang="vi-VN" sz="7850" b="1">
                <a:solidFill>
                  <a:srgbClr val="1836B2"/>
                </a:solidFill>
                <a:latin typeface="+mj-lt"/>
                <a:ea typeface="Cabin Semi-Bold"/>
                <a:cs typeface="Cabin Semi-Bold"/>
                <a:sym typeface="Cabin Semi-Bold"/>
              </a:rPr>
              <a:t>6</a:t>
            </a:r>
            <a:r>
              <a:rPr lang="vi-VN" sz="7850" b="1" u="none">
                <a:solidFill>
                  <a:srgbClr val="1836B2"/>
                </a:solidFill>
                <a:latin typeface="+mj-lt"/>
                <a:ea typeface="Cabin Semi-Bold"/>
                <a:cs typeface="Cabin Semi-Bold"/>
                <a:sym typeface="Cabin Semi-Bold"/>
              </a:rPr>
              <a:t>.Yêu cầu phi chức năng</a:t>
            </a:r>
            <a:endParaRPr lang="en-US" sz="7850" b="1" u="none">
              <a:solidFill>
                <a:srgbClr val="1836B2"/>
              </a:solidFill>
              <a:latin typeface="+mj-lt"/>
              <a:ea typeface="Cabin Semi-Bold"/>
              <a:cs typeface="Cabin Semi-Bold"/>
              <a:sym typeface="Cabin Semi-Bold"/>
            </a:endParaRPr>
          </a:p>
        </p:txBody>
      </p:sp>
      <p:grpSp>
        <p:nvGrpSpPr>
          <p:cNvPr id="32" name="Group 2">
            <a:extLst>
              <a:ext uri="{FF2B5EF4-FFF2-40B4-BE49-F238E27FC236}">
                <a16:creationId xmlns:a16="http://schemas.microsoft.com/office/drawing/2014/main" xmlns="" id="{4470407C-BF68-434C-6BA5-5C594C5DA8E9}"/>
              </a:ext>
            </a:extLst>
          </p:cNvPr>
          <p:cNvGrpSpPr/>
          <p:nvPr/>
        </p:nvGrpSpPr>
        <p:grpSpPr>
          <a:xfrm>
            <a:off x="-1828800" y="7020883"/>
            <a:ext cx="4742962" cy="4392438"/>
            <a:chOff x="0" y="0"/>
            <a:chExt cx="5800804" cy="5372100"/>
          </a:xfrm>
        </p:grpSpPr>
        <p:sp>
          <p:nvSpPr>
            <p:cNvPr id="33" name="Freeform 3">
              <a:extLst>
                <a:ext uri="{FF2B5EF4-FFF2-40B4-BE49-F238E27FC236}">
                  <a16:creationId xmlns:a16="http://schemas.microsoft.com/office/drawing/2014/main" xmlns="" id="{30F4350F-1FFD-476E-1384-EED22C82720E}"/>
                </a:ext>
              </a:extLst>
            </p:cNvPr>
            <p:cNvSpPr/>
            <p:nvPr/>
          </p:nvSpPr>
          <p:spPr>
            <a:xfrm>
              <a:off x="0" y="0"/>
              <a:ext cx="5800804" cy="5372100"/>
            </a:xfrm>
            <a:custGeom>
              <a:avLst/>
              <a:gdLst/>
              <a:ahLst/>
              <a:cxnLst/>
              <a:rect l="l" t="t" r="r" b="b"/>
              <a:pathLst>
                <a:path w="5800804" h="537210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p:spPr>
          <p:txBody>
            <a:bodyPr/>
            <a:lstStyle/>
            <a:p>
              <a:endParaRPr lang="vi-VN"/>
            </a:p>
          </p:txBody>
        </p:sp>
      </p:grpSp>
    </p:spTree>
    <p:extLst>
      <p:ext uri="{BB962C8B-B14F-4D97-AF65-F5344CB8AC3E}">
        <p14:creationId xmlns:p14="http://schemas.microsoft.com/office/powerpoint/2010/main" val="10459898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304800" y="2061894"/>
            <a:ext cx="7560381" cy="8023890"/>
            <a:chOff x="0" y="66675"/>
            <a:chExt cx="9267709" cy="10100384"/>
          </a:xfrm>
        </p:grpSpPr>
        <p:sp>
          <p:nvSpPr>
            <p:cNvPr id="5" name="TextBox 5"/>
            <p:cNvSpPr txBox="1"/>
            <p:nvPr/>
          </p:nvSpPr>
          <p:spPr>
            <a:xfrm>
              <a:off x="0" y="66675"/>
              <a:ext cx="9267709" cy="1325723"/>
            </a:xfrm>
            <a:prstGeom prst="rect">
              <a:avLst/>
            </a:prstGeom>
          </p:spPr>
          <p:txBody>
            <a:bodyPr lIns="0" tIns="0" rIns="0" bIns="0" rtlCol="0" anchor="t">
              <a:spAutoFit/>
            </a:bodyPr>
            <a:lstStyle/>
            <a:p>
              <a:pPr marL="0" lvl="0" indent="0" algn="l">
                <a:lnSpc>
                  <a:spcPts val="8717"/>
                </a:lnSpc>
                <a:spcBef>
                  <a:spcPct val="0"/>
                </a:spcBef>
              </a:pPr>
              <a:r>
                <a:rPr lang="en-US" sz="6000" b="1" u="none">
                  <a:solidFill>
                    <a:srgbClr val="1836B2"/>
                  </a:solidFill>
                  <a:latin typeface="Times New Roman" panose="02020603050405020304" pitchFamily="18" charset="0"/>
                  <a:ea typeface="Cabin Semi-Bold"/>
                  <a:cs typeface="Times New Roman" panose="02020603050405020304" pitchFamily="18" charset="0"/>
                  <a:sym typeface="Cabin Semi-Bold"/>
                </a:rPr>
                <a:t>7.</a:t>
              </a:r>
              <a:r>
                <a:rPr lang="vi-VN" sz="6000" b="1" u="none">
                  <a:solidFill>
                    <a:srgbClr val="1836B2"/>
                  </a:solidFill>
                  <a:latin typeface="Times New Roman" panose="02020603050405020304" pitchFamily="18" charset="0"/>
                  <a:ea typeface="Cabin Semi-Bold"/>
                  <a:cs typeface="Times New Roman" panose="02020603050405020304" pitchFamily="18" charset="0"/>
                  <a:sym typeface="Cabin Semi-Bold"/>
                </a:rPr>
                <a:t>Cơ sở dữ liệu</a:t>
              </a:r>
              <a:endParaRPr lang="en-US" sz="6000"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6" name="TextBox 6"/>
            <p:cNvSpPr txBox="1"/>
            <p:nvPr/>
          </p:nvSpPr>
          <p:spPr>
            <a:xfrm>
              <a:off x="0" y="1643693"/>
              <a:ext cx="8986798" cy="8523366"/>
            </a:xfrm>
            <a:prstGeom prst="rect">
              <a:avLst/>
            </a:prstGeom>
          </p:spPr>
          <p:txBody>
            <a:bodyPr lIns="0" tIns="0" rIns="0" bIns="0" rtlCol="0" anchor="t">
              <a:spAutoFit/>
            </a:bodyPr>
            <a:lstStyle/>
            <a:p>
              <a:pPr>
                <a:lnSpc>
                  <a:spcPts val="3255"/>
                </a:lnSpc>
                <a:spcBef>
                  <a:spcPct val="0"/>
                </a:spcBef>
              </a:pPr>
              <a:r>
                <a:rPr lang="vi-VN" sz="2000" smtClean="0"/>
                <a:t>Hệ thống cơ sở dữ liệu được xây dựng với mô hình chuẩn hóa, bao gồm các bảng chính:</a:t>
              </a:r>
            </a:p>
            <a:p>
              <a:pPr marL="342900" indent="-342900">
                <a:lnSpc>
                  <a:spcPts val="3255"/>
                </a:lnSpc>
                <a:spcBef>
                  <a:spcPct val="0"/>
                </a:spcBef>
                <a:buFont typeface="Arial" panose="020B0604020202020204" pitchFamily="34" charset="0"/>
                <a:buChar char="•"/>
              </a:pPr>
              <a:r>
                <a:rPr lang="vi-VN" sz="2000" b="1" smtClean="0"/>
                <a:t>s</a:t>
              </a:r>
              <a:r>
                <a:rPr lang="vi-VN" sz="2000" b="1" smtClean="0"/>
                <a:t>inhvien</a:t>
              </a:r>
              <a:r>
                <a:rPr lang="en-US" sz="2000" b="1" smtClean="0"/>
                <a:t>, </a:t>
              </a:r>
              <a:r>
                <a:rPr lang="vi-VN" sz="2000" b="1" smtClean="0"/>
                <a:t>quantrivien</a:t>
              </a:r>
              <a:r>
                <a:rPr lang="en-US" sz="2000" b="1" smtClean="0"/>
                <a:t>:</a:t>
              </a:r>
              <a:r>
                <a:rPr lang="vi-VN" sz="2000" smtClean="0"/>
                <a:t> Bảng chứa dữ liệu sinh viên</a:t>
              </a:r>
              <a:r>
                <a:rPr lang="en-US" sz="2000" smtClean="0"/>
                <a:t> và quản trị viên.</a:t>
              </a:r>
              <a:endParaRPr lang="vi-VN" sz="2000" smtClean="0"/>
            </a:p>
            <a:p>
              <a:pPr marL="342900" indent="-342900">
                <a:lnSpc>
                  <a:spcPts val="3255"/>
                </a:lnSpc>
                <a:spcBef>
                  <a:spcPct val="0"/>
                </a:spcBef>
                <a:buFont typeface="Arial" panose="020B0604020202020204" pitchFamily="34" charset="0"/>
                <a:buChar char="•"/>
              </a:pPr>
              <a:r>
                <a:rPr lang="vi-VN" sz="2000" b="1" smtClean="0"/>
                <a:t>t</a:t>
              </a:r>
              <a:r>
                <a:rPr lang="vi-VN" sz="2000" b="1" smtClean="0"/>
                <a:t>ailieu</a:t>
              </a:r>
              <a:r>
                <a:rPr lang="vi-VN" sz="2000" smtClean="0"/>
                <a:t>: Bảng chứa dữ liệu tài liệu</a:t>
              </a:r>
            </a:p>
            <a:p>
              <a:pPr marL="342900" indent="-342900">
                <a:lnSpc>
                  <a:spcPts val="3255"/>
                </a:lnSpc>
                <a:spcBef>
                  <a:spcPct val="0"/>
                </a:spcBef>
                <a:buFont typeface="Arial" panose="020B0604020202020204" pitchFamily="34" charset="0"/>
                <a:buChar char="•"/>
              </a:pPr>
              <a:r>
                <a:rPr lang="vi-VN" sz="2000" b="1" smtClean="0"/>
                <a:t>cauhoi</a:t>
              </a:r>
              <a:r>
                <a:rPr lang="en-US" sz="2000" b="1" smtClean="0"/>
                <a:t>, </a:t>
              </a:r>
              <a:r>
                <a:rPr lang="vi-VN" sz="2000" b="1"/>
                <a:t>cautraloi </a:t>
              </a:r>
              <a:r>
                <a:rPr lang="vi-VN" sz="2000" smtClean="0"/>
                <a:t>: Bảng chứa dữ liệu câu hỏi</a:t>
              </a:r>
              <a:r>
                <a:rPr lang="en-US" sz="2000" smtClean="0"/>
                <a:t> và câu trả lời</a:t>
              </a:r>
              <a:r>
                <a:rPr lang="vi-VN" sz="2000" smtClean="0"/>
                <a:t> của sinh viên</a:t>
              </a:r>
            </a:p>
            <a:p>
              <a:pPr marL="342900" indent="-342900">
                <a:lnSpc>
                  <a:spcPts val="3255"/>
                </a:lnSpc>
                <a:spcBef>
                  <a:spcPct val="0"/>
                </a:spcBef>
                <a:buFont typeface="Arial" panose="020B0604020202020204" pitchFamily="34" charset="0"/>
                <a:buChar char="•"/>
              </a:pPr>
              <a:r>
                <a:rPr lang="vi-VN" sz="2000" b="1" smtClean="0"/>
                <a:t>danhgiacauhoi, danhgiacautraloi</a:t>
              </a:r>
              <a:r>
                <a:rPr lang="vi-VN" sz="2000" smtClean="0"/>
                <a:t>: Bảng chứa dữ liệu các đánh giá về câu hỏi hoặc câu trả lời từ người dùng.</a:t>
              </a:r>
            </a:p>
            <a:p>
              <a:pPr marL="342900" indent="-342900">
                <a:lnSpc>
                  <a:spcPts val="3255"/>
                </a:lnSpc>
                <a:spcBef>
                  <a:spcPct val="0"/>
                </a:spcBef>
                <a:buFont typeface="Arial" panose="020B0604020202020204" pitchFamily="34" charset="0"/>
                <a:buChar char="•"/>
              </a:pPr>
              <a:r>
                <a:rPr lang="vi-VN" sz="2000" b="1" smtClean="0"/>
                <a:t>baocaovipham</a:t>
              </a:r>
              <a:r>
                <a:rPr lang="vi-VN" sz="2000" smtClean="0"/>
                <a:t>: Bảng chứa dữ liệu các báo cáo vi phạm từ người dùng.</a:t>
              </a:r>
            </a:p>
            <a:p>
              <a:pPr marL="342900" indent="-342900">
                <a:lnSpc>
                  <a:spcPts val="3255"/>
                </a:lnSpc>
                <a:spcBef>
                  <a:spcPct val="0"/>
                </a:spcBef>
                <a:buFont typeface="Arial" panose="020B0604020202020204" pitchFamily="34" charset="0"/>
                <a:buChar char="•"/>
              </a:pPr>
              <a:r>
                <a:rPr lang="en-US" sz="2000" b="1" smtClean="0"/>
                <a:t>d</a:t>
              </a:r>
              <a:r>
                <a:rPr lang="en-US" sz="2000" b="1" smtClean="0"/>
                <a:t>anhsachtailieu:</a:t>
              </a:r>
              <a:r>
                <a:rPr lang="en-US" sz="2000" smtClean="0"/>
                <a:t> bảng chứa dữ liệu danh sách tài liệu.</a:t>
              </a:r>
            </a:p>
            <a:p>
              <a:pPr marL="342900" indent="-342900">
                <a:lnSpc>
                  <a:spcPts val="3255"/>
                </a:lnSpc>
                <a:spcBef>
                  <a:spcPct val="0"/>
                </a:spcBef>
                <a:buFont typeface="Arial" panose="020B0604020202020204" pitchFamily="34" charset="0"/>
                <a:buChar char="•"/>
              </a:pPr>
              <a:r>
                <a:rPr lang="en-US" sz="2000" b="1" smtClean="0"/>
                <a:t>luutailieu:</a:t>
              </a:r>
              <a:r>
                <a:rPr lang="en-US" sz="2000" smtClean="0"/>
                <a:t> Bảng chứa dữ liệu các tài liệu người dùng lưu.</a:t>
              </a:r>
            </a:p>
            <a:p>
              <a:pPr marL="342900" indent="-342900">
                <a:lnSpc>
                  <a:spcPts val="3255"/>
                </a:lnSpc>
                <a:spcBef>
                  <a:spcPct val="0"/>
                </a:spcBef>
                <a:buFont typeface="Arial" panose="020B0604020202020204" pitchFamily="34" charset="0"/>
                <a:buChar char="•"/>
              </a:pPr>
              <a:r>
                <a:rPr lang="en-US" sz="2000" b="1" smtClean="0"/>
                <a:t>nganh, loaitailieu, mon, tag:</a:t>
              </a:r>
              <a:r>
                <a:rPr lang="en-US" sz="2000" smtClean="0"/>
                <a:t> Bảng chứa dữ liệu các danh mục.</a:t>
              </a:r>
            </a:p>
            <a:p>
              <a:pPr marL="342900" indent="-342900">
                <a:lnSpc>
                  <a:spcPts val="3255"/>
                </a:lnSpc>
                <a:spcBef>
                  <a:spcPct val="0"/>
                </a:spcBef>
                <a:buFont typeface="Arial" panose="020B0604020202020204" pitchFamily="34" charset="0"/>
                <a:buChar char="•"/>
              </a:pPr>
              <a:r>
                <a:rPr lang="en-US" sz="2000" b="1" smtClean="0"/>
                <a:t>danhsachtag:</a:t>
              </a:r>
              <a:r>
                <a:rPr lang="en-US" sz="2000" smtClean="0"/>
                <a:t> Bảng chứa dữ liệu danh sách tag.</a:t>
              </a:r>
              <a:endParaRPr lang="vi-VN" sz="2000" b="1"/>
            </a:p>
          </p:txBody>
        </p:sp>
      </p:grpSp>
      <p:sp>
        <p:nvSpPr>
          <p:cNvPr id="30" name="AutoShape 30"/>
          <p:cNvSpPr/>
          <p:nvPr/>
        </p:nvSpPr>
        <p:spPr>
          <a:xfrm>
            <a:off x="4790415" y="-446411"/>
            <a:ext cx="13497585" cy="791631"/>
          </a:xfrm>
          <a:prstGeom prst="rect">
            <a:avLst/>
          </a:prstGeom>
          <a:solidFill>
            <a:srgbClr val="1836B2"/>
          </a:solidFill>
        </p:spPr>
        <p:txBody>
          <a:bodyPr/>
          <a:lstStyle/>
          <a:p>
            <a:endParaRPr lang="vi-VN"/>
          </a:p>
        </p:txBody>
      </p:sp>
      <p:sp>
        <p:nvSpPr>
          <p:cNvPr id="31" name="Freeform 31"/>
          <p:cNvSpPr/>
          <p:nvPr/>
        </p:nvSpPr>
        <p:spPr>
          <a:xfrm flipH="1" flipV="1">
            <a:off x="0" y="-1169840"/>
            <a:ext cx="5660104" cy="3231734"/>
          </a:xfrm>
          <a:custGeom>
            <a:avLst/>
            <a:gdLst/>
            <a:ahLst/>
            <a:cxnLst/>
            <a:rect l="l" t="t" r="r" b="b"/>
            <a:pathLst>
              <a:path w="5660104" h="3231734">
                <a:moveTo>
                  <a:pt x="5660104" y="3231734"/>
                </a:moveTo>
                <a:lnTo>
                  <a:pt x="0" y="3231734"/>
                </a:lnTo>
                <a:lnTo>
                  <a:pt x="0" y="0"/>
                </a:lnTo>
                <a:lnTo>
                  <a:pt x="5660104" y="0"/>
                </a:lnTo>
                <a:lnTo>
                  <a:pt x="5660104" y="3231734"/>
                </a:lnTo>
                <a:close/>
              </a:path>
            </a:pathLst>
          </a:custGeom>
          <a:blipFill>
            <a:blip r:embed="rId2">
              <a:extLst>
                <a:ext uri="{96DAC541-7B7A-43D3-8B79-37D633B846F1}">
                  <asvg:svgBlip xmlns:asvg="http://schemas.microsoft.com/office/drawing/2016/SVG/main" xmlns="" r:embed="rId3"/>
                </a:ext>
              </a:extLst>
            </a:blip>
            <a:stretch>
              <a:fillRect t="-51576"/>
            </a:stretch>
          </a:blipFill>
        </p:spPr>
        <p:txBody>
          <a:bodyPr/>
          <a:lstStyle/>
          <a:p>
            <a:endParaRPr lang="vi-VN"/>
          </a:p>
        </p:txBody>
      </p:sp>
      <p:pic>
        <p:nvPicPr>
          <p:cNvPr id="9" name="Picture 8"/>
          <p:cNvPicPr>
            <a:picLocks noChangeAspect="1"/>
          </p:cNvPicPr>
          <p:nvPr/>
        </p:nvPicPr>
        <p:blipFill rotWithShape="1">
          <a:blip r:embed="rId4"/>
          <a:srcRect l="4416" t="4416" r="1139"/>
          <a:stretch/>
        </p:blipFill>
        <p:spPr bwMode="auto">
          <a:xfrm>
            <a:off x="7899053" y="2857500"/>
            <a:ext cx="10353251" cy="6858000"/>
          </a:xfrm>
          <a:prstGeom prst="rect">
            <a:avLst/>
          </a:prstGeom>
          <a:ln>
            <a:noFill/>
          </a:ln>
          <a:extLst>
            <a:ext uri="{53640926-AAD7-44D8-BBD7-CCE9431645EC}">
              <a14:shadowObscured xmlns:a14="http://schemas.microsoft.com/office/drawing/2010/main"/>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AutoShape 17"/>
          <p:cNvSpPr/>
          <p:nvPr/>
        </p:nvSpPr>
        <p:spPr>
          <a:xfrm>
            <a:off x="1721753" y="1638300"/>
            <a:ext cx="14844493" cy="8367369"/>
          </a:xfrm>
          <a:prstGeom prst="rect">
            <a:avLst/>
          </a:prstGeom>
          <a:solidFill>
            <a:srgbClr val="EDECED"/>
          </a:solidFill>
        </p:spPr>
        <p:txBody>
          <a:bodyPr/>
          <a:lstStyle/>
          <a:p>
            <a:endParaRPr lang="vi-VN"/>
          </a:p>
        </p:txBody>
      </p:sp>
      <p:sp>
        <p:nvSpPr>
          <p:cNvPr id="26" name="TextBox 26"/>
          <p:cNvSpPr txBox="1"/>
          <p:nvPr/>
        </p:nvSpPr>
        <p:spPr>
          <a:xfrm>
            <a:off x="581369" y="514551"/>
            <a:ext cx="10447175" cy="1021267"/>
          </a:xfrm>
          <a:prstGeom prst="rect">
            <a:avLst/>
          </a:prstGeom>
        </p:spPr>
        <p:txBody>
          <a:bodyPr lIns="0" tIns="0" rIns="0" bIns="0" rtlCol="0" anchor="t">
            <a:spAutoFit/>
          </a:bodyPr>
          <a:lstStyle/>
          <a:p>
            <a:pPr marL="0" lvl="0" indent="0" algn="l">
              <a:lnSpc>
                <a:spcPts val="7727"/>
              </a:lnSpc>
              <a:spcBef>
                <a:spcPct val="0"/>
              </a:spcBef>
            </a:pPr>
            <a:r>
              <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rPr>
              <a:t>8.</a:t>
            </a:r>
            <a:r>
              <a:rPr lang="vi-VN" sz="7025" b="1" u="none">
                <a:solidFill>
                  <a:srgbClr val="1836B2"/>
                </a:solidFill>
                <a:latin typeface="Times New Roman" panose="02020603050405020304" pitchFamily="18" charset="0"/>
                <a:ea typeface="Cabin Semi-Bold"/>
                <a:cs typeface="Times New Roman" panose="02020603050405020304" pitchFamily="18" charset="0"/>
                <a:sym typeface="Cabin Semi-Bold"/>
              </a:rPr>
              <a:t>Dữ liệu thử nghiệm</a:t>
            </a:r>
            <a:endPar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28" name="TextBox 27">
            <a:extLst>
              <a:ext uri="{FF2B5EF4-FFF2-40B4-BE49-F238E27FC236}">
                <a16:creationId xmlns:a16="http://schemas.microsoft.com/office/drawing/2014/main" xmlns="" id="{AD86C24D-37DF-302D-7196-ED88BFEC68FF}"/>
              </a:ext>
            </a:extLst>
          </p:cNvPr>
          <p:cNvSpPr txBox="1"/>
          <p:nvPr/>
        </p:nvSpPr>
        <p:spPr>
          <a:xfrm>
            <a:off x="1721753" y="1638300"/>
            <a:ext cx="14844493" cy="954107"/>
          </a:xfrm>
          <a:prstGeom prst="rect">
            <a:avLst/>
          </a:prstGeom>
          <a:noFill/>
        </p:spPr>
        <p:txBody>
          <a:bodyPr wrap="square" rtlCol="0">
            <a:spAutoFit/>
          </a:bodyPr>
          <a:lstStyle/>
          <a:p>
            <a:r>
              <a:rPr lang="vi-VN" sz="2800">
                <a:latin typeface="Times New Roman" panose="02020603050405020304" pitchFamily="18" charset="0"/>
                <a:ea typeface="SimSun" panose="02010600030101010101" pitchFamily="2" charset="-122"/>
                <a:cs typeface="Times New Roman" panose="02020603050405020304" pitchFamily="18" charset="0"/>
              </a:rPr>
              <a:t>Dự </a:t>
            </a:r>
            <a:r>
              <a:rPr lang="vi-VN" sz="2800">
                <a:latin typeface="Times New Roman" panose="02020603050405020304" pitchFamily="18" charset="0"/>
                <a:ea typeface="SimSun" panose="02010600030101010101" pitchFamily="2" charset="-122"/>
                <a:cs typeface="Times New Roman" panose="02020603050405020304" pitchFamily="18" charset="0"/>
              </a:rPr>
              <a:t>án </a:t>
            </a:r>
            <a:r>
              <a:rPr lang="vi-VN" sz="2800" smtClean="0">
                <a:latin typeface="Times New Roman" panose="02020603050405020304" pitchFamily="18" charset="0"/>
                <a:ea typeface="SimSun" panose="02010600030101010101" pitchFamily="2" charset="-122"/>
                <a:cs typeface="Times New Roman" panose="02020603050405020304" pitchFamily="18" charset="0"/>
              </a:rPr>
              <a:t>thiết kế hệ thống chia sẻ tài liệu học tập và hỏi đáp giữa sinh viên</a:t>
            </a:r>
            <a:r>
              <a:rPr lang="en-US" sz="2800" smtClean="0">
                <a:latin typeface="Times New Roman" panose="02020603050405020304" pitchFamily="18" charset="0"/>
                <a:ea typeface="SimSun" panose="02010600030101010101" pitchFamily="2" charset="-122"/>
                <a:cs typeface="Times New Roman" panose="02020603050405020304" pitchFamily="18" charset="0"/>
              </a:rPr>
              <a:t> </a:t>
            </a:r>
            <a:r>
              <a:rPr lang="vi-VN" sz="2800" smtClean="0">
                <a:effectLst/>
                <a:latin typeface="Times New Roman" panose="02020603050405020304" pitchFamily="18" charset="0"/>
                <a:ea typeface="SimSun" panose="02010600030101010101" pitchFamily="2" charset="-122"/>
                <a:cs typeface="Times New Roman" panose="02020603050405020304" pitchFamily="18" charset="0"/>
              </a:rPr>
              <a:t>sẽ bao gồm các dữ liệu thử nghiệm sau nhằm kiểm tra xem trang web có hoặt động ổn không.</a:t>
            </a:r>
            <a:endParaRPr lang="vi-VN" sz="280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1753" y="2592407"/>
            <a:ext cx="14844493" cy="7381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0FA5E6C-A0F4-7CAB-9852-8A237B78C730}"/>
            </a:ext>
          </a:extLst>
        </p:cNvPr>
        <p:cNvGrpSpPr/>
        <p:nvPr/>
      </p:nvGrpSpPr>
      <p:grpSpPr>
        <a:xfrm>
          <a:off x="0" y="0"/>
          <a:ext cx="0" cy="0"/>
          <a:chOff x="0" y="0"/>
          <a:chExt cx="0" cy="0"/>
        </a:xfrm>
      </p:grpSpPr>
      <p:sp>
        <p:nvSpPr>
          <p:cNvPr id="17" name="AutoShape 17">
            <a:extLst>
              <a:ext uri="{FF2B5EF4-FFF2-40B4-BE49-F238E27FC236}">
                <a16:creationId xmlns:a16="http://schemas.microsoft.com/office/drawing/2014/main" xmlns="" id="{6C50F48B-863E-9AEE-1B6C-FDA4533F6281}"/>
              </a:ext>
            </a:extLst>
          </p:cNvPr>
          <p:cNvSpPr/>
          <p:nvPr/>
        </p:nvSpPr>
        <p:spPr>
          <a:xfrm>
            <a:off x="288576" y="2076902"/>
            <a:ext cx="17700187" cy="7638598"/>
          </a:xfrm>
          <a:prstGeom prst="rect">
            <a:avLst/>
          </a:prstGeom>
          <a:solidFill>
            <a:srgbClr val="EDECED"/>
          </a:solidFill>
        </p:spPr>
        <p:txBody>
          <a:bodyPr/>
          <a:lstStyle/>
          <a:p>
            <a:endParaRPr lang="vi-VN"/>
          </a:p>
        </p:txBody>
      </p:sp>
      <p:sp>
        <p:nvSpPr>
          <p:cNvPr id="26" name="TextBox 26">
            <a:extLst>
              <a:ext uri="{FF2B5EF4-FFF2-40B4-BE49-F238E27FC236}">
                <a16:creationId xmlns:a16="http://schemas.microsoft.com/office/drawing/2014/main" xmlns="" id="{F241592A-EDA2-1634-0D6E-F6E23C7D0688}"/>
              </a:ext>
            </a:extLst>
          </p:cNvPr>
          <p:cNvSpPr txBox="1"/>
          <p:nvPr/>
        </p:nvSpPr>
        <p:spPr>
          <a:xfrm>
            <a:off x="581369" y="514551"/>
            <a:ext cx="10447175" cy="1021267"/>
          </a:xfrm>
          <a:prstGeom prst="rect">
            <a:avLst/>
          </a:prstGeom>
        </p:spPr>
        <p:txBody>
          <a:bodyPr lIns="0" tIns="0" rIns="0" bIns="0" rtlCol="0" anchor="t">
            <a:spAutoFit/>
          </a:bodyPr>
          <a:lstStyle/>
          <a:p>
            <a:pPr marL="0" lvl="0" indent="0" algn="l">
              <a:lnSpc>
                <a:spcPts val="7727"/>
              </a:lnSpc>
              <a:spcBef>
                <a:spcPct val="0"/>
              </a:spcBef>
            </a:pPr>
            <a:r>
              <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rPr>
              <a:t>8.</a:t>
            </a:r>
            <a:r>
              <a:rPr lang="vi-VN" sz="7025" b="1" u="none">
                <a:solidFill>
                  <a:srgbClr val="1836B2"/>
                </a:solidFill>
                <a:latin typeface="Times New Roman" panose="02020603050405020304" pitchFamily="18" charset="0"/>
                <a:ea typeface="Cabin Semi-Bold"/>
                <a:cs typeface="Times New Roman" panose="02020603050405020304" pitchFamily="18" charset="0"/>
                <a:sym typeface="Cabin Semi-Bold"/>
              </a:rPr>
              <a:t>Dữ liệu thử nghiệm</a:t>
            </a:r>
            <a:endPar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28" name="TextBox 27">
            <a:extLst>
              <a:ext uri="{FF2B5EF4-FFF2-40B4-BE49-F238E27FC236}">
                <a16:creationId xmlns:a16="http://schemas.microsoft.com/office/drawing/2014/main" xmlns="" id="{CB0D3C57-DC8A-5B8B-88D5-A25CCEB6B8DF}"/>
              </a:ext>
            </a:extLst>
          </p:cNvPr>
          <p:cNvSpPr txBox="1"/>
          <p:nvPr/>
        </p:nvSpPr>
        <p:spPr>
          <a:xfrm>
            <a:off x="294178" y="2128510"/>
            <a:ext cx="17730137" cy="523220"/>
          </a:xfrm>
          <a:prstGeom prst="rect">
            <a:avLst/>
          </a:prstGeom>
          <a:noFill/>
        </p:spPr>
        <p:txBody>
          <a:bodyPr wrap="square" rtlCol="0">
            <a:spAutoFit/>
          </a:bodyPr>
          <a:lstStyle/>
          <a:p>
            <a:pPr algn="ctr"/>
            <a:r>
              <a:rPr lang="en-US" sz="2800"/>
              <a:t>Dữ liệu </a:t>
            </a:r>
            <a:r>
              <a:rPr lang="vi-VN" sz="2800" smtClean="0"/>
              <a:t>bảng </a:t>
            </a:r>
            <a:r>
              <a:rPr lang="en-US" sz="2800" b="1" smtClean="0"/>
              <a:t>sinhvien</a:t>
            </a:r>
            <a:endParaRPr lang="vi-VN" sz="2800" b="1"/>
          </a:p>
        </p:txBody>
      </p:sp>
      <p:sp>
        <p:nvSpPr>
          <p:cNvPr id="3" name="TextBox 2">
            <a:extLst>
              <a:ext uri="{FF2B5EF4-FFF2-40B4-BE49-F238E27FC236}">
                <a16:creationId xmlns:a16="http://schemas.microsoft.com/office/drawing/2014/main" xmlns="" id="{A1198196-DA69-4C47-BC26-E2AE1829933E}"/>
              </a:ext>
            </a:extLst>
          </p:cNvPr>
          <p:cNvSpPr txBox="1"/>
          <p:nvPr/>
        </p:nvSpPr>
        <p:spPr>
          <a:xfrm>
            <a:off x="258626" y="4768043"/>
            <a:ext cx="17730137" cy="523220"/>
          </a:xfrm>
          <a:prstGeom prst="rect">
            <a:avLst/>
          </a:prstGeom>
          <a:noFill/>
        </p:spPr>
        <p:txBody>
          <a:bodyPr wrap="square" rtlCol="0">
            <a:spAutoFit/>
          </a:bodyPr>
          <a:lstStyle/>
          <a:p>
            <a:pPr algn="ctr"/>
            <a:r>
              <a:rPr lang="en-US" sz="2800"/>
              <a:t>Dữ liệu </a:t>
            </a:r>
            <a:r>
              <a:rPr lang="vi-VN" sz="2800" smtClean="0"/>
              <a:t>bảng </a:t>
            </a:r>
            <a:r>
              <a:rPr lang="en-US" sz="2800" b="1" smtClean="0"/>
              <a:t>luutailieu</a:t>
            </a:r>
            <a:endParaRPr lang="vi-VN" sz="2800" b="1"/>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01" y="2651730"/>
            <a:ext cx="17553536" cy="186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36557" y="5291263"/>
            <a:ext cx="8004223" cy="411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07448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0FA5E6C-A0F4-7CAB-9852-8A237B78C730}"/>
            </a:ext>
          </a:extLst>
        </p:cNvPr>
        <p:cNvGrpSpPr/>
        <p:nvPr/>
      </p:nvGrpSpPr>
      <p:grpSpPr>
        <a:xfrm>
          <a:off x="0" y="0"/>
          <a:ext cx="0" cy="0"/>
          <a:chOff x="0" y="0"/>
          <a:chExt cx="0" cy="0"/>
        </a:xfrm>
      </p:grpSpPr>
      <p:sp>
        <p:nvSpPr>
          <p:cNvPr id="17" name="AutoShape 17">
            <a:extLst>
              <a:ext uri="{FF2B5EF4-FFF2-40B4-BE49-F238E27FC236}">
                <a16:creationId xmlns:a16="http://schemas.microsoft.com/office/drawing/2014/main" xmlns="" id="{6C50F48B-863E-9AEE-1B6C-FDA4533F6281}"/>
              </a:ext>
            </a:extLst>
          </p:cNvPr>
          <p:cNvSpPr/>
          <p:nvPr/>
        </p:nvSpPr>
        <p:spPr>
          <a:xfrm>
            <a:off x="288576" y="1535818"/>
            <a:ext cx="17700187" cy="8179682"/>
          </a:xfrm>
          <a:prstGeom prst="rect">
            <a:avLst/>
          </a:prstGeom>
          <a:solidFill>
            <a:srgbClr val="EDECED"/>
          </a:solidFill>
        </p:spPr>
        <p:txBody>
          <a:bodyPr/>
          <a:lstStyle/>
          <a:p>
            <a:endParaRPr lang="vi-VN"/>
          </a:p>
        </p:txBody>
      </p:sp>
      <p:sp>
        <p:nvSpPr>
          <p:cNvPr id="26" name="TextBox 26">
            <a:extLst>
              <a:ext uri="{FF2B5EF4-FFF2-40B4-BE49-F238E27FC236}">
                <a16:creationId xmlns:a16="http://schemas.microsoft.com/office/drawing/2014/main" xmlns="" id="{F241592A-EDA2-1634-0D6E-F6E23C7D0688}"/>
              </a:ext>
            </a:extLst>
          </p:cNvPr>
          <p:cNvSpPr txBox="1"/>
          <p:nvPr/>
        </p:nvSpPr>
        <p:spPr>
          <a:xfrm>
            <a:off x="581369" y="514551"/>
            <a:ext cx="10447175" cy="1021267"/>
          </a:xfrm>
          <a:prstGeom prst="rect">
            <a:avLst/>
          </a:prstGeom>
        </p:spPr>
        <p:txBody>
          <a:bodyPr lIns="0" tIns="0" rIns="0" bIns="0" rtlCol="0" anchor="t">
            <a:spAutoFit/>
          </a:bodyPr>
          <a:lstStyle/>
          <a:p>
            <a:pPr marL="0" lvl="0" indent="0" algn="l">
              <a:lnSpc>
                <a:spcPts val="7727"/>
              </a:lnSpc>
              <a:spcBef>
                <a:spcPct val="0"/>
              </a:spcBef>
            </a:pPr>
            <a:r>
              <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rPr>
              <a:t>8.</a:t>
            </a:r>
            <a:r>
              <a:rPr lang="vi-VN" sz="7025" b="1" u="none">
                <a:solidFill>
                  <a:srgbClr val="1836B2"/>
                </a:solidFill>
                <a:latin typeface="Times New Roman" panose="02020603050405020304" pitchFamily="18" charset="0"/>
                <a:ea typeface="Cabin Semi-Bold"/>
                <a:cs typeface="Times New Roman" panose="02020603050405020304" pitchFamily="18" charset="0"/>
                <a:sym typeface="Cabin Semi-Bold"/>
              </a:rPr>
              <a:t>Dữ liệu thử nghiệm</a:t>
            </a:r>
            <a:endPar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28" name="TextBox 27">
            <a:extLst>
              <a:ext uri="{FF2B5EF4-FFF2-40B4-BE49-F238E27FC236}">
                <a16:creationId xmlns:a16="http://schemas.microsoft.com/office/drawing/2014/main" xmlns="" id="{CB0D3C57-DC8A-5B8B-88D5-A25CCEB6B8DF}"/>
              </a:ext>
            </a:extLst>
          </p:cNvPr>
          <p:cNvSpPr txBox="1"/>
          <p:nvPr/>
        </p:nvSpPr>
        <p:spPr>
          <a:xfrm>
            <a:off x="294178" y="1562100"/>
            <a:ext cx="17694585" cy="523220"/>
          </a:xfrm>
          <a:prstGeom prst="rect">
            <a:avLst/>
          </a:prstGeom>
          <a:noFill/>
        </p:spPr>
        <p:txBody>
          <a:bodyPr wrap="square" rtlCol="0">
            <a:spAutoFit/>
          </a:bodyPr>
          <a:lstStyle/>
          <a:p>
            <a:pPr algn="ctr"/>
            <a:r>
              <a:rPr lang="en-US" sz="2800"/>
              <a:t>Dữ liệu </a:t>
            </a:r>
            <a:r>
              <a:rPr lang="vi-VN" sz="2800" smtClean="0"/>
              <a:t>bảng </a:t>
            </a:r>
            <a:r>
              <a:rPr lang="en-US" sz="2800" b="1" smtClean="0"/>
              <a:t>quantriven</a:t>
            </a:r>
            <a:endParaRPr lang="vi-VN" sz="2800" b="1"/>
          </a:p>
        </p:txBody>
      </p:sp>
      <p:sp>
        <p:nvSpPr>
          <p:cNvPr id="3" name="TextBox 2">
            <a:extLst>
              <a:ext uri="{FF2B5EF4-FFF2-40B4-BE49-F238E27FC236}">
                <a16:creationId xmlns:a16="http://schemas.microsoft.com/office/drawing/2014/main" xmlns="" id="{A1198196-DA69-4C47-BC26-E2AE1829933E}"/>
              </a:ext>
            </a:extLst>
          </p:cNvPr>
          <p:cNvSpPr txBox="1"/>
          <p:nvPr/>
        </p:nvSpPr>
        <p:spPr>
          <a:xfrm>
            <a:off x="294179" y="4563646"/>
            <a:ext cx="17730137" cy="523220"/>
          </a:xfrm>
          <a:prstGeom prst="rect">
            <a:avLst/>
          </a:prstGeom>
          <a:noFill/>
        </p:spPr>
        <p:txBody>
          <a:bodyPr wrap="square" rtlCol="0">
            <a:spAutoFit/>
          </a:bodyPr>
          <a:lstStyle/>
          <a:p>
            <a:pPr algn="ctr"/>
            <a:r>
              <a:rPr lang="en-US" sz="2800"/>
              <a:t>Dữ liệu </a:t>
            </a:r>
            <a:r>
              <a:rPr lang="vi-VN" sz="2800" smtClean="0"/>
              <a:t>bảng </a:t>
            </a:r>
            <a:r>
              <a:rPr lang="en-US" sz="2800" b="1" smtClean="0"/>
              <a:t>baocaovipham</a:t>
            </a:r>
            <a:endParaRPr lang="vi-VN" sz="2800" b="1"/>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4179" y="2085320"/>
            <a:ext cx="17659104" cy="2468146"/>
          </a:xfrm>
          <a:prstGeom prst="rect">
            <a:avLst/>
          </a:prstGeom>
          <a:noFill/>
          <a:ln>
            <a:noFill/>
          </a:ln>
          <a:effectLst/>
          <a:extLst/>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4800" y="5086866"/>
            <a:ext cx="17694585" cy="4448151"/>
          </a:xfrm>
          <a:prstGeom prst="rect">
            <a:avLst/>
          </a:prstGeom>
          <a:noFill/>
          <a:ln>
            <a:noFill/>
          </a:ln>
          <a:effectLst/>
          <a:extLst/>
        </p:spPr>
      </p:pic>
    </p:spTree>
    <p:extLst>
      <p:ext uri="{BB962C8B-B14F-4D97-AF65-F5344CB8AC3E}">
        <p14:creationId xmlns:p14="http://schemas.microsoft.com/office/powerpoint/2010/main" val="13840721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F09DED7-FAA7-2F17-099D-3CEF2EFA6FA7}"/>
            </a:ext>
          </a:extLst>
        </p:cNvPr>
        <p:cNvGrpSpPr/>
        <p:nvPr/>
      </p:nvGrpSpPr>
      <p:grpSpPr>
        <a:xfrm>
          <a:off x="0" y="0"/>
          <a:ext cx="0" cy="0"/>
          <a:chOff x="0" y="0"/>
          <a:chExt cx="0" cy="0"/>
        </a:xfrm>
      </p:grpSpPr>
      <p:sp>
        <p:nvSpPr>
          <p:cNvPr id="17" name="AutoShape 17">
            <a:extLst>
              <a:ext uri="{FF2B5EF4-FFF2-40B4-BE49-F238E27FC236}">
                <a16:creationId xmlns:a16="http://schemas.microsoft.com/office/drawing/2014/main" xmlns="" id="{3B0F2315-123B-E74B-D679-0AD4AA3DBBC9}"/>
              </a:ext>
            </a:extLst>
          </p:cNvPr>
          <p:cNvSpPr/>
          <p:nvPr/>
        </p:nvSpPr>
        <p:spPr>
          <a:xfrm>
            <a:off x="293907" y="1535818"/>
            <a:ext cx="17700187" cy="8469851"/>
          </a:xfrm>
          <a:prstGeom prst="rect">
            <a:avLst/>
          </a:prstGeom>
          <a:solidFill>
            <a:srgbClr val="EDECED"/>
          </a:solidFill>
        </p:spPr>
        <p:txBody>
          <a:bodyPr/>
          <a:lstStyle/>
          <a:p>
            <a:endParaRPr lang="vi-VN"/>
          </a:p>
        </p:txBody>
      </p:sp>
      <p:sp>
        <p:nvSpPr>
          <p:cNvPr id="26" name="TextBox 26">
            <a:extLst>
              <a:ext uri="{FF2B5EF4-FFF2-40B4-BE49-F238E27FC236}">
                <a16:creationId xmlns:a16="http://schemas.microsoft.com/office/drawing/2014/main" xmlns="" id="{A1CBF03F-1E73-AC25-5439-409936996ED1}"/>
              </a:ext>
            </a:extLst>
          </p:cNvPr>
          <p:cNvSpPr txBox="1"/>
          <p:nvPr/>
        </p:nvSpPr>
        <p:spPr>
          <a:xfrm>
            <a:off x="581369" y="514551"/>
            <a:ext cx="10447175" cy="1021267"/>
          </a:xfrm>
          <a:prstGeom prst="rect">
            <a:avLst/>
          </a:prstGeom>
        </p:spPr>
        <p:txBody>
          <a:bodyPr lIns="0" tIns="0" rIns="0" bIns="0" rtlCol="0" anchor="t">
            <a:spAutoFit/>
          </a:bodyPr>
          <a:lstStyle/>
          <a:p>
            <a:pPr marL="0" lvl="0" indent="0" algn="l">
              <a:lnSpc>
                <a:spcPts val="7727"/>
              </a:lnSpc>
              <a:spcBef>
                <a:spcPct val="0"/>
              </a:spcBef>
            </a:pPr>
            <a:r>
              <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rPr>
              <a:t>8.</a:t>
            </a:r>
            <a:r>
              <a:rPr lang="vi-VN" sz="7025" b="1" u="none">
                <a:solidFill>
                  <a:srgbClr val="1836B2"/>
                </a:solidFill>
                <a:latin typeface="Times New Roman" panose="02020603050405020304" pitchFamily="18" charset="0"/>
                <a:ea typeface="Cabin Semi-Bold"/>
                <a:cs typeface="Times New Roman" panose="02020603050405020304" pitchFamily="18" charset="0"/>
                <a:sym typeface="Cabin Semi-Bold"/>
              </a:rPr>
              <a:t>Dữ liệu thử nghiệm</a:t>
            </a:r>
            <a:endPar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28" name="TextBox 27">
            <a:extLst>
              <a:ext uri="{FF2B5EF4-FFF2-40B4-BE49-F238E27FC236}">
                <a16:creationId xmlns:a16="http://schemas.microsoft.com/office/drawing/2014/main" xmlns="" id="{B8FDFC77-393A-5DD9-A574-1EFD0E1EB706}"/>
              </a:ext>
            </a:extLst>
          </p:cNvPr>
          <p:cNvSpPr txBox="1"/>
          <p:nvPr/>
        </p:nvSpPr>
        <p:spPr>
          <a:xfrm>
            <a:off x="293907" y="1535818"/>
            <a:ext cx="17730137" cy="523220"/>
          </a:xfrm>
          <a:prstGeom prst="rect">
            <a:avLst/>
          </a:prstGeom>
          <a:noFill/>
        </p:spPr>
        <p:txBody>
          <a:bodyPr wrap="square" rtlCol="0">
            <a:spAutoFit/>
          </a:bodyPr>
          <a:lstStyle/>
          <a:p>
            <a:pPr algn="ctr"/>
            <a:r>
              <a:rPr lang="en-US" sz="2800"/>
              <a:t>Dữ liệu </a:t>
            </a:r>
            <a:r>
              <a:rPr lang="vi-VN" sz="2800" smtClean="0"/>
              <a:t>bảng </a:t>
            </a:r>
            <a:r>
              <a:rPr lang="vi-VN" sz="2800" b="1"/>
              <a:t>NguoiDung</a:t>
            </a:r>
          </a:p>
        </p:txBody>
      </p:sp>
      <p:sp>
        <p:nvSpPr>
          <p:cNvPr id="3" name="TextBox 2">
            <a:extLst>
              <a:ext uri="{FF2B5EF4-FFF2-40B4-BE49-F238E27FC236}">
                <a16:creationId xmlns:a16="http://schemas.microsoft.com/office/drawing/2014/main" xmlns="" id="{979563D5-151C-6505-DB60-52086E1E5A3B}"/>
              </a:ext>
            </a:extLst>
          </p:cNvPr>
          <p:cNvSpPr txBox="1"/>
          <p:nvPr/>
        </p:nvSpPr>
        <p:spPr>
          <a:xfrm>
            <a:off x="278931" y="6747574"/>
            <a:ext cx="17730137" cy="523220"/>
          </a:xfrm>
          <a:prstGeom prst="rect">
            <a:avLst/>
          </a:prstGeom>
          <a:noFill/>
        </p:spPr>
        <p:txBody>
          <a:bodyPr wrap="square" rtlCol="0">
            <a:spAutoFit/>
          </a:bodyPr>
          <a:lstStyle/>
          <a:p>
            <a:pPr algn="ctr"/>
            <a:r>
              <a:rPr lang="en-US" sz="2800"/>
              <a:t>Dữ liệu </a:t>
            </a:r>
            <a:r>
              <a:rPr lang="vi-VN" sz="2800" smtClean="0"/>
              <a:t>bảng </a:t>
            </a:r>
            <a:r>
              <a:rPr lang="vi-VN" sz="2800" b="1"/>
              <a:t>SanPham</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6" y="2059038"/>
            <a:ext cx="17700188" cy="4688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2011" y="7258093"/>
            <a:ext cx="4763976" cy="273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9121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3E5DC85-F952-31A8-61D3-8AD9BC66B5CA}"/>
            </a:ext>
          </a:extLst>
        </p:cNvPr>
        <p:cNvGrpSpPr/>
        <p:nvPr/>
      </p:nvGrpSpPr>
      <p:grpSpPr>
        <a:xfrm>
          <a:off x="0" y="0"/>
          <a:ext cx="0" cy="0"/>
          <a:chOff x="0" y="0"/>
          <a:chExt cx="0" cy="0"/>
        </a:xfrm>
      </p:grpSpPr>
      <p:sp>
        <p:nvSpPr>
          <p:cNvPr id="17" name="AutoShape 17">
            <a:extLst>
              <a:ext uri="{FF2B5EF4-FFF2-40B4-BE49-F238E27FC236}">
                <a16:creationId xmlns:a16="http://schemas.microsoft.com/office/drawing/2014/main" xmlns="" id="{C0764FA9-8A57-C4BB-0597-88980E4690D2}"/>
              </a:ext>
            </a:extLst>
          </p:cNvPr>
          <p:cNvSpPr/>
          <p:nvPr/>
        </p:nvSpPr>
        <p:spPr>
          <a:xfrm>
            <a:off x="293907" y="1535818"/>
            <a:ext cx="17807209" cy="8469851"/>
          </a:xfrm>
          <a:prstGeom prst="rect">
            <a:avLst/>
          </a:prstGeom>
          <a:solidFill>
            <a:srgbClr val="EDECED"/>
          </a:solidFill>
        </p:spPr>
        <p:txBody>
          <a:bodyPr/>
          <a:lstStyle/>
          <a:p>
            <a:endParaRPr lang="vi-VN"/>
          </a:p>
        </p:txBody>
      </p:sp>
      <p:sp>
        <p:nvSpPr>
          <p:cNvPr id="26" name="TextBox 26">
            <a:extLst>
              <a:ext uri="{FF2B5EF4-FFF2-40B4-BE49-F238E27FC236}">
                <a16:creationId xmlns:a16="http://schemas.microsoft.com/office/drawing/2014/main" xmlns="" id="{6581270E-BD24-559B-503A-0A3B76E47D69}"/>
              </a:ext>
            </a:extLst>
          </p:cNvPr>
          <p:cNvSpPr txBox="1"/>
          <p:nvPr/>
        </p:nvSpPr>
        <p:spPr>
          <a:xfrm>
            <a:off x="581369" y="514551"/>
            <a:ext cx="10447175" cy="1021267"/>
          </a:xfrm>
          <a:prstGeom prst="rect">
            <a:avLst/>
          </a:prstGeom>
        </p:spPr>
        <p:txBody>
          <a:bodyPr lIns="0" tIns="0" rIns="0" bIns="0" rtlCol="0" anchor="t">
            <a:spAutoFit/>
          </a:bodyPr>
          <a:lstStyle/>
          <a:p>
            <a:pPr marL="0" lvl="0" indent="0" algn="l">
              <a:lnSpc>
                <a:spcPts val="7727"/>
              </a:lnSpc>
              <a:spcBef>
                <a:spcPct val="0"/>
              </a:spcBef>
            </a:pPr>
            <a:r>
              <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rPr>
              <a:t>8.</a:t>
            </a:r>
            <a:r>
              <a:rPr lang="vi-VN" sz="7025" b="1" u="none">
                <a:solidFill>
                  <a:srgbClr val="1836B2"/>
                </a:solidFill>
                <a:latin typeface="Times New Roman" panose="02020603050405020304" pitchFamily="18" charset="0"/>
                <a:ea typeface="Cabin Semi-Bold"/>
                <a:cs typeface="Times New Roman" panose="02020603050405020304" pitchFamily="18" charset="0"/>
                <a:sym typeface="Cabin Semi-Bold"/>
              </a:rPr>
              <a:t>Dữ liệu thử nghiệm</a:t>
            </a:r>
            <a:endPar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28" name="TextBox 27">
            <a:extLst>
              <a:ext uri="{FF2B5EF4-FFF2-40B4-BE49-F238E27FC236}">
                <a16:creationId xmlns:a16="http://schemas.microsoft.com/office/drawing/2014/main" xmlns="" id="{9532D1C3-243A-A143-B3AE-597B675F4C1C}"/>
              </a:ext>
            </a:extLst>
          </p:cNvPr>
          <p:cNvSpPr txBox="1"/>
          <p:nvPr/>
        </p:nvSpPr>
        <p:spPr>
          <a:xfrm>
            <a:off x="293907" y="1535818"/>
            <a:ext cx="8850093" cy="523220"/>
          </a:xfrm>
          <a:prstGeom prst="rect">
            <a:avLst/>
          </a:prstGeom>
          <a:noFill/>
        </p:spPr>
        <p:txBody>
          <a:bodyPr wrap="square" rtlCol="0">
            <a:spAutoFit/>
          </a:bodyPr>
          <a:lstStyle/>
          <a:p>
            <a:pPr algn="ctr"/>
            <a:r>
              <a:rPr lang="en-US" sz="2800" smtClean="0"/>
              <a:t>Dữ liệu </a:t>
            </a:r>
            <a:r>
              <a:rPr lang="vi-VN" sz="2800" smtClean="0"/>
              <a:t>bảng</a:t>
            </a:r>
            <a:r>
              <a:rPr lang="en-US" sz="2800" b="1" smtClean="0"/>
              <a:t> loaitailieu</a:t>
            </a:r>
            <a:endParaRPr lang="vi-VN" sz="2800" b="1"/>
          </a:p>
        </p:txBody>
      </p:sp>
      <p:sp>
        <p:nvSpPr>
          <p:cNvPr id="9" name="TextBox 8">
            <a:extLst>
              <a:ext uri="{FF2B5EF4-FFF2-40B4-BE49-F238E27FC236}">
                <a16:creationId xmlns:a16="http://schemas.microsoft.com/office/drawing/2014/main" xmlns="" id="{9532D1C3-243A-A143-B3AE-597B675F4C1C}"/>
              </a:ext>
            </a:extLst>
          </p:cNvPr>
          <p:cNvSpPr txBox="1"/>
          <p:nvPr/>
        </p:nvSpPr>
        <p:spPr>
          <a:xfrm>
            <a:off x="9144000" y="1535818"/>
            <a:ext cx="8957116" cy="523220"/>
          </a:xfrm>
          <a:prstGeom prst="rect">
            <a:avLst/>
          </a:prstGeom>
          <a:noFill/>
        </p:spPr>
        <p:txBody>
          <a:bodyPr wrap="square" rtlCol="0">
            <a:spAutoFit/>
          </a:bodyPr>
          <a:lstStyle/>
          <a:p>
            <a:pPr algn="ctr"/>
            <a:r>
              <a:rPr lang="en-US" sz="2800"/>
              <a:t>Dữ liệu </a:t>
            </a:r>
            <a:r>
              <a:rPr lang="vi-VN" sz="2800" smtClean="0"/>
              <a:t>bảng </a:t>
            </a:r>
            <a:r>
              <a:rPr lang="en-US" sz="2800" b="1" smtClean="0"/>
              <a:t>tag</a:t>
            </a:r>
            <a:endParaRPr lang="vi-VN" sz="2800" b="1"/>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1374" y="2059037"/>
            <a:ext cx="2575158" cy="3056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45354" y="2059036"/>
            <a:ext cx="1404729" cy="3056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a:extLst>
              <a:ext uri="{FF2B5EF4-FFF2-40B4-BE49-F238E27FC236}">
                <a16:creationId xmlns:a16="http://schemas.microsoft.com/office/drawing/2014/main" xmlns="" id="{9532D1C3-243A-A143-B3AE-597B675F4C1C}"/>
              </a:ext>
            </a:extLst>
          </p:cNvPr>
          <p:cNvSpPr txBox="1"/>
          <p:nvPr/>
        </p:nvSpPr>
        <p:spPr>
          <a:xfrm>
            <a:off x="293907" y="5133455"/>
            <a:ext cx="8850093" cy="523220"/>
          </a:xfrm>
          <a:prstGeom prst="rect">
            <a:avLst/>
          </a:prstGeom>
          <a:noFill/>
        </p:spPr>
        <p:txBody>
          <a:bodyPr wrap="square" rtlCol="0">
            <a:spAutoFit/>
          </a:bodyPr>
          <a:lstStyle/>
          <a:p>
            <a:pPr algn="ctr"/>
            <a:r>
              <a:rPr lang="en-US" sz="2800"/>
              <a:t>Dữ liệu </a:t>
            </a:r>
            <a:r>
              <a:rPr lang="vi-VN" sz="2800" smtClean="0"/>
              <a:t>bảng</a:t>
            </a:r>
            <a:r>
              <a:rPr lang="en-US" sz="2800" b="1" smtClean="0"/>
              <a:t> mon</a:t>
            </a:r>
            <a:endParaRPr lang="vi-VN" sz="2800" b="1"/>
          </a:p>
        </p:txBody>
      </p:sp>
      <p:sp>
        <p:nvSpPr>
          <p:cNvPr id="14" name="TextBox 13">
            <a:extLst>
              <a:ext uri="{FF2B5EF4-FFF2-40B4-BE49-F238E27FC236}">
                <a16:creationId xmlns:a16="http://schemas.microsoft.com/office/drawing/2014/main" xmlns="" id="{9532D1C3-243A-A143-B3AE-597B675F4C1C}"/>
              </a:ext>
            </a:extLst>
          </p:cNvPr>
          <p:cNvSpPr txBox="1"/>
          <p:nvPr/>
        </p:nvSpPr>
        <p:spPr>
          <a:xfrm>
            <a:off x="9118600" y="5142115"/>
            <a:ext cx="8957116" cy="523220"/>
          </a:xfrm>
          <a:prstGeom prst="rect">
            <a:avLst/>
          </a:prstGeom>
          <a:noFill/>
        </p:spPr>
        <p:txBody>
          <a:bodyPr wrap="square" rtlCol="0">
            <a:spAutoFit/>
          </a:bodyPr>
          <a:lstStyle/>
          <a:p>
            <a:pPr algn="ctr"/>
            <a:r>
              <a:rPr lang="en-US" sz="2800"/>
              <a:t>Dữ liệu </a:t>
            </a:r>
            <a:r>
              <a:rPr lang="vi-VN" sz="2800" smtClean="0"/>
              <a:t>bảng </a:t>
            </a:r>
            <a:r>
              <a:rPr lang="en-US" sz="2800" b="1" smtClean="0"/>
              <a:t>nganh</a:t>
            </a:r>
            <a:endParaRPr lang="vi-VN" sz="2800" b="1"/>
          </a:p>
        </p:txBody>
      </p:sp>
      <p:pic>
        <p:nvPicPr>
          <p:cNvPr id="30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3065" y="5665335"/>
            <a:ext cx="2771775" cy="414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76686" y="5656675"/>
            <a:ext cx="4342064" cy="3288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34531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3E5DC85-F952-31A8-61D3-8AD9BC66B5CA}"/>
            </a:ext>
          </a:extLst>
        </p:cNvPr>
        <p:cNvGrpSpPr/>
        <p:nvPr/>
      </p:nvGrpSpPr>
      <p:grpSpPr>
        <a:xfrm>
          <a:off x="0" y="0"/>
          <a:ext cx="0" cy="0"/>
          <a:chOff x="0" y="0"/>
          <a:chExt cx="0" cy="0"/>
        </a:xfrm>
      </p:grpSpPr>
      <p:sp>
        <p:nvSpPr>
          <p:cNvPr id="17" name="AutoShape 17">
            <a:extLst>
              <a:ext uri="{FF2B5EF4-FFF2-40B4-BE49-F238E27FC236}">
                <a16:creationId xmlns:a16="http://schemas.microsoft.com/office/drawing/2014/main" xmlns="" id="{C0764FA9-8A57-C4BB-0597-88980E4690D2}"/>
              </a:ext>
            </a:extLst>
          </p:cNvPr>
          <p:cNvSpPr/>
          <p:nvPr/>
        </p:nvSpPr>
        <p:spPr>
          <a:xfrm>
            <a:off x="293907" y="1535818"/>
            <a:ext cx="17807209" cy="8469851"/>
          </a:xfrm>
          <a:prstGeom prst="rect">
            <a:avLst/>
          </a:prstGeom>
          <a:solidFill>
            <a:srgbClr val="EDECED"/>
          </a:solidFill>
        </p:spPr>
        <p:txBody>
          <a:bodyPr/>
          <a:lstStyle/>
          <a:p>
            <a:endParaRPr lang="vi-VN"/>
          </a:p>
        </p:txBody>
      </p:sp>
      <p:sp>
        <p:nvSpPr>
          <p:cNvPr id="26" name="TextBox 26">
            <a:extLst>
              <a:ext uri="{FF2B5EF4-FFF2-40B4-BE49-F238E27FC236}">
                <a16:creationId xmlns:a16="http://schemas.microsoft.com/office/drawing/2014/main" xmlns="" id="{6581270E-BD24-559B-503A-0A3B76E47D69}"/>
              </a:ext>
            </a:extLst>
          </p:cNvPr>
          <p:cNvSpPr txBox="1"/>
          <p:nvPr/>
        </p:nvSpPr>
        <p:spPr>
          <a:xfrm>
            <a:off x="581369" y="514551"/>
            <a:ext cx="10447175" cy="1021267"/>
          </a:xfrm>
          <a:prstGeom prst="rect">
            <a:avLst/>
          </a:prstGeom>
        </p:spPr>
        <p:txBody>
          <a:bodyPr lIns="0" tIns="0" rIns="0" bIns="0" rtlCol="0" anchor="t">
            <a:spAutoFit/>
          </a:bodyPr>
          <a:lstStyle/>
          <a:p>
            <a:pPr marL="0" lvl="0" indent="0" algn="l">
              <a:lnSpc>
                <a:spcPts val="7727"/>
              </a:lnSpc>
              <a:spcBef>
                <a:spcPct val="0"/>
              </a:spcBef>
            </a:pPr>
            <a:r>
              <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rPr>
              <a:t>8.</a:t>
            </a:r>
            <a:r>
              <a:rPr lang="vi-VN" sz="7025" b="1" u="none">
                <a:solidFill>
                  <a:srgbClr val="1836B2"/>
                </a:solidFill>
                <a:latin typeface="Times New Roman" panose="02020603050405020304" pitchFamily="18" charset="0"/>
                <a:ea typeface="Cabin Semi-Bold"/>
                <a:cs typeface="Times New Roman" panose="02020603050405020304" pitchFamily="18" charset="0"/>
                <a:sym typeface="Cabin Semi-Bold"/>
              </a:rPr>
              <a:t>Dữ liệu thử nghiệm</a:t>
            </a:r>
            <a:endPar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28" name="TextBox 27">
            <a:extLst>
              <a:ext uri="{FF2B5EF4-FFF2-40B4-BE49-F238E27FC236}">
                <a16:creationId xmlns:a16="http://schemas.microsoft.com/office/drawing/2014/main" xmlns="" id="{9532D1C3-243A-A143-B3AE-597B675F4C1C}"/>
              </a:ext>
            </a:extLst>
          </p:cNvPr>
          <p:cNvSpPr txBox="1"/>
          <p:nvPr/>
        </p:nvSpPr>
        <p:spPr>
          <a:xfrm>
            <a:off x="293907" y="1535818"/>
            <a:ext cx="17807209" cy="523220"/>
          </a:xfrm>
          <a:prstGeom prst="rect">
            <a:avLst/>
          </a:prstGeom>
          <a:noFill/>
        </p:spPr>
        <p:txBody>
          <a:bodyPr wrap="square" rtlCol="0">
            <a:spAutoFit/>
          </a:bodyPr>
          <a:lstStyle/>
          <a:p>
            <a:pPr algn="ctr"/>
            <a:r>
              <a:rPr lang="en-US" sz="2800" smtClean="0"/>
              <a:t>Dữ liệu </a:t>
            </a:r>
            <a:r>
              <a:rPr lang="vi-VN" sz="2800" smtClean="0"/>
              <a:t>bảng</a:t>
            </a:r>
            <a:r>
              <a:rPr lang="en-US" sz="2800" b="1" smtClean="0"/>
              <a:t> loaitailieu</a:t>
            </a:r>
            <a:endParaRPr lang="vi-VN" sz="2800" b="1"/>
          </a:p>
        </p:txBody>
      </p:sp>
      <p:sp>
        <p:nvSpPr>
          <p:cNvPr id="13" name="TextBox 12">
            <a:extLst>
              <a:ext uri="{FF2B5EF4-FFF2-40B4-BE49-F238E27FC236}">
                <a16:creationId xmlns:a16="http://schemas.microsoft.com/office/drawing/2014/main" xmlns="" id="{9532D1C3-243A-A143-B3AE-597B675F4C1C}"/>
              </a:ext>
            </a:extLst>
          </p:cNvPr>
          <p:cNvSpPr txBox="1"/>
          <p:nvPr/>
        </p:nvSpPr>
        <p:spPr>
          <a:xfrm>
            <a:off x="293907" y="5133455"/>
            <a:ext cx="17807209" cy="523220"/>
          </a:xfrm>
          <a:prstGeom prst="rect">
            <a:avLst/>
          </a:prstGeom>
          <a:noFill/>
        </p:spPr>
        <p:txBody>
          <a:bodyPr wrap="square" rtlCol="0">
            <a:spAutoFit/>
          </a:bodyPr>
          <a:lstStyle/>
          <a:p>
            <a:pPr algn="ctr"/>
            <a:r>
              <a:rPr lang="en-US" sz="2800"/>
              <a:t>Dữ liệu </a:t>
            </a:r>
            <a:r>
              <a:rPr lang="vi-VN" sz="2800" smtClean="0"/>
              <a:t>bảng</a:t>
            </a:r>
            <a:r>
              <a:rPr lang="en-US" sz="2800" b="1" smtClean="0"/>
              <a:t> danhsachtag</a:t>
            </a:r>
            <a:endParaRPr lang="vi-VN" sz="2800" b="1"/>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9382" y="2071738"/>
            <a:ext cx="3976256" cy="3061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9934" y="5656675"/>
            <a:ext cx="1915153" cy="4348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89737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F09DED7-FAA7-2F17-099D-3CEF2EFA6FA7}"/>
            </a:ext>
          </a:extLst>
        </p:cNvPr>
        <p:cNvGrpSpPr/>
        <p:nvPr/>
      </p:nvGrpSpPr>
      <p:grpSpPr>
        <a:xfrm>
          <a:off x="0" y="0"/>
          <a:ext cx="0" cy="0"/>
          <a:chOff x="0" y="0"/>
          <a:chExt cx="0" cy="0"/>
        </a:xfrm>
      </p:grpSpPr>
      <p:sp>
        <p:nvSpPr>
          <p:cNvPr id="17" name="AutoShape 17">
            <a:extLst>
              <a:ext uri="{FF2B5EF4-FFF2-40B4-BE49-F238E27FC236}">
                <a16:creationId xmlns:a16="http://schemas.microsoft.com/office/drawing/2014/main" xmlns="" id="{3B0F2315-123B-E74B-D679-0AD4AA3DBBC9}"/>
              </a:ext>
            </a:extLst>
          </p:cNvPr>
          <p:cNvSpPr/>
          <p:nvPr/>
        </p:nvSpPr>
        <p:spPr>
          <a:xfrm>
            <a:off x="293907" y="1535818"/>
            <a:ext cx="17700187" cy="8469851"/>
          </a:xfrm>
          <a:prstGeom prst="rect">
            <a:avLst/>
          </a:prstGeom>
          <a:solidFill>
            <a:srgbClr val="EDECED"/>
          </a:solidFill>
        </p:spPr>
        <p:txBody>
          <a:bodyPr/>
          <a:lstStyle/>
          <a:p>
            <a:endParaRPr lang="vi-VN"/>
          </a:p>
        </p:txBody>
      </p:sp>
      <p:sp>
        <p:nvSpPr>
          <p:cNvPr id="26" name="TextBox 26">
            <a:extLst>
              <a:ext uri="{FF2B5EF4-FFF2-40B4-BE49-F238E27FC236}">
                <a16:creationId xmlns:a16="http://schemas.microsoft.com/office/drawing/2014/main" xmlns="" id="{A1CBF03F-1E73-AC25-5439-409936996ED1}"/>
              </a:ext>
            </a:extLst>
          </p:cNvPr>
          <p:cNvSpPr txBox="1"/>
          <p:nvPr/>
        </p:nvSpPr>
        <p:spPr>
          <a:xfrm>
            <a:off x="581369" y="514551"/>
            <a:ext cx="10447175" cy="1021267"/>
          </a:xfrm>
          <a:prstGeom prst="rect">
            <a:avLst/>
          </a:prstGeom>
        </p:spPr>
        <p:txBody>
          <a:bodyPr lIns="0" tIns="0" rIns="0" bIns="0" rtlCol="0" anchor="t">
            <a:spAutoFit/>
          </a:bodyPr>
          <a:lstStyle/>
          <a:p>
            <a:pPr marL="0" lvl="0" indent="0" algn="l">
              <a:lnSpc>
                <a:spcPts val="7727"/>
              </a:lnSpc>
              <a:spcBef>
                <a:spcPct val="0"/>
              </a:spcBef>
            </a:pPr>
            <a:r>
              <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rPr>
              <a:t>8.</a:t>
            </a:r>
            <a:r>
              <a:rPr lang="vi-VN" sz="7025" b="1" u="none">
                <a:solidFill>
                  <a:srgbClr val="1836B2"/>
                </a:solidFill>
                <a:latin typeface="Times New Roman" panose="02020603050405020304" pitchFamily="18" charset="0"/>
                <a:ea typeface="Cabin Semi-Bold"/>
                <a:cs typeface="Times New Roman" panose="02020603050405020304" pitchFamily="18" charset="0"/>
                <a:sym typeface="Cabin Semi-Bold"/>
              </a:rPr>
              <a:t>Dữ liệu thử nghiệm</a:t>
            </a:r>
            <a:endPar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28" name="TextBox 27">
            <a:extLst>
              <a:ext uri="{FF2B5EF4-FFF2-40B4-BE49-F238E27FC236}">
                <a16:creationId xmlns:a16="http://schemas.microsoft.com/office/drawing/2014/main" xmlns="" id="{B8FDFC77-393A-5DD9-A574-1EFD0E1EB706}"/>
              </a:ext>
            </a:extLst>
          </p:cNvPr>
          <p:cNvSpPr txBox="1"/>
          <p:nvPr/>
        </p:nvSpPr>
        <p:spPr>
          <a:xfrm>
            <a:off x="293907" y="1535818"/>
            <a:ext cx="17730137" cy="523220"/>
          </a:xfrm>
          <a:prstGeom prst="rect">
            <a:avLst/>
          </a:prstGeom>
          <a:noFill/>
        </p:spPr>
        <p:txBody>
          <a:bodyPr wrap="square" rtlCol="0">
            <a:spAutoFit/>
          </a:bodyPr>
          <a:lstStyle/>
          <a:p>
            <a:pPr algn="ctr"/>
            <a:r>
              <a:rPr lang="en-US" sz="2800"/>
              <a:t>Dữ liệu </a:t>
            </a:r>
            <a:r>
              <a:rPr lang="vi-VN" sz="2800" smtClean="0"/>
              <a:t>bảng </a:t>
            </a:r>
            <a:r>
              <a:rPr lang="en-US" sz="2800" b="1" smtClean="0"/>
              <a:t>cauhoi</a:t>
            </a:r>
            <a:endParaRPr lang="vi-VN" sz="2800" b="1"/>
          </a:p>
        </p:txBody>
      </p:sp>
      <p:sp>
        <p:nvSpPr>
          <p:cNvPr id="3" name="TextBox 2">
            <a:extLst>
              <a:ext uri="{FF2B5EF4-FFF2-40B4-BE49-F238E27FC236}">
                <a16:creationId xmlns:a16="http://schemas.microsoft.com/office/drawing/2014/main" xmlns="" id="{979563D5-151C-6505-DB60-52086E1E5A3B}"/>
              </a:ext>
            </a:extLst>
          </p:cNvPr>
          <p:cNvSpPr txBox="1"/>
          <p:nvPr/>
        </p:nvSpPr>
        <p:spPr>
          <a:xfrm>
            <a:off x="278931" y="6747574"/>
            <a:ext cx="17730137" cy="523220"/>
          </a:xfrm>
          <a:prstGeom prst="rect">
            <a:avLst/>
          </a:prstGeom>
          <a:noFill/>
        </p:spPr>
        <p:txBody>
          <a:bodyPr wrap="square" rtlCol="0">
            <a:spAutoFit/>
          </a:bodyPr>
          <a:lstStyle/>
          <a:p>
            <a:pPr algn="ctr"/>
            <a:r>
              <a:rPr lang="en-US" sz="2800"/>
              <a:t>Dữ liệu </a:t>
            </a:r>
            <a:r>
              <a:rPr lang="vi-VN" sz="2800" smtClean="0"/>
              <a:t>bảng </a:t>
            </a:r>
            <a:r>
              <a:rPr lang="en-US" sz="2800" b="1" smtClean="0"/>
              <a:t>danhgiacauhoi</a:t>
            </a:r>
            <a:endParaRPr lang="vi-VN" sz="2800" b="1"/>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6" y="2059038"/>
            <a:ext cx="17700188" cy="4688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2011" y="7258093"/>
            <a:ext cx="4763976" cy="273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57648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F09DED7-FAA7-2F17-099D-3CEF2EFA6FA7}"/>
            </a:ext>
          </a:extLst>
        </p:cNvPr>
        <p:cNvGrpSpPr/>
        <p:nvPr/>
      </p:nvGrpSpPr>
      <p:grpSpPr>
        <a:xfrm>
          <a:off x="0" y="0"/>
          <a:ext cx="0" cy="0"/>
          <a:chOff x="0" y="0"/>
          <a:chExt cx="0" cy="0"/>
        </a:xfrm>
      </p:grpSpPr>
      <p:sp>
        <p:nvSpPr>
          <p:cNvPr id="17" name="AutoShape 17">
            <a:extLst>
              <a:ext uri="{FF2B5EF4-FFF2-40B4-BE49-F238E27FC236}">
                <a16:creationId xmlns:a16="http://schemas.microsoft.com/office/drawing/2014/main" xmlns="" id="{3B0F2315-123B-E74B-D679-0AD4AA3DBBC9}"/>
              </a:ext>
            </a:extLst>
          </p:cNvPr>
          <p:cNvSpPr/>
          <p:nvPr/>
        </p:nvSpPr>
        <p:spPr>
          <a:xfrm>
            <a:off x="293907" y="1535818"/>
            <a:ext cx="17700187" cy="8469851"/>
          </a:xfrm>
          <a:prstGeom prst="rect">
            <a:avLst/>
          </a:prstGeom>
          <a:solidFill>
            <a:srgbClr val="EDECED"/>
          </a:solidFill>
        </p:spPr>
        <p:txBody>
          <a:bodyPr/>
          <a:lstStyle/>
          <a:p>
            <a:endParaRPr lang="vi-VN"/>
          </a:p>
        </p:txBody>
      </p:sp>
      <p:sp>
        <p:nvSpPr>
          <p:cNvPr id="26" name="TextBox 26">
            <a:extLst>
              <a:ext uri="{FF2B5EF4-FFF2-40B4-BE49-F238E27FC236}">
                <a16:creationId xmlns:a16="http://schemas.microsoft.com/office/drawing/2014/main" xmlns="" id="{A1CBF03F-1E73-AC25-5439-409936996ED1}"/>
              </a:ext>
            </a:extLst>
          </p:cNvPr>
          <p:cNvSpPr txBox="1"/>
          <p:nvPr/>
        </p:nvSpPr>
        <p:spPr>
          <a:xfrm>
            <a:off x="581369" y="514551"/>
            <a:ext cx="10447175" cy="1021267"/>
          </a:xfrm>
          <a:prstGeom prst="rect">
            <a:avLst/>
          </a:prstGeom>
        </p:spPr>
        <p:txBody>
          <a:bodyPr lIns="0" tIns="0" rIns="0" bIns="0" rtlCol="0" anchor="t">
            <a:spAutoFit/>
          </a:bodyPr>
          <a:lstStyle/>
          <a:p>
            <a:pPr marL="0" lvl="0" indent="0" algn="l">
              <a:lnSpc>
                <a:spcPts val="7727"/>
              </a:lnSpc>
              <a:spcBef>
                <a:spcPct val="0"/>
              </a:spcBef>
            </a:pPr>
            <a:r>
              <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rPr>
              <a:t>8.</a:t>
            </a:r>
            <a:r>
              <a:rPr lang="vi-VN" sz="7025" b="1" u="none">
                <a:solidFill>
                  <a:srgbClr val="1836B2"/>
                </a:solidFill>
                <a:latin typeface="Times New Roman" panose="02020603050405020304" pitchFamily="18" charset="0"/>
                <a:ea typeface="Cabin Semi-Bold"/>
                <a:cs typeface="Times New Roman" panose="02020603050405020304" pitchFamily="18" charset="0"/>
                <a:sym typeface="Cabin Semi-Bold"/>
              </a:rPr>
              <a:t>Dữ liệu thử nghiệm</a:t>
            </a:r>
            <a:endPar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28" name="TextBox 27">
            <a:extLst>
              <a:ext uri="{FF2B5EF4-FFF2-40B4-BE49-F238E27FC236}">
                <a16:creationId xmlns:a16="http://schemas.microsoft.com/office/drawing/2014/main" xmlns="" id="{B8FDFC77-393A-5DD9-A574-1EFD0E1EB706}"/>
              </a:ext>
            </a:extLst>
          </p:cNvPr>
          <p:cNvSpPr txBox="1"/>
          <p:nvPr/>
        </p:nvSpPr>
        <p:spPr>
          <a:xfrm>
            <a:off x="293908" y="1535818"/>
            <a:ext cx="8850092" cy="523220"/>
          </a:xfrm>
          <a:prstGeom prst="rect">
            <a:avLst/>
          </a:prstGeom>
          <a:noFill/>
        </p:spPr>
        <p:txBody>
          <a:bodyPr wrap="square" rtlCol="0">
            <a:spAutoFit/>
          </a:bodyPr>
          <a:lstStyle/>
          <a:p>
            <a:pPr algn="ctr"/>
            <a:r>
              <a:rPr lang="en-US" sz="2800"/>
              <a:t>Dữ liệu </a:t>
            </a:r>
            <a:r>
              <a:rPr lang="vi-VN" sz="2800" smtClean="0"/>
              <a:t>bảng </a:t>
            </a:r>
            <a:r>
              <a:rPr lang="en-US" sz="2800" b="1" smtClean="0"/>
              <a:t>cautraloi</a:t>
            </a:r>
            <a:endParaRPr lang="vi-VN" sz="2800" b="1"/>
          </a:p>
        </p:txBody>
      </p:sp>
      <p:sp>
        <p:nvSpPr>
          <p:cNvPr id="3" name="TextBox 2">
            <a:extLst>
              <a:ext uri="{FF2B5EF4-FFF2-40B4-BE49-F238E27FC236}">
                <a16:creationId xmlns:a16="http://schemas.microsoft.com/office/drawing/2014/main" xmlns="" id="{979563D5-151C-6505-DB60-52086E1E5A3B}"/>
              </a:ext>
            </a:extLst>
          </p:cNvPr>
          <p:cNvSpPr txBox="1"/>
          <p:nvPr/>
        </p:nvSpPr>
        <p:spPr>
          <a:xfrm>
            <a:off x="9129025" y="1535818"/>
            <a:ext cx="8865069" cy="523220"/>
          </a:xfrm>
          <a:prstGeom prst="rect">
            <a:avLst/>
          </a:prstGeom>
          <a:noFill/>
        </p:spPr>
        <p:txBody>
          <a:bodyPr wrap="square" rtlCol="0">
            <a:spAutoFit/>
          </a:bodyPr>
          <a:lstStyle/>
          <a:p>
            <a:pPr algn="ctr"/>
            <a:r>
              <a:rPr lang="en-US" sz="2800"/>
              <a:t>Dữ liệu </a:t>
            </a:r>
            <a:r>
              <a:rPr lang="vi-VN" sz="2800" smtClean="0"/>
              <a:t>bảng </a:t>
            </a:r>
            <a:r>
              <a:rPr lang="en-US" sz="2800" b="1" smtClean="0"/>
              <a:t>danhgiacautraloi</a:t>
            </a:r>
            <a:endParaRPr lang="vi-VN" sz="2800" b="1"/>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907" y="2046337"/>
            <a:ext cx="8835118" cy="7387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5556" y="2059038"/>
            <a:ext cx="7852006" cy="2325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576489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EE012D-4234-68E4-08CB-935E74B37D2A}"/>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0FDD5AEC-3CEA-77AC-378A-1CAA1AD3DF2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C40BE20F-1668-6757-E925-427E2515F520}"/>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06F41384-77E1-59D4-F75B-D4A8D117DCF7}"/>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D211065D-AB08-F326-224A-B08795857AE7}"/>
              </a:ext>
            </a:extLst>
          </p:cNvPr>
          <p:cNvSpPr txBox="1"/>
          <p:nvPr/>
        </p:nvSpPr>
        <p:spPr>
          <a:xfrm>
            <a:off x="1059218" y="991667"/>
            <a:ext cx="9761182" cy="1115690"/>
          </a:xfrm>
          <a:prstGeom prst="rect">
            <a:avLst/>
          </a:prstGeom>
        </p:spPr>
        <p:txBody>
          <a:bodyPr wrap="square" lIns="0" tIns="0" rIns="0" bIns="0" rtlCol="0" anchor="t">
            <a:spAutoFit/>
          </a:bodyPr>
          <a:lstStyle/>
          <a:p>
            <a:pPr marL="0" lvl="0" indent="0" algn="l">
              <a:lnSpc>
                <a:spcPts val="8717"/>
              </a:lnSpc>
              <a:spcBef>
                <a:spcPct val="0"/>
              </a:spcBef>
            </a:pPr>
            <a:r>
              <a:rPr lang="vi-VN" sz="7925" b="1" u="none">
                <a:solidFill>
                  <a:srgbClr val="1836B2"/>
                </a:solidFill>
                <a:latin typeface="+mj-lt"/>
                <a:ea typeface="Cabin Semi-Bold"/>
                <a:cs typeface="Cabin Semi-Bold"/>
                <a:sym typeface="Cabin Semi-Bold"/>
              </a:rPr>
              <a:t>9.Kết quả nghiên cứu </a:t>
            </a:r>
            <a:endParaRPr lang="en-US" sz="7925"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xmlns="" id="{12B12E01-67A9-F158-733B-C925DE199E48}"/>
              </a:ext>
            </a:extLst>
          </p:cNvPr>
          <p:cNvSpPr txBox="1"/>
          <p:nvPr/>
        </p:nvSpPr>
        <p:spPr>
          <a:xfrm>
            <a:off x="1219200" y="3708618"/>
            <a:ext cx="5791200" cy="2800767"/>
          </a:xfrm>
          <a:prstGeom prst="rect">
            <a:avLst/>
          </a:prstGeom>
          <a:noFill/>
        </p:spPr>
        <p:txBody>
          <a:bodyPr wrap="square" rtlCol="0">
            <a:spAutoFit/>
          </a:bodyPr>
          <a:lstStyle/>
          <a:p>
            <a:pPr algn="just"/>
            <a:r>
              <a:rPr lang="it-IT" sz="2800" b="1"/>
              <a:t>Chức năng tra cứu</a:t>
            </a:r>
            <a:endParaRPr lang="vi-VN" sz="2800" b="1"/>
          </a:p>
          <a:p>
            <a:pPr algn="just"/>
            <a:endParaRPr lang="en-US" sz="2800" smtClean="0">
              <a:effectLst/>
              <a:latin typeface="Times New Roman" panose="02020603050405020304" pitchFamily="18" charset="0"/>
              <a:ea typeface="SimSun" panose="02010600030101010101" pitchFamily="2" charset="-122"/>
              <a:cs typeface="Times New Roman" panose="02020603050405020304" pitchFamily="18" charset="0"/>
            </a:endParaRPr>
          </a:p>
          <a:p>
            <a:pPr algn="just"/>
            <a:r>
              <a:rPr lang="vi-VN" sz="2400"/>
              <a:t>Chức năng tìm kiếm hoạt động hiệu quả với thanh tìm kiếm và bộ lọc, cho phép người dùng tra cứu nhanh nội dung theo danh mục, từ khóa hoặc các tiêu chí liên quan.</a:t>
            </a:r>
            <a:endParaRPr lang="vi-VN" sz="2400">
              <a:latin typeface="Times New Roman" panose="02020603050405020304" pitchFamily="18" charset="0"/>
              <a:cs typeface="Times New Roman" panose="02020603050405020304" pitchFamily="18"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2864" y="2354847"/>
            <a:ext cx="7920000" cy="689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5059" y="2354846"/>
            <a:ext cx="2607805" cy="6030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7595060" y="2354846"/>
            <a:ext cx="2607804" cy="603091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Rectangle 13"/>
          <p:cNvSpPr/>
          <p:nvPr/>
        </p:nvSpPr>
        <p:spPr>
          <a:xfrm>
            <a:off x="10202864" y="2354848"/>
            <a:ext cx="7920000" cy="68930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12242964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3E4D9C-CD06-FE8B-A47A-A01E1F5A6DFD}"/>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848D0470-D3EB-B35D-4658-981AA1A1DB3D}"/>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C5E6E0D4-6DBB-B743-587A-8E6E2E259FA9}"/>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AE2C5124-766E-5AFD-2FF9-3FEEBE87053E}"/>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DCE6EEFD-DE85-4ACB-9217-B14DCC0D2894}"/>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0F8672B9-A9E6-96EE-A148-834839226C46}"/>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FB381331-6022-6705-608C-D13B20EDAD75}"/>
              </a:ext>
            </a:extLst>
          </p:cNvPr>
          <p:cNvSpPr txBox="1"/>
          <p:nvPr/>
        </p:nvSpPr>
        <p:spPr>
          <a:xfrm>
            <a:off x="1059218" y="991667"/>
            <a:ext cx="9761182" cy="1115690"/>
          </a:xfrm>
          <a:prstGeom prst="rect">
            <a:avLst/>
          </a:prstGeom>
        </p:spPr>
        <p:txBody>
          <a:bodyPr wrap="square" lIns="0" tIns="0" rIns="0" bIns="0" rtlCol="0" anchor="t">
            <a:spAutoFit/>
          </a:bodyPr>
          <a:lstStyle/>
          <a:p>
            <a:pPr marL="0" lvl="0" indent="0" algn="l">
              <a:lnSpc>
                <a:spcPts val="8717"/>
              </a:lnSpc>
              <a:spcBef>
                <a:spcPct val="0"/>
              </a:spcBef>
            </a:pPr>
            <a:r>
              <a:rPr lang="vi-VN" sz="7925" b="1" u="none">
                <a:solidFill>
                  <a:srgbClr val="1836B2"/>
                </a:solidFill>
                <a:latin typeface="+mj-lt"/>
                <a:ea typeface="Cabin Semi-Bold"/>
                <a:cs typeface="Cabin Semi-Bold"/>
                <a:sym typeface="Cabin Semi-Bold"/>
              </a:rPr>
              <a:t>9.Kết quả nghiên cứu </a:t>
            </a:r>
            <a:endParaRPr lang="en-US" sz="7925"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xmlns="" id="{22E2B2C1-F594-63DA-94DE-727EAD3B7722}"/>
              </a:ext>
            </a:extLst>
          </p:cNvPr>
          <p:cNvSpPr txBox="1"/>
          <p:nvPr/>
        </p:nvSpPr>
        <p:spPr>
          <a:xfrm>
            <a:off x="1203960" y="3734512"/>
            <a:ext cx="6416040" cy="2431435"/>
          </a:xfrm>
          <a:prstGeom prst="rect">
            <a:avLst/>
          </a:prstGeom>
          <a:noFill/>
        </p:spPr>
        <p:txBody>
          <a:bodyPr wrap="square" rtlCol="0">
            <a:spAutoFit/>
          </a:bodyPr>
          <a:lstStyle/>
          <a:p>
            <a:pPr algn="just"/>
            <a:r>
              <a:rPr lang="it-IT" sz="2800" b="1"/>
              <a:t>Chức năng đăng nhập và đăng kí </a:t>
            </a:r>
            <a:endParaRPr lang="vi-VN" sz="2800" b="1"/>
          </a:p>
          <a:p>
            <a:pPr algn="just"/>
            <a:endParaRPr lang="en-US" sz="2800" smtClean="0">
              <a:effectLst/>
              <a:latin typeface="+mj-lt"/>
              <a:ea typeface="SimSun" panose="02010600030101010101" pitchFamily="2" charset="-122"/>
              <a:cs typeface="Times New Roman" panose="02020603050405020304" pitchFamily="18" charset="0"/>
            </a:endParaRPr>
          </a:p>
          <a:p>
            <a:pPr algn="just"/>
            <a:r>
              <a:rPr lang="vi-VN" sz="2400" smtClean="0">
                <a:effectLst/>
                <a:latin typeface="+mj-lt"/>
                <a:ea typeface="SimSun" panose="02010600030101010101" pitchFamily="2" charset="-122"/>
                <a:cs typeface="Times New Roman" panose="02020603050405020304" pitchFamily="18" charset="0"/>
              </a:rPr>
              <a:t>Chức </a:t>
            </a:r>
            <a:r>
              <a:rPr lang="vi-VN" sz="2400">
                <a:effectLst/>
                <a:latin typeface="+mj-lt"/>
                <a:ea typeface="SimSun" panose="02010600030101010101" pitchFamily="2" charset="-122"/>
                <a:cs typeface="Times New Roman" panose="02020603050405020304" pitchFamily="18" charset="0"/>
              </a:rPr>
              <a:t>năng đăng nhập và đăng kí hoạt động hiệu quả khi cho phép người dùng đăng nhập khi đã có tài khoản hoặc đăng kí một cách nhanh </a:t>
            </a:r>
            <a:r>
              <a:rPr lang="vi-VN" sz="2400" smtClean="0">
                <a:effectLst/>
                <a:latin typeface="+mj-lt"/>
                <a:ea typeface="SimSun" panose="02010600030101010101" pitchFamily="2" charset="-122"/>
                <a:cs typeface="Times New Roman" panose="02020603050405020304" pitchFamily="18" charset="0"/>
              </a:rPr>
              <a:t>chóng</a:t>
            </a:r>
            <a:r>
              <a:rPr lang="en-US" sz="2400" smtClean="0">
                <a:effectLst/>
                <a:latin typeface="+mj-lt"/>
                <a:ea typeface="SimSun" panose="02010600030101010101" pitchFamily="2" charset="-122"/>
                <a:cs typeface="Times New Roman" panose="02020603050405020304" pitchFamily="18" charset="0"/>
              </a:rPr>
              <a:t>.</a:t>
            </a:r>
            <a:endParaRPr lang="vi-VN" sz="2400">
              <a:latin typeface="+mj-lt"/>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9601200" y="266700"/>
            <a:ext cx="7467600" cy="3829822"/>
          </a:xfrm>
          <a:prstGeom prst="rect">
            <a:avLst/>
          </a:prstGeom>
        </p:spPr>
      </p:pic>
      <p:pic>
        <p:nvPicPr>
          <p:cNvPr id="13" name="Picture 12"/>
          <p:cNvPicPr>
            <a:picLocks noChangeAspect="1"/>
          </p:cNvPicPr>
          <p:nvPr/>
        </p:nvPicPr>
        <p:blipFill>
          <a:blip r:embed="rId3"/>
          <a:stretch>
            <a:fillRect/>
          </a:stretch>
        </p:blipFill>
        <p:spPr>
          <a:xfrm>
            <a:off x="9601201" y="4096523"/>
            <a:ext cx="7467600" cy="5022870"/>
          </a:xfrm>
          <a:prstGeom prst="rect">
            <a:avLst/>
          </a:prstGeom>
        </p:spPr>
      </p:pic>
    </p:spTree>
    <p:extLst>
      <p:ext uri="{BB962C8B-B14F-4D97-AF65-F5344CB8AC3E}">
        <p14:creationId xmlns:p14="http://schemas.microsoft.com/office/powerpoint/2010/main" val="8114265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2AD0F98-ABDC-46F4-2CB7-785E82D14755}"/>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0AE47BC2-AC95-8D27-87AC-B913C6DBC6EC}"/>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C82B76BF-97EB-7342-A599-6200D0F47F43}"/>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A31EC844-17C3-7ED9-43B0-5FC2E21268D4}"/>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EE377FFF-729F-2DC4-4A44-F969D6B1BF7E}"/>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3B9C40D7-3132-D92B-949D-079E56B69C2B}"/>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7DC5A205-AF2F-DE9F-3534-8EC4DAB3D893}"/>
              </a:ext>
            </a:extLst>
          </p:cNvPr>
          <p:cNvSpPr txBox="1"/>
          <p:nvPr/>
        </p:nvSpPr>
        <p:spPr>
          <a:xfrm>
            <a:off x="1059218" y="991667"/>
            <a:ext cx="9761182" cy="1115690"/>
          </a:xfrm>
          <a:prstGeom prst="rect">
            <a:avLst/>
          </a:prstGeom>
        </p:spPr>
        <p:txBody>
          <a:bodyPr wrap="square" lIns="0" tIns="0" rIns="0" bIns="0" rtlCol="0" anchor="t">
            <a:spAutoFit/>
          </a:bodyPr>
          <a:lstStyle/>
          <a:p>
            <a:pPr marL="0" lvl="0" indent="0" algn="l">
              <a:lnSpc>
                <a:spcPts val="8717"/>
              </a:lnSpc>
              <a:spcBef>
                <a:spcPct val="0"/>
              </a:spcBef>
            </a:pPr>
            <a:r>
              <a:rPr lang="vi-VN" sz="7925" b="1" u="none">
                <a:solidFill>
                  <a:srgbClr val="1836B2"/>
                </a:solidFill>
                <a:latin typeface="+mj-lt"/>
                <a:ea typeface="Cabin Semi-Bold"/>
                <a:cs typeface="Cabin Semi-Bold"/>
                <a:sym typeface="Cabin Semi-Bold"/>
              </a:rPr>
              <a:t>9.Kết quả nghiên cứu </a:t>
            </a:r>
            <a:endParaRPr lang="en-US" sz="7925"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xmlns="" id="{A15EB492-CBAE-1F9D-D372-E8D20238B0F7}"/>
              </a:ext>
            </a:extLst>
          </p:cNvPr>
          <p:cNvSpPr txBox="1"/>
          <p:nvPr/>
        </p:nvSpPr>
        <p:spPr>
          <a:xfrm>
            <a:off x="1219200" y="3238500"/>
            <a:ext cx="6416040" cy="2800767"/>
          </a:xfrm>
          <a:prstGeom prst="rect">
            <a:avLst/>
          </a:prstGeom>
          <a:noFill/>
        </p:spPr>
        <p:txBody>
          <a:bodyPr wrap="square" rtlCol="0">
            <a:spAutoFit/>
          </a:bodyPr>
          <a:lstStyle/>
          <a:p>
            <a:pPr algn="just"/>
            <a:r>
              <a:rPr lang="it-IT" sz="2800" b="1"/>
              <a:t>Chức năng chia sẻ </a:t>
            </a:r>
            <a:r>
              <a:rPr lang="it-IT" sz="2800" b="1"/>
              <a:t>tài </a:t>
            </a:r>
            <a:r>
              <a:rPr lang="it-IT" sz="2800" b="1" smtClean="0"/>
              <a:t>liệu</a:t>
            </a:r>
          </a:p>
          <a:p>
            <a:pPr algn="just"/>
            <a:endParaRPr lang="en-US" sz="2800" smtClean="0">
              <a:effectLst/>
              <a:latin typeface="Times New Roman" panose="02020603050405020304" pitchFamily="18" charset="0"/>
              <a:ea typeface="SimSun" panose="02010600030101010101" pitchFamily="2" charset="-122"/>
              <a:cs typeface="Times New Roman" panose="02020603050405020304" pitchFamily="18" charset="0"/>
            </a:endParaRPr>
          </a:p>
          <a:p>
            <a:pPr algn="just"/>
            <a:r>
              <a:rPr lang="vi-VN" sz="2400"/>
              <a:t>Cho phép sinh viên đăng tải tài liệu học tập lên hệ thống kèm theo thông tin mô tả như tên môn học, chuyên ngành và loại tài liệu, giúp việc chia sẻ và quản lý tài liệu hiệu quả hơn.</a:t>
            </a:r>
            <a:endParaRPr lang="vi-VN" sz="240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rotWithShape="1">
          <a:blip r:embed="rId2"/>
          <a:srcRect r="1229"/>
          <a:stretch/>
        </p:blipFill>
        <p:spPr>
          <a:xfrm>
            <a:off x="8474686" y="2324100"/>
            <a:ext cx="9381514" cy="5342453"/>
          </a:xfrm>
          <a:prstGeom prst="rect">
            <a:avLst/>
          </a:prstGeom>
        </p:spPr>
      </p:pic>
      <p:sp>
        <p:nvSpPr>
          <p:cNvPr id="13" name="Rectangle 12"/>
          <p:cNvSpPr/>
          <p:nvPr/>
        </p:nvSpPr>
        <p:spPr>
          <a:xfrm>
            <a:off x="8474686" y="2324100"/>
            <a:ext cx="9381514" cy="534245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49706896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0AEE4E8-DBFD-9E36-D336-9BD773DAA1C7}"/>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BC239703-1380-AB24-0155-6F7FD2AFF7C3}"/>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CEFFDDAF-DE85-3CB1-C841-EC0440CE0B52}"/>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6715F35C-BAE5-C02E-67A7-530D0ADD67EB}"/>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29231D8B-C637-CE91-53D0-3E38CDC3CD31}"/>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3366FE18-E7E9-767B-70EB-DF48712301B1}"/>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518A9E19-F0E1-C605-1AD4-8F91F76C16FA}"/>
              </a:ext>
            </a:extLst>
          </p:cNvPr>
          <p:cNvSpPr txBox="1"/>
          <p:nvPr/>
        </p:nvSpPr>
        <p:spPr>
          <a:xfrm>
            <a:off x="1059218" y="991667"/>
            <a:ext cx="9761182" cy="1115690"/>
          </a:xfrm>
          <a:prstGeom prst="rect">
            <a:avLst/>
          </a:prstGeom>
        </p:spPr>
        <p:txBody>
          <a:bodyPr wrap="square" lIns="0" tIns="0" rIns="0" bIns="0" rtlCol="0" anchor="t">
            <a:spAutoFit/>
          </a:bodyPr>
          <a:lstStyle/>
          <a:p>
            <a:pPr marL="0" lvl="0" indent="0" algn="l">
              <a:lnSpc>
                <a:spcPts val="8717"/>
              </a:lnSpc>
              <a:spcBef>
                <a:spcPct val="0"/>
              </a:spcBef>
            </a:pPr>
            <a:r>
              <a:rPr lang="vi-VN" sz="7925" b="1" u="none">
                <a:solidFill>
                  <a:srgbClr val="1836B2"/>
                </a:solidFill>
                <a:latin typeface="+mj-lt"/>
                <a:ea typeface="Cabin Semi-Bold"/>
                <a:cs typeface="Cabin Semi-Bold"/>
                <a:sym typeface="Cabin Semi-Bold"/>
              </a:rPr>
              <a:t>9.Kết quả nghiên cứu </a:t>
            </a:r>
            <a:endParaRPr lang="en-US" sz="7925"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xmlns="" id="{0F323897-35A8-F05B-F0DD-87D444F1C836}"/>
              </a:ext>
            </a:extLst>
          </p:cNvPr>
          <p:cNvSpPr txBox="1"/>
          <p:nvPr/>
        </p:nvSpPr>
        <p:spPr>
          <a:xfrm>
            <a:off x="1219200" y="3239212"/>
            <a:ext cx="6416040" cy="2677656"/>
          </a:xfrm>
          <a:prstGeom prst="rect">
            <a:avLst/>
          </a:prstGeom>
          <a:noFill/>
        </p:spPr>
        <p:txBody>
          <a:bodyPr wrap="square" rtlCol="0">
            <a:spAutoFit/>
          </a:bodyPr>
          <a:lstStyle/>
          <a:p>
            <a:pPr algn="just"/>
            <a:r>
              <a:rPr lang="vi-VN" sz="2800" b="1">
                <a:latin typeface="+mj-lt"/>
              </a:rPr>
              <a:t>Chức năng </a:t>
            </a:r>
            <a:r>
              <a:rPr lang="vi-VN" sz="2800" b="1">
                <a:latin typeface="+mj-lt"/>
              </a:rPr>
              <a:t>xem </a:t>
            </a:r>
            <a:r>
              <a:rPr lang="en-US" sz="2800" b="1" smtClean="0">
                <a:latin typeface="+mj-lt"/>
              </a:rPr>
              <a:t>danh sách tài liệu</a:t>
            </a:r>
            <a:endParaRPr lang="vi-VN" sz="2800" b="1">
              <a:latin typeface="+mj-lt"/>
            </a:endParaRPr>
          </a:p>
          <a:p>
            <a:pPr algn="just"/>
            <a:endParaRPr lang="en-US" sz="2800" smtClean="0">
              <a:effectLst/>
              <a:latin typeface="+mj-lt"/>
              <a:ea typeface="SimSun" panose="02010600030101010101" pitchFamily="2" charset="-122"/>
              <a:cs typeface="Times New Roman" panose="02020603050405020304" pitchFamily="18" charset="0"/>
            </a:endParaRPr>
          </a:p>
          <a:p>
            <a:pPr algn="just"/>
            <a:r>
              <a:rPr lang="vi-VN" sz="2800" smtClean="0">
                <a:effectLst/>
                <a:latin typeface="+mj-lt"/>
                <a:ea typeface="SimSun" panose="02010600030101010101" pitchFamily="2" charset="-122"/>
                <a:cs typeface="Times New Roman" panose="02020603050405020304" pitchFamily="18" charset="0"/>
              </a:rPr>
              <a:t>Chức </a:t>
            </a:r>
            <a:r>
              <a:rPr lang="vi-VN" sz="2800">
                <a:effectLst/>
                <a:latin typeface="+mj-lt"/>
                <a:ea typeface="SimSun" panose="02010600030101010101" pitchFamily="2" charset="-122"/>
                <a:cs typeface="Times New Roman" panose="02020603050405020304" pitchFamily="18" charset="0"/>
              </a:rPr>
              <a:t>năng xem </a:t>
            </a:r>
            <a:r>
              <a:rPr lang="en-US" sz="2800" smtClean="0">
                <a:effectLst/>
                <a:latin typeface="+mj-lt"/>
                <a:ea typeface="SimSun" panose="02010600030101010101" pitchFamily="2" charset="-122"/>
                <a:cs typeface="Times New Roman" panose="02020603050405020304" pitchFamily="18" charset="0"/>
              </a:rPr>
              <a:t>danh sách tài liệu </a:t>
            </a:r>
            <a:r>
              <a:rPr lang="vi-VN" sz="2800" smtClean="0">
                <a:effectLst/>
                <a:latin typeface="+mj-lt"/>
                <a:ea typeface="SimSun" panose="02010600030101010101" pitchFamily="2" charset="-122"/>
                <a:cs typeface="Times New Roman" panose="02020603050405020304" pitchFamily="18" charset="0"/>
              </a:rPr>
              <a:t>cho </a:t>
            </a:r>
            <a:r>
              <a:rPr lang="vi-VN" sz="2800">
                <a:effectLst/>
                <a:latin typeface="+mj-lt"/>
                <a:ea typeface="SimSun" panose="02010600030101010101" pitchFamily="2" charset="-122"/>
                <a:cs typeface="Times New Roman" panose="02020603050405020304" pitchFamily="18" charset="0"/>
              </a:rPr>
              <a:t>phép người dùng </a:t>
            </a:r>
            <a:r>
              <a:rPr lang="vi-VN" sz="2800" smtClean="0">
                <a:effectLst/>
                <a:latin typeface="+mj-lt"/>
                <a:ea typeface="SimSun" panose="02010600030101010101" pitchFamily="2" charset="-122"/>
                <a:cs typeface="Times New Roman" panose="02020603050405020304" pitchFamily="18" charset="0"/>
              </a:rPr>
              <a:t>xem</a:t>
            </a:r>
            <a:r>
              <a:rPr lang="en-US" sz="2800" smtClean="0">
                <a:effectLst/>
                <a:latin typeface="+mj-lt"/>
                <a:ea typeface="SimSun" panose="02010600030101010101" pitchFamily="2" charset="-122"/>
                <a:cs typeface="Times New Roman" panose="02020603050405020304" pitchFamily="18" charset="0"/>
              </a:rPr>
              <a:t> thông tin</a:t>
            </a:r>
            <a:r>
              <a:rPr lang="vi-VN" sz="2800" smtClean="0">
                <a:effectLst/>
                <a:latin typeface="+mj-lt"/>
                <a:ea typeface="SimSun" panose="02010600030101010101" pitchFamily="2" charset="-122"/>
                <a:cs typeface="Times New Roman" panose="02020603050405020304" pitchFamily="18" charset="0"/>
              </a:rPr>
              <a:t> những </a:t>
            </a:r>
            <a:r>
              <a:rPr lang="en-US" sz="2800" smtClean="0">
                <a:effectLst/>
                <a:latin typeface="+mj-lt"/>
                <a:ea typeface="SimSun" panose="02010600030101010101" pitchFamily="2" charset="-122"/>
                <a:cs typeface="Times New Roman" panose="02020603050405020304" pitchFamily="18" charset="0"/>
              </a:rPr>
              <a:t>tài liệu hiện có </a:t>
            </a:r>
            <a:r>
              <a:rPr lang="vi-VN" sz="2800" smtClean="0">
                <a:effectLst/>
                <a:latin typeface="+mj-lt"/>
                <a:ea typeface="SimSun" panose="02010600030101010101" pitchFamily="2" charset="-122"/>
                <a:cs typeface="Times New Roman" panose="02020603050405020304" pitchFamily="18" charset="0"/>
              </a:rPr>
              <a:t>trong </a:t>
            </a:r>
            <a:r>
              <a:rPr lang="en-US" sz="2800" smtClean="0">
                <a:effectLst/>
                <a:latin typeface="+mj-lt"/>
                <a:ea typeface="SimSun" panose="02010600030101010101" pitchFamily="2" charset="-122"/>
                <a:cs typeface="Times New Roman" panose="02020603050405020304" pitchFamily="18" charset="0"/>
              </a:rPr>
              <a:t>hệ thống kèm nút tải xuống tài liệu</a:t>
            </a:r>
            <a:r>
              <a:rPr lang="vi-VN" sz="2800" smtClean="0">
                <a:effectLst/>
                <a:latin typeface="+mj-lt"/>
                <a:ea typeface="SimSun" panose="02010600030101010101" pitchFamily="2" charset="-122"/>
                <a:cs typeface="Times New Roman" panose="02020603050405020304" pitchFamily="18" charset="0"/>
              </a:rPr>
              <a:t>.</a:t>
            </a:r>
            <a:endParaRPr lang="vi-VN" sz="2800">
              <a:latin typeface="+mj-lt"/>
              <a:cs typeface="Times New Roman" panose="02020603050405020304" pitchFamily="18" charset="0"/>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9900" y="2400300"/>
            <a:ext cx="10021887" cy="6200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11"/>
          <p:cNvSpPr/>
          <p:nvPr/>
        </p:nvSpPr>
        <p:spPr>
          <a:xfrm>
            <a:off x="8089900" y="2400300"/>
            <a:ext cx="10021887" cy="6200947"/>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19153752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2612CC0-84F2-DAEC-25F3-B958375F54ED}"/>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488042AA-0DB1-5920-22B7-12A05105A890}"/>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C830D4CB-A2B3-58B2-4FDC-1BFB98FDC8D7}"/>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F7855C2B-21B1-E235-CADD-4EC1FAAB807A}"/>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34D984A9-0ACF-28B0-26D9-2A227F1112BA}"/>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349EE804-D188-6073-38F8-94F50DCEF1A1}"/>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17CCFB68-0E0D-6D04-4D0C-E612FB31C4F2}"/>
              </a:ext>
            </a:extLst>
          </p:cNvPr>
          <p:cNvSpPr txBox="1"/>
          <p:nvPr/>
        </p:nvSpPr>
        <p:spPr>
          <a:xfrm>
            <a:off x="1059218" y="991667"/>
            <a:ext cx="9761182" cy="1115690"/>
          </a:xfrm>
          <a:prstGeom prst="rect">
            <a:avLst/>
          </a:prstGeom>
        </p:spPr>
        <p:txBody>
          <a:bodyPr wrap="square" lIns="0" tIns="0" rIns="0" bIns="0" rtlCol="0" anchor="t">
            <a:spAutoFit/>
          </a:bodyPr>
          <a:lstStyle/>
          <a:p>
            <a:pPr marL="0" lvl="0" indent="0" algn="l">
              <a:lnSpc>
                <a:spcPts val="8717"/>
              </a:lnSpc>
              <a:spcBef>
                <a:spcPct val="0"/>
              </a:spcBef>
            </a:pPr>
            <a:r>
              <a:rPr lang="vi-VN" sz="7925" b="1" u="none">
                <a:solidFill>
                  <a:srgbClr val="1836B2"/>
                </a:solidFill>
                <a:latin typeface="+mj-lt"/>
                <a:ea typeface="Cabin Semi-Bold"/>
                <a:cs typeface="Cabin Semi-Bold"/>
                <a:sym typeface="Cabin Semi-Bold"/>
              </a:rPr>
              <a:t>9.Kết quả nghiên cứu </a:t>
            </a:r>
            <a:endParaRPr lang="en-US" sz="7925"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xmlns="" id="{46D27896-0D6E-6579-D690-C0B23B649C0F}"/>
              </a:ext>
            </a:extLst>
          </p:cNvPr>
          <p:cNvSpPr txBox="1"/>
          <p:nvPr/>
        </p:nvSpPr>
        <p:spPr>
          <a:xfrm>
            <a:off x="1219200" y="3685520"/>
            <a:ext cx="6416040" cy="2246769"/>
          </a:xfrm>
          <a:prstGeom prst="rect">
            <a:avLst/>
          </a:prstGeom>
          <a:noFill/>
        </p:spPr>
        <p:txBody>
          <a:bodyPr wrap="square" rtlCol="0">
            <a:spAutoFit/>
          </a:bodyPr>
          <a:lstStyle/>
          <a:p>
            <a:pPr algn="just"/>
            <a:r>
              <a:rPr lang="vi-VN" sz="2800" b="1"/>
              <a:t>Chức </a:t>
            </a:r>
            <a:r>
              <a:rPr lang="vi-VN" sz="2800" b="1"/>
              <a:t>năng </a:t>
            </a:r>
            <a:r>
              <a:rPr lang="en-US" sz="2800" b="1" smtClean="0"/>
              <a:t>đặt câu hỏi</a:t>
            </a:r>
            <a:endParaRPr lang="vi-VN" sz="2800" b="1"/>
          </a:p>
          <a:p>
            <a:pPr algn="just"/>
            <a:endParaRPr lang="en-US" sz="2800" smtClean="0">
              <a:effectLst/>
              <a:latin typeface="+mj-lt"/>
              <a:ea typeface="SimSun" panose="02010600030101010101" pitchFamily="2" charset="-122"/>
              <a:cs typeface="Times New Roman" panose="02020603050405020304" pitchFamily="18" charset="0"/>
            </a:endParaRPr>
          </a:p>
          <a:p>
            <a:pPr algn="just"/>
            <a:r>
              <a:rPr lang="vi-VN" sz="2800"/>
              <a:t>Cho phép sinh viên tạo và gửi câu hỏi liên quan đến nội dung học tập để nhận được sự hỗ trợ từ cộng đồng.</a:t>
            </a:r>
            <a:endParaRPr lang="vi-VN" sz="2800">
              <a:latin typeface="+mj-lt"/>
              <a:cs typeface="Times New Roman" panose="02020603050405020304" pitchFamily="18" charset="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5240" y="2107357"/>
            <a:ext cx="5203733" cy="5536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38973" y="2136032"/>
            <a:ext cx="5372827" cy="30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7635240" y="2107357"/>
            <a:ext cx="5203733" cy="553690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Rectangle 13"/>
          <p:cNvSpPr/>
          <p:nvPr/>
        </p:nvSpPr>
        <p:spPr>
          <a:xfrm>
            <a:off x="12838972" y="2107357"/>
            <a:ext cx="5372827" cy="310225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114879084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2612CC0-84F2-DAEC-25F3-B958375F54ED}"/>
            </a:ext>
          </a:extLst>
        </p:cNvPr>
        <p:cNvGrpSpPr/>
        <p:nvPr/>
      </p:nvGrpSpPr>
      <p:grpSpPr>
        <a:xfrm>
          <a:off x="0" y="0"/>
          <a:ext cx="0" cy="0"/>
          <a:chOff x="0" y="0"/>
          <a:chExt cx="0" cy="0"/>
        </a:xfrm>
      </p:grpSpPr>
      <p:grpSp>
        <p:nvGrpSpPr>
          <p:cNvPr id="2" name="Group 1"/>
          <p:cNvGrpSpPr/>
          <p:nvPr/>
        </p:nvGrpSpPr>
        <p:grpSpPr>
          <a:xfrm>
            <a:off x="9890735" y="1638299"/>
            <a:ext cx="6730233" cy="7221447"/>
            <a:chOff x="9143999" y="2628900"/>
            <a:chExt cx="5341214" cy="597426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3999" y="2628900"/>
              <a:ext cx="5341212" cy="415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1" y="6783387"/>
              <a:ext cx="5341212" cy="1819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7" name="AutoShape 7">
            <a:extLst>
              <a:ext uri="{FF2B5EF4-FFF2-40B4-BE49-F238E27FC236}">
                <a16:creationId xmlns:a16="http://schemas.microsoft.com/office/drawing/2014/main" xmlns="" id="{488042AA-0DB1-5920-22B7-12A05105A890}"/>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C830D4CB-A2B3-58B2-4FDC-1BFB98FDC8D7}"/>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F7855C2B-21B1-E235-CADD-4EC1FAAB807A}"/>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34D984A9-0ACF-28B0-26D9-2A227F1112BA}"/>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349EE804-D188-6073-38F8-94F50DCEF1A1}"/>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17CCFB68-0E0D-6D04-4D0C-E612FB31C4F2}"/>
              </a:ext>
            </a:extLst>
          </p:cNvPr>
          <p:cNvSpPr txBox="1"/>
          <p:nvPr/>
        </p:nvSpPr>
        <p:spPr>
          <a:xfrm>
            <a:off x="1059218" y="991667"/>
            <a:ext cx="9761182" cy="1115690"/>
          </a:xfrm>
          <a:prstGeom prst="rect">
            <a:avLst/>
          </a:prstGeom>
        </p:spPr>
        <p:txBody>
          <a:bodyPr wrap="square" lIns="0" tIns="0" rIns="0" bIns="0" rtlCol="0" anchor="t">
            <a:spAutoFit/>
          </a:bodyPr>
          <a:lstStyle/>
          <a:p>
            <a:pPr marL="0" lvl="0" indent="0" algn="l">
              <a:lnSpc>
                <a:spcPts val="8717"/>
              </a:lnSpc>
              <a:spcBef>
                <a:spcPct val="0"/>
              </a:spcBef>
            </a:pPr>
            <a:r>
              <a:rPr lang="vi-VN" sz="7925" b="1" u="none">
                <a:solidFill>
                  <a:srgbClr val="1836B2"/>
                </a:solidFill>
                <a:latin typeface="+mj-lt"/>
                <a:ea typeface="Cabin Semi-Bold"/>
                <a:cs typeface="Cabin Semi-Bold"/>
                <a:sym typeface="Cabin Semi-Bold"/>
              </a:rPr>
              <a:t>9.Kết quả nghiên cứu </a:t>
            </a:r>
            <a:endParaRPr lang="en-US" sz="7925"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xmlns="" id="{46D27896-0D6E-6579-D690-C0B23B649C0F}"/>
              </a:ext>
            </a:extLst>
          </p:cNvPr>
          <p:cNvSpPr txBox="1"/>
          <p:nvPr/>
        </p:nvSpPr>
        <p:spPr>
          <a:xfrm>
            <a:off x="1219200" y="3685520"/>
            <a:ext cx="6416040" cy="2677656"/>
          </a:xfrm>
          <a:prstGeom prst="rect">
            <a:avLst/>
          </a:prstGeom>
          <a:noFill/>
        </p:spPr>
        <p:txBody>
          <a:bodyPr wrap="square" rtlCol="0">
            <a:spAutoFit/>
          </a:bodyPr>
          <a:lstStyle/>
          <a:p>
            <a:pPr algn="just"/>
            <a:r>
              <a:rPr lang="vi-VN" sz="2800" b="1"/>
              <a:t>Chức </a:t>
            </a:r>
            <a:r>
              <a:rPr lang="vi-VN" sz="2800" b="1"/>
              <a:t>năng </a:t>
            </a:r>
            <a:r>
              <a:rPr lang="en-US" sz="2800" b="1" smtClean="0"/>
              <a:t>xem chi tiết câu hỏi và trả lời</a:t>
            </a:r>
            <a:endParaRPr lang="vi-VN" sz="2800" b="1"/>
          </a:p>
          <a:p>
            <a:pPr algn="just"/>
            <a:endParaRPr lang="en-US" sz="2800" smtClean="0">
              <a:effectLst/>
              <a:latin typeface="+mj-lt"/>
              <a:ea typeface="SimSun" panose="02010600030101010101" pitchFamily="2" charset="-122"/>
              <a:cs typeface="Times New Roman" panose="02020603050405020304" pitchFamily="18" charset="0"/>
            </a:endParaRPr>
          </a:p>
          <a:p>
            <a:pPr algn="just"/>
            <a:r>
              <a:rPr lang="vi-VN" sz="2800"/>
              <a:t>Cho phép sinh viên xem nội dung câu hỏi, các câu trả lời liên quan và thông tin trao đổi trong quá trình thảo luận.</a:t>
            </a:r>
            <a:endParaRPr lang="vi-VN" sz="2800">
              <a:latin typeface="+mj-lt"/>
              <a:cs typeface="Times New Roman" panose="02020603050405020304" pitchFamily="18" charset="0"/>
            </a:endParaRPr>
          </a:p>
        </p:txBody>
      </p:sp>
      <p:sp>
        <p:nvSpPr>
          <p:cNvPr id="3" name="Rectangle 2"/>
          <p:cNvSpPr/>
          <p:nvPr/>
        </p:nvSpPr>
        <p:spPr>
          <a:xfrm>
            <a:off x="9890734" y="1638298"/>
            <a:ext cx="6730233" cy="7221447"/>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80389502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2612CC0-84F2-DAEC-25F3-B958375F54ED}"/>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488042AA-0DB1-5920-22B7-12A05105A890}"/>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C830D4CB-A2B3-58B2-4FDC-1BFB98FDC8D7}"/>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F7855C2B-21B1-E235-CADD-4EC1FAAB807A}"/>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34D984A9-0ACF-28B0-26D9-2A227F1112BA}"/>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349EE804-D188-6073-38F8-94F50DCEF1A1}"/>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17CCFB68-0E0D-6D04-4D0C-E612FB31C4F2}"/>
              </a:ext>
            </a:extLst>
          </p:cNvPr>
          <p:cNvSpPr txBox="1"/>
          <p:nvPr/>
        </p:nvSpPr>
        <p:spPr>
          <a:xfrm>
            <a:off x="1059218" y="991667"/>
            <a:ext cx="9761182" cy="1115690"/>
          </a:xfrm>
          <a:prstGeom prst="rect">
            <a:avLst/>
          </a:prstGeom>
        </p:spPr>
        <p:txBody>
          <a:bodyPr wrap="square" lIns="0" tIns="0" rIns="0" bIns="0" rtlCol="0" anchor="t">
            <a:spAutoFit/>
          </a:bodyPr>
          <a:lstStyle/>
          <a:p>
            <a:pPr marL="0" lvl="0" indent="0" algn="l">
              <a:lnSpc>
                <a:spcPts val="8717"/>
              </a:lnSpc>
              <a:spcBef>
                <a:spcPct val="0"/>
              </a:spcBef>
            </a:pPr>
            <a:r>
              <a:rPr lang="vi-VN" sz="7925" b="1" u="none">
                <a:solidFill>
                  <a:srgbClr val="1836B2"/>
                </a:solidFill>
                <a:latin typeface="+mj-lt"/>
                <a:ea typeface="Cabin Semi-Bold"/>
                <a:cs typeface="Cabin Semi-Bold"/>
                <a:sym typeface="Cabin Semi-Bold"/>
              </a:rPr>
              <a:t>9.Kết quả nghiên cứu </a:t>
            </a:r>
            <a:endParaRPr lang="en-US" sz="7925"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xmlns="" id="{46D27896-0D6E-6579-D690-C0B23B649C0F}"/>
              </a:ext>
            </a:extLst>
          </p:cNvPr>
          <p:cNvSpPr txBox="1"/>
          <p:nvPr/>
        </p:nvSpPr>
        <p:spPr>
          <a:xfrm>
            <a:off x="1219200" y="3685520"/>
            <a:ext cx="6416040" cy="2246769"/>
          </a:xfrm>
          <a:prstGeom prst="rect">
            <a:avLst/>
          </a:prstGeom>
          <a:noFill/>
        </p:spPr>
        <p:txBody>
          <a:bodyPr wrap="square" rtlCol="0">
            <a:spAutoFit/>
          </a:bodyPr>
          <a:lstStyle/>
          <a:p>
            <a:pPr algn="just"/>
            <a:r>
              <a:rPr lang="vi-VN" sz="2800" b="1"/>
              <a:t>Chức </a:t>
            </a:r>
            <a:r>
              <a:rPr lang="vi-VN" sz="2800" b="1"/>
              <a:t>năng </a:t>
            </a:r>
            <a:r>
              <a:rPr lang="en-US" sz="2800" b="1" smtClean="0"/>
              <a:t>báo cáo vi phạm</a:t>
            </a:r>
            <a:endParaRPr lang="vi-VN" sz="2800" b="1"/>
          </a:p>
          <a:p>
            <a:pPr algn="just"/>
            <a:endParaRPr lang="en-US" sz="2800" smtClean="0">
              <a:effectLst/>
              <a:latin typeface="+mj-lt"/>
              <a:ea typeface="SimSun" panose="02010600030101010101" pitchFamily="2" charset="-122"/>
              <a:cs typeface="Times New Roman" panose="02020603050405020304" pitchFamily="18" charset="0"/>
            </a:endParaRPr>
          </a:p>
          <a:p>
            <a:pPr algn="just"/>
            <a:r>
              <a:rPr lang="vi-VN" sz="2800"/>
              <a:t>Cho phép sinh </a:t>
            </a:r>
            <a:r>
              <a:rPr lang="vi-VN" sz="2800"/>
              <a:t>viên </a:t>
            </a:r>
            <a:r>
              <a:rPr lang="en-US" sz="2800" smtClean="0"/>
              <a:t>báo cáo vi phạm</a:t>
            </a:r>
            <a:r>
              <a:rPr lang="vi-VN" sz="2800" smtClean="0"/>
              <a:t> </a:t>
            </a:r>
            <a:r>
              <a:rPr lang="en-US" sz="2800" smtClean="0"/>
              <a:t>tài liệu, </a:t>
            </a:r>
            <a:r>
              <a:rPr lang="vi-VN" sz="2800" smtClean="0"/>
              <a:t>câu </a:t>
            </a:r>
            <a:r>
              <a:rPr lang="vi-VN" sz="2800"/>
              <a:t>hỏi</a:t>
            </a:r>
            <a:r>
              <a:rPr lang="vi-VN" sz="2800"/>
              <a:t>, </a:t>
            </a:r>
            <a:r>
              <a:rPr lang="vi-VN" sz="2800" smtClean="0"/>
              <a:t>câu </a:t>
            </a:r>
            <a:r>
              <a:rPr lang="vi-VN" sz="2800"/>
              <a:t>trả </a:t>
            </a:r>
            <a:r>
              <a:rPr lang="vi-VN" sz="2800"/>
              <a:t>lời </a:t>
            </a:r>
            <a:r>
              <a:rPr lang="en-US" sz="2800" smtClean="0"/>
              <a:t>để quản trị viên xem xét và xử lý</a:t>
            </a:r>
            <a:r>
              <a:rPr lang="vi-VN" sz="2800" smtClean="0"/>
              <a:t>.</a:t>
            </a:r>
            <a:endParaRPr lang="vi-VN" sz="2800">
              <a:latin typeface="+mj-lt"/>
              <a:cs typeface="Times New Roman" panose="02020603050405020304" pitchFamily="18" charset="0"/>
            </a:endParaRPr>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9299" y="2903904"/>
            <a:ext cx="9359371" cy="3810000"/>
          </a:xfrm>
          <a:prstGeom prst="rect">
            <a:avLst/>
          </a:prstGeom>
        </p:spPr>
      </p:pic>
    </p:spTree>
    <p:extLst>
      <p:ext uri="{BB962C8B-B14F-4D97-AF65-F5344CB8AC3E}">
        <p14:creationId xmlns:p14="http://schemas.microsoft.com/office/powerpoint/2010/main" val="319024722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0673353-AE97-3794-4DF8-A2BCE8BB1A75}"/>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2ABDB4CA-555E-B3C7-AC07-9425A8FA7313}"/>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154F636E-5789-ABEE-40A8-4ECB49ABC8B7}"/>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A61E71BF-25F0-B1F6-65D7-F96ABEDB7CBC}"/>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401E4E9A-4C50-F0B3-0CFA-CEDE470F3F5C}"/>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EB31E9CB-6DE9-7635-2B17-0068AFB450D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B51128AE-9AFE-D91A-92DC-FFC724CC4B7F}"/>
              </a:ext>
            </a:extLst>
          </p:cNvPr>
          <p:cNvSpPr txBox="1"/>
          <p:nvPr/>
        </p:nvSpPr>
        <p:spPr>
          <a:xfrm>
            <a:off x="1059218" y="991667"/>
            <a:ext cx="17457382" cy="1115690"/>
          </a:xfrm>
          <a:prstGeom prst="rect">
            <a:avLst/>
          </a:prstGeom>
        </p:spPr>
        <p:txBody>
          <a:bodyPr wrap="square" lIns="0" tIns="0" rIns="0" bIns="0" rtlCol="0" anchor="t">
            <a:spAutoFit/>
          </a:bodyPr>
          <a:lstStyle/>
          <a:p>
            <a:pPr marL="0" lvl="0" indent="0" algn="l">
              <a:lnSpc>
                <a:spcPts val="8717"/>
              </a:lnSpc>
              <a:spcBef>
                <a:spcPct val="0"/>
              </a:spcBef>
            </a:pPr>
            <a:r>
              <a:rPr lang="vi-VN" sz="7700" b="1" u="none">
                <a:solidFill>
                  <a:srgbClr val="1836B2"/>
                </a:solidFill>
                <a:latin typeface="+mj-lt"/>
                <a:ea typeface="Cabin Semi-Bold"/>
                <a:cs typeface="Cabin Semi-Bold"/>
                <a:sym typeface="Cabin Semi-Bold"/>
              </a:rPr>
              <a:t>10.Kết luận và Phương hướng phát triển</a:t>
            </a:r>
            <a:endParaRPr lang="en-US" sz="77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xmlns="" id="{A03D4972-5B6A-CFCB-4E59-9C3672A75E7C}"/>
              </a:ext>
            </a:extLst>
          </p:cNvPr>
          <p:cNvSpPr txBox="1"/>
          <p:nvPr/>
        </p:nvSpPr>
        <p:spPr>
          <a:xfrm>
            <a:off x="1219200" y="3708618"/>
            <a:ext cx="16245840" cy="2246769"/>
          </a:xfrm>
          <a:prstGeom prst="rect">
            <a:avLst/>
          </a:prstGeom>
          <a:noFill/>
        </p:spPr>
        <p:txBody>
          <a:bodyPr wrap="square" rtlCol="0">
            <a:spAutoFit/>
          </a:bodyPr>
          <a:lstStyle/>
          <a:p>
            <a:pPr algn="just"/>
            <a:r>
              <a:rPr lang="vi-VN" sz="2800"/>
              <a:t>Hệ thống chia sẻ tài liệu học tập và hỏi đáp giữa sinh viên đã được xây dựng với các chức năng cơ bản</a:t>
            </a:r>
            <a:r>
              <a:rPr lang="en-US" sz="2800"/>
              <a:t>:</a:t>
            </a:r>
          </a:p>
          <a:p>
            <a:pPr marL="457200" indent="-457200" algn="just">
              <a:buFont typeface="Arial" panose="020B0604020202020204" pitchFamily="34" charset="0"/>
              <a:buChar char="•"/>
            </a:pPr>
            <a:r>
              <a:rPr lang="en-US" sz="2800" smtClean="0"/>
              <a:t>Cho </a:t>
            </a:r>
            <a:r>
              <a:rPr lang="vi-VN" sz="2800" smtClean="0"/>
              <a:t>phép </a:t>
            </a:r>
            <a:r>
              <a:rPr lang="vi-VN" sz="2800"/>
              <a:t>sinh viên </a:t>
            </a:r>
            <a:r>
              <a:rPr lang="vi-VN" sz="2800"/>
              <a:t>đăng </a:t>
            </a:r>
            <a:r>
              <a:rPr lang="vi-VN" sz="2800" smtClean="0"/>
              <a:t>tải</a:t>
            </a:r>
            <a:r>
              <a:rPr lang="en-US" sz="2800" smtClean="0"/>
              <a:t> và tải xuống tài liệu.</a:t>
            </a:r>
            <a:endParaRPr lang="en-US" sz="2800"/>
          </a:p>
          <a:p>
            <a:pPr marL="457200" indent="-457200" algn="just">
              <a:buFont typeface="Arial" panose="020B0604020202020204" pitchFamily="34" charset="0"/>
              <a:buChar char="•"/>
            </a:pPr>
            <a:r>
              <a:rPr lang="en-US" sz="2800" smtClean="0"/>
              <a:t>Cho phép người dùng </a:t>
            </a:r>
            <a:r>
              <a:rPr lang="vi-VN" sz="2800" smtClean="0"/>
              <a:t>tìm </a:t>
            </a:r>
            <a:r>
              <a:rPr lang="vi-VN" sz="2800"/>
              <a:t>kiếm </a:t>
            </a:r>
            <a:r>
              <a:rPr lang="en-US" sz="2800" smtClean="0"/>
              <a:t>và lọc theo tiêu chí.</a:t>
            </a:r>
            <a:endParaRPr lang="en-US" sz="2800"/>
          </a:p>
          <a:p>
            <a:pPr marL="457200" indent="-457200" algn="just">
              <a:buFont typeface="Arial" panose="020B0604020202020204" pitchFamily="34" charset="0"/>
              <a:buChar char="•"/>
            </a:pPr>
            <a:r>
              <a:rPr lang="en-US" sz="2800" smtClean="0"/>
              <a:t>Sinh viên có thể </a:t>
            </a:r>
            <a:r>
              <a:rPr lang="vi-VN" sz="2800" smtClean="0"/>
              <a:t>tham </a:t>
            </a:r>
            <a:r>
              <a:rPr lang="vi-VN" sz="2800"/>
              <a:t>gia </a:t>
            </a:r>
            <a:r>
              <a:rPr lang="vi-VN" sz="2800"/>
              <a:t>hỏi</a:t>
            </a:r>
            <a:r>
              <a:rPr lang="en-US" sz="2800"/>
              <a:t> </a:t>
            </a:r>
            <a:r>
              <a:rPr lang="en-US" sz="2800" smtClean="0"/>
              <a:t>đáp với nhau.</a:t>
            </a:r>
            <a:endParaRPr lang="vi-VN" sz="2800"/>
          </a:p>
        </p:txBody>
      </p:sp>
      <p:sp>
        <p:nvSpPr>
          <p:cNvPr id="5" name="TextBox 4">
            <a:extLst>
              <a:ext uri="{FF2B5EF4-FFF2-40B4-BE49-F238E27FC236}">
                <a16:creationId xmlns:a16="http://schemas.microsoft.com/office/drawing/2014/main" xmlns="" id="{DF9030C1-49AE-E1EB-90D1-F91E2C3158D5}"/>
              </a:ext>
            </a:extLst>
          </p:cNvPr>
          <p:cNvSpPr txBox="1"/>
          <p:nvPr/>
        </p:nvSpPr>
        <p:spPr>
          <a:xfrm>
            <a:off x="1234440" y="3185398"/>
            <a:ext cx="6248400" cy="523220"/>
          </a:xfrm>
          <a:prstGeom prst="rect">
            <a:avLst/>
          </a:prstGeom>
          <a:noFill/>
        </p:spPr>
        <p:txBody>
          <a:bodyPr wrap="square" rtlCol="0">
            <a:spAutoFit/>
          </a:bodyPr>
          <a:lstStyle/>
          <a:p>
            <a:r>
              <a:rPr lang="vi-VN" sz="2800" b="1"/>
              <a:t>Kết Luận</a:t>
            </a:r>
          </a:p>
        </p:txBody>
      </p:sp>
    </p:spTree>
    <p:extLst>
      <p:ext uri="{BB962C8B-B14F-4D97-AF65-F5344CB8AC3E}">
        <p14:creationId xmlns:p14="http://schemas.microsoft.com/office/powerpoint/2010/main" val="14826181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9B21851-14D0-723E-06DC-2EF9B6A86085}"/>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67531FD5-54C6-52B7-492E-56BD31216E05}"/>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71A7F7C8-E105-D3FB-7872-3859B5D4C14E}"/>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882A30B9-BF2A-ADB0-9B53-15602C8C4D3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FD63A21C-AD86-4671-0085-04FFE5C890AA}"/>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DCF435BD-2D6D-692D-D0D4-55077E277C58}"/>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E642C9E5-F3D8-2D64-19E4-FF10A13DDE2D}"/>
              </a:ext>
            </a:extLst>
          </p:cNvPr>
          <p:cNvSpPr txBox="1"/>
          <p:nvPr/>
        </p:nvSpPr>
        <p:spPr>
          <a:xfrm>
            <a:off x="1059218" y="991667"/>
            <a:ext cx="17457382" cy="1115690"/>
          </a:xfrm>
          <a:prstGeom prst="rect">
            <a:avLst/>
          </a:prstGeom>
        </p:spPr>
        <p:txBody>
          <a:bodyPr wrap="square" lIns="0" tIns="0" rIns="0" bIns="0" rtlCol="0" anchor="t">
            <a:spAutoFit/>
          </a:bodyPr>
          <a:lstStyle/>
          <a:p>
            <a:pPr marL="0" lvl="0" indent="0" algn="l">
              <a:lnSpc>
                <a:spcPts val="8717"/>
              </a:lnSpc>
              <a:spcBef>
                <a:spcPct val="0"/>
              </a:spcBef>
            </a:pPr>
            <a:r>
              <a:rPr lang="vi-VN" sz="7700" b="1" u="none">
                <a:solidFill>
                  <a:srgbClr val="1836B2"/>
                </a:solidFill>
                <a:latin typeface="+mj-lt"/>
                <a:ea typeface="Cabin Semi-Bold"/>
                <a:cs typeface="Cabin Semi-Bold"/>
                <a:sym typeface="Cabin Semi-Bold"/>
              </a:rPr>
              <a:t>10.Kết luận và Phương hướng phát triển</a:t>
            </a:r>
            <a:endParaRPr lang="en-US" sz="77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xmlns="" id="{B0F50982-EFF2-3255-64F1-B69AECC34210}"/>
              </a:ext>
            </a:extLst>
          </p:cNvPr>
          <p:cNvSpPr txBox="1"/>
          <p:nvPr/>
        </p:nvSpPr>
        <p:spPr>
          <a:xfrm>
            <a:off x="1203960" y="3762851"/>
            <a:ext cx="16550640" cy="4524315"/>
          </a:xfrm>
          <a:prstGeom prst="rect">
            <a:avLst/>
          </a:prstGeom>
          <a:noFill/>
        </p:spPr>
        <p:txBody>
          <a:bodyPr wrap="square" rtlCol="0">
            <a:spAutoFit/>
          </a:bodyPr>
          <a:lstStyle/>
          <a:p>
            <a:pPr marL="457200" indent="-457200">
              <a:buFont typeface="Arial" panose="020B0604020202020204" pitchFamily="34" charset="0"/>
              <a:buChar char="•"/>
            </a:pPr>
            <a:r>
              <a:rPr lang="vi-VN" sz="2400"/>
              <a:t>Tích hợp AI và các tính năng hỗ trợ thông minh như gợi ý tài liệu, đề xuất câu hỏi và chatbot </a:t>
            </a:r>
            <a:r>
              <a:rPr lang="vi-VN" sz="2400"/>
              <a:t>tra </a:t>
            </a:r>
            <a:r>
              <a:rPr lang="vi-VN" sz="2400" smtClean="0"/>
              <a:t>cứu.</a:t>
            </a:r>
            <a:endParaRPr lang="en-US" sz="2400" smtClean="0"/>
          </a:p>
          <a:p>
            <a:pPr marL="457200" indent="-457200">
              <a:buFont typeface="Arial" panose="020B0604020202020204" pitchFamily="34" charset="0"/>
              <a:buChar char="•"/>
            </a:pPr>
            <a:r>
              <a:rPr lang="vi-VN" sz="2400" smtClean="0"/>
              <a:t>Hỗ </a:t>
            </a:r>
            <a:r>
              <a:rPr lang="vi-VN" sz="2400"/>
              <a:t>trợ đa ngôn ngữ nhằm mở rộng khả năng tiếp cận </a:t>
            </a:r>
            <a:r>
              <a:rPr lang="vi-VN" sz="2400"/>
              <a:t>người </a:t>
            </a:r>
            <a:r>
              <a:rPr lang="vi-VN" sz="2400" smtClean="0"/>
              <a:t>dùng.</a:t>
            </a:r>
            <a:endParaRPr lang="en-US" sz="2400" smtClean="0"/>
          </a:p>
          <a:p>
            <a:pPr marL="457200" indent="-457200">
              <a:buFont typeface="Arial" panose="020B0604020202020204" pitchFamily="34" charset="0"/>
              <a:buChar char="•"/>
            </a:pPr>
            <a:r>
              <a:rPr lang="en-US" sz="2400" smtClean="0"/>
              <a:t>Tích hợp </a:t>
            </a:r>
            <a:r>
              <a:rPr lang="vi-VN" sz="2400" smtClean="0"/>
              <a:t>hệ </a:t>
            </a:r>
            <a:r>
              <a:rPr lang="vi-VN" sz="2400"/>
              <a:t>thống thông báo theo thời gian thực cho các hoạt động hỏi đáp và duyệt </a:t>
            </a:r>
            <a:r>
              <a:rPr lang="vi-VN" sz="2400"/>
              <a:t>nội </a:t>
            </a:r>
            <a:r>
              <a:rPr lang="vi-VN" sz="2400" smtClean="0"/>
              <a:t>dung.</a:t>
            </a:r>
            <a:endParaRPr lang="en-US" sz="2400" smtClean="0"/>
          </a:p>
          <a:p>
            <a:pPr marL="457200" indent="-457200">
              <a:buFont typeface="Arial" panose="020B0604020202020204" pitchFamily="34" charset="0"/>
              <a:buChar char="•"/>
            </a:pPr>
            <a:r>
              <a:rPr lang="vi-VN" sz="2400" smtClean="0"/>
              <a:t>Tăng </a:t>
            </a:r>
            <a:r>
              <a:rPr lang="vi-VN" sz="2400"/>
              <a:t>cường bảo mật với cơ chế mật khẩu mạnh, refresh token và phát hiện </a:t>
            </a:r>
            <a:r>
              <a:rPr lang="vi-VN" sz="2400"/>
              <a:t>tấn </a:t>
            </a:r>
            <a:r>
              <a:rPr lang="vi-VN" sz="2400" smtClean="0"/>
              <a:t>công.</a:t>
            </a:r>
            <a:endParaRPr lang="en-US" sz="2400" smtClean="0"/>
          </a:p>
          <a:p>
            <a:pPr marL="457200" indent="-457200">
              <a:buFont typeface="Arial" panose="020B0604020202020204" pitchFamily="34" charset="0"/>
              <a:buChar char="•"/>
            </a:pPr>
            <a:r>
              <a:rPr lang="vi-VN" sz="2400" smtClean="0"/>
              <a:t>Cải </a:t>
            </a:r>
            <a:r>
              <a:rPr lang="vi-VN" sz="2400"/>
              <a:t>thiện trang thống kê cho quản trị viên với biểu đồ và phân tích </a:t>
            </a:r>
            <a:r>
              <a:rPr lang="vi-VN" sz="2400"/>
              <a:t>xu </a:t>
            </a:r>
            <a:r>
              <a:rPr lang="vi-VN" sz="2400" smtClean="0"/>
              <a:t>hướng.</a:t>
            </a:r>
            <a:endParaRPr lang="en-US" sz="2400" smtClean="0"/>
          </a:p>
          <a:p>
            <a:pPr marL="457200" indent="-457200">
              <a:buFont typeface="Arial" panose="020B0604020202020204" pitchFamily="34" charset="0"/>
              <a:buChar char="•"/>
            </a:pPr>
            <a:r>
              <a:rPr lang="vi-VN" sz="2400" smtClean="0"/>
              <a:t>Triển </a:t>
            </a:r>
            <a:r>
              <a:rPr lang="vi-VN" sz="2400"/>
              <a:t>khai lưu trữ đám mây để nâng cao khả năng mở rộng và </a:t>
            </a:r>
            <a:r>
              <a:rPr lang="vi-VN" sz="2400"/>
              <a:t>hiệu </a:t>
            </a:r>
            <a:r>
              <a:rPr lang="vi-VN" sz="2400" smtClean="0"/>
              <a:t>suất.</a:t>
            </a:r>
            <a:endParaRPr lang="en-US" sz="2400" smtClean="0"/>
          </a:p>
          <a:p>
            <a:pPr marL="457200" indent="-457200">
              <a:buFont typeface="Arial" panose="020B0604020202020204" pitchFamily="34" charset="0"/>
              <a:buChar char="•"/>
            </a:pPr>
            <a:r>
              <a:rPr lang="vi-VN" sz="2400" smtClean="0"/>
              <a:t>Tối </a:t>
            </a:r>
            <a:r>
              <a:rPr lang="vi-VN" sz="2400"/>
              <a:t>ưu hiệu suất hệ thống thông qua nén dữ liệu và kỹ thuật </a:t>
            </a:r>
            <a:r>
              <a:rPr lang="vi-VN" sz="2400"/>
              <a:t>lazy </a:t>
            </a:r>
            <a:r>
              <a:rPr lang="vi-VN" sz="2400" smtClean="0"/>
              <a:t>loading.</a:t>
            </a:r>
            <a:endParaRPr lang="en-US" sz="2400" smtClean="0"/>
          </a:p>
          <a:p>
            <a:pPr marL="457200" indent="-457200">
              <a:buFont typeface="Arial" panose="020B0604020202020204" pitchFamily="34" charset="0"/>
              <a:buChar char="•"/>
            </a:pPr>
            <a:r>
              <a:rPr lang="vi-VN" sz="2400" smtClean="0"/>
              <a:t>Phát </a:t>
            </a:r>
            <a:r>
              <a:rPr lang="vi-VN" sz="2400"/>
              <a:t>triển ứng dụng di động trên Android và </a:t>
            </a:r>
            <a:r>
              <a:rPr lang="vi-VN" sz="2400"/>
              <a:t>iOS</a:t>
            </a:r>
            <a:r>
              <a:rPr lang="vi-VN" sz="2400" smtClean="0"/>
              <a:t>.</a:t>
            </a:r>
            <a:endParaRPr lang="en-US" sz="2400" smtClean="0"/>
          </a:p>
          <a:p>
            <a:endParaRPr lang="vi-VN" sz="2400"/>
          </a:p>
          <a:p>
            <a:pPr algn="just"/>
            <a:r>
              <a:rPr lang="vi-VN" sz="2400" smtClean="0"/>
              <a:t>Với những phương hướng phát triển đúng đắn thì có thể hướng đến một nền tảng tiềm năng để để xây dựng thương hiệu và đạt được các mục tiêu cá nhân.</a:t>
            </a:r>
          </a:p>
          <a:p>
            <a:pPr marL="457200" indent="-457200" algn="just">
              <a:buFont typeface="Arial" panose="020B0604020202020204" pitchFamily="34" charset="0"/>
              <a:buChar char="•"/>
            </a:pPr>
            <a:endParaRPr lang="vi-VN" sz="2400"/>
          </a:p>
        </p:txBody>
      </p:sp>
      <p:sp>
        <p:nvSpPr>
          <p:cNvPr id="5" name="TextBox 4">
            <a:extLst>
              <a:ext uri="{FF2B5EF4-FFF2-40B4-BE49-F238E27FC236}">
                <a16:creationId xmlns:a16="http://schemas.microsoft.com/office/drawing/2014/main" xmlns="" id="{D7C01317-8477-F560-F2F2-698054ED3D46}"/>
              </a:ext>
            </a:extLst>
          </p:cNvPr>
          <p:cNvSpPr txBox="1"/>
          <p:nvPr/>
        </p:nvSpPr>
        <p:spPr>
          <a:xfrm>
            <a:off x="1219200" y="3251556"/>
            <a:ext cx="6248400" cy="523220"/>
          </a:xfrm>
          <a:prstGeom prst="rect">
            <a:avLst/>
          </a:prstGeom>
          <a:noFill/>
        </p:spPr>
        <p:txBody>
          <a:bodyPr wrap="square" rtlCol="0">
            <a:spAutoFit/>
          </a:bodyPr>
          <a:lstStyle/>
          <a:p>
            <a:r>
              <a:rPr lang="vi-VN" sz="2800" b="1"/>
              <a:t>Phương hướng phát triển</a:t>
            </a:r>
          </a:p>
        </p:txBody>
      </p:sp>
    </p:spTree>
    <p:extLst>
      <p:ext uri="{BB962C8B-B14F-4D97-AF65-F5344CB8AC3E}">
        <p14:creationId xmlns:p14="http://schemas.microsoft.com/office/powerpoint/2010/main" val="5040964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4800600" y="4533900"/>
            <a:ext cx="8115300" cy="1115690"/>
          </a:xfrm>
          <a:prstGeom prst="rect">
            <a:avLst/>
          </a:prstGeom>
        </p:spPr>
        <p:txBody>
          <a:bodyPr lIns="0" tIns="0" rIns="0" bIns="0" rtlCol="0" anchor="t">
            <a:spAutoFit/>
          </a:bodyPr>
          <a:lstStyle/>
          <a:p>
            <a:pPr marL="0" lvl="0" indent="0" algn="l">
              <a:lnSpc>
                <a:spcPts val="8717"/>
              </a:lnSpc>
              <a:spcBef>
                <a:spcPct val="0"/>
              </a:spcBef>
            </a:pPr>
            <a:r>
              <a:rPr lang="vi-VN" sz="7925" b="1">
                <a:solidFill>
                  <a:srgbClr val="1836B2"/>
                </a:solidFill>
                <a:latin typeface="Cabin Semi-Bold"/>
                <a:ea typeface="Cabin Semi-Bold"/>
                <a:cs typeface="Cabin Semi-Bold"/>
                <a:sym typeface="Cabin Semi-Bold"/>
              </a:rPr>
              <a:t>Thank for listening</a:t>
            </a:r>
            <a:endParaRPr lang="en-US" sz="7925" b="1" u="none">
              <a:solidFill>
                <a:srgbClr val="1836B2"/>
              </a:solidFill>
              <a:latin typeface="Cabin Semi-Bold"/>
              <a:ea typeface="Cabin Semi-Bold"/>
              <a:cs typeface="Cabin Semi-Bold"/>
              <a:sym typeface="Cabin Semi-Bold"/>
            </a:endParaRPr>
          </a:p>
        </p:txBody>
      </p:sp>
      <p:grpSp>
        <p:nvGrpSpPr>
          <p:cNvPr id="7" name="Group 7"/>
          <p:cNvGrpSpPr/>
          <p:nvPr/>
        </p:nvGrpSpPr>
        <p:grpSpPr>
          <a:xfrm rot="-10800000">
            <a:off x="2314816" y="-2086793"/>
            <a:ext cx="6208021" cy="4173585"/>
            <a:chOff x="0" y="0"/>
            <a:chExt cx="7990758" cy="5372100"/>
          </a:xfrm>
        </p:grpSpPr>
        <p:sp>
          <p:nvSpPr>
            <p:cNvPr id="8" name="Freeform 8"/>
            <p:cNvSpPr/>
            <p:nvPr/>
          </p:nvSpPr>
          <p:spPr>
            <a:xfrm>
              <a:off x="0" y="0"/>
              <a:ext cx="7990758" cy="5372100"/>
            </a:xfrm>
            <a:custGeom>
              <a:avLst/>
              <a:gdLst/>
              <a:ahLst/>
              <a:cxnLst/>
              <a:rect l="l" t="t" r="r" b="b"/>
              <a:pathLst>
                <a:path w="7990758" h="5372100">
                  <a:moveTo>
                    <a:pt x="6440088" y="0"/>
                  </a:moveTo>
                  <a:lnTo>
                    <a:pt x="1550670" y="0"/>
                  </a:lnTo>
                  <a:lnTo>
                    <a:pt x="0" y="2686050"/>
                  </a:lnTo>
                  <a:lnTo>
                    <a:pt x="1550670" y="5372100"/>
                  </a:lnTo>
                  <a:lnTo>
                    <a:pt x="6440088" y="5372100"/>
                  </a:lnTo>
                  <a:lnTo>
                    <a:pt x="7990758" y="2686050"/>
                  </a:lnTo>
                  <a:lnTo>
                    <a:pt x="6440088" y="0"/>
                  </a:lnTo>
                  <a:close/>
                </a:path>
              </a:pathLst>
            </a:custGeom>
            <a:solidFill>
              <a:srgbClr val="1836B2"/>
            </a:solidFill>
          </p:spPr>
          <p:txBody>
            <a:bodyPr/>
            <a:lstStyle/>
            <a:p>
              <a:endParaRPr lang="vi-VN"/>
            </a:p>
          </p:txBody>
        </p:sp>
      </p:grpSp>
      <p:grpSp>
        <p:nvGrpSpPr>
          <p:cNvPr id="9" name="Group 9"/>
          <p:cNvGrpSpPr/>
          <p:nvPr/>
        </p:nvGrpSpPr>
        <p:grpSpPr>
          <a:xfrm rot="-10800000">
            <a:off x="-1093063" y="7283541"/>
            <a:ext cx="2963586" cy="3459503"/>
            <a:chOff x="0" y="0"/>
            <a:chExt cx="4602013" cy="5372100"/>
          </a:xfrm>
        </p:grpSpPr>
        <p:sp>
          <p:nvSpPr>
            <p:cNvPr id="10" name="Freeform 10"/>
            <p:cNvSpPr/>
            <p:nvPr/>
          </p:nvSpPr>
          <p:spPr>
            <a:xfrm>
              <a:off x="0" y="0"/>
              <a:ext cx="4602013" cy="5372100"/>
            </a:xfrm>
            <a:custGeom>
              <a:avLst/>
              <a:gdLst/>
              <a:ahLst/>
              <a:cxnLst/>
              <a:rect l="l" t="t" r="r" b="b"/>
              <a:pathLst>
                <a:path w="4602013" h="5372100">
                  <a:moveTo>
                    <a:pt x="3051343" y="0"/>
                  </a:moveTo>
                  <a:lnTo>
                    <a:pt x="1550670" y="0"/>
                  </a:lnTo>
                  <a:lnTo>
                    <a:pt x="0" y="2686050"/>
                  </a:lnTo>
                  <a:lnTo>
                    <a:pt x="1550670" y="5372100"/>
                  </a:lnTo>
                  <a:lnTo>
                    <a:pt x="3051343" y="5372100"/>
                  </a:lnTo>
                  <a:lnTo>
                    <a:pt x="4602013" y="2686050"/>
                  </a:lnTo>
                  <a:lnTo>
                    <a:pt x="3051343" y="0"/>
                  </a:lnTo>
                  <a:close/>
                </a:path>
              </a:pathLst>
            </a:custGeom>
            <a:solidFill>
              <a:srgbClr val="A066CB"/>
            </a:solidFill>
          </p:spPr>
          <p:txBody>
            <a:bodyPr/>
            <a:lstStyle/>
            <a:p>
              <a:endParaRPr lang="vi-VN"/>
            </a:p>
          </p:txBody>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350</TotalTime>
  <Words>1521</Words>
  <Application>Microsoft Office PowerPoint</Application>
  <PresentationFormat>Custom</PresentationFormat>
  <Paragraphs>162</Paragraphs>
  <Slides>29</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Arial</vt:lpstr>
      <vt:lpstr>Faustina Bold</vt:lpstr>
      <vt:lpstr>Times New Roman</vt:lpstr>
      <vt:lpstr>Cabin Semi-Bold</vt:lpstr>
      <vt:lpstr>Cabin Italics</vt:lpstr>
      <vt:lpstr>Calibri</vt:lpstr>
      <vt:lpstr>SimSun</vt:lpstr>
      <vt:lpstr>Cabin Medium</vt:lpstr>
      <vt:lpstr>Cabin</vt:lpstr>
      <vt:lpstr>Arial (Body)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CoSoNganh</dc:title>
  <cp:lastModifiedBy>HaGiaLoc</cp:lastModifiedBy>
  <cp:revision>62</cp:revision>
  <dcterms:created xsi:type="dcterms:W3CDTF">2006-08-16T00:00:00Z</dcterms:created>
  <dcterms:modified xsi:type="dcterms:W3CDTF">2025-12-25T01:25:24Z</dcterms:modified>
  <dc:identifier>DAGbnXCPPBE</dc:identifier>
</cp:coreProperties>
</file>